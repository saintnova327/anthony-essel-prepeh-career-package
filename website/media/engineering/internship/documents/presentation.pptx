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75" r:id="rId2"/>
    <p:sldId id="276" r:id="rId3"/>
    <p:sldId id="280" r:id="rId4"/>
    <p:sldId id="278" r:id="rId5"/>
    <p:sldId id="288" r:id="rId6"/>
    <p:sldId id="281" r:id="rId7"/>
    <p:sldId id="285" r:id="rId8"/>
    <p:sldId id="286" r:id="rId9"/>
    <p:sldId id="283" r:id="rId10"/>
    <p:sldId id="290" r:id="rId11"/>
    <p:sldId id="289" r:id="rId12"/>
    <p:sldId id="293" r:id="rId13"/>
    <p:sldId id="294" r:id="rId14"/>
    <p:sldId id="298" r:id="rId15"/>
    <p:sldId id="295" r:id="rId16"/>
    <p:sldId id="284" r:id="rId17"/>
    <p:sldId id="297" r:id="rId18"/>
    <p:sldId id="2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CF71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94" autoAdjust="0"/>
    <p:restoredTop sz="94660"/>
  </p:normalViewPr>
  <p:slideViewPr>
    <p:cSldViewPr snapToGrid="0">
      <p:cViewPr varScale="1">
        <p:scale>
          <a:sx n="66" d="100"/>
          <a:sy n="66" d="100"/>
        </p:scale>
        <p:origin x="684" y="6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829E2F-964E-42A5-A0FB-7F44B5722540}" type="datetimeFigureOut">
              <a:rPr lang="en-GH" smtClean="0"/>
              <a:t>31/03/2026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20C2B-9916-4C7E-8CB9-C0571F45F951}" type="slidenum">
              <a:rPr lang="en-GH" smtClean="0"/>
              <a:t>‹#›</a:t>
            </a:fld>
            <a:endParaRPr lang="en-GH"/>
          </a:p>
        </p:txBody>
      </p:sp>
    </p:spTree>
    <p:extLst>
      <p:ext uri="{BB962C8B-B14F-4D97-AF65-F5344CB8AC3E}">
        <p14:creationId xmlns:p14="http://schemas.microsoft.com/office/powerpoint/2010/main" val="2457966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C4D8-7267-481C-97FB-88531F8E7427}"/>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2045EB4-C8E9-4276-9892-A8BD1C24C1F3}"/>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E1952CF-CF54-495A-A737-C76F22C5330D}"/>
              </a:ext>
            </a:extLst>
          </p:cNvPr>
          <p:cNvSpPr>
            <a:spLocks noGrp="1"/>
          </p:cNvSpPr>
          <p:nvPr>
            <p:ph type="dt" sz="half" idx="10"/>
          </p:nvPr>
        </p:nvSpPr>
        <p:spPr/>
        <p:txBody>
          <a:bodyPr/>
          <a:lstStyle/>
          <a:p>
            <a:fld id="{4543E2CF-8BE5-4F3E-BD32-677F83F0A362}" type="datetime1">
              <a:rPr lang="en-US" smtClean="0"/>
              <a:t>3/31/2026</a:t>
            </a:fld>
            <a:endParaRPr lang="en-US"/>
          </a:p>
        </p:txBody>
      </p:sp>
      <p:sp>
        <p:nvSpPr>
          <p:cNvPr id="5" name="Footer Placeholder 4">
            <a:extLst>
              <a:ext uri="{FF2B5EF4-FFF2-40B4-BE49-F238E27FC236}">
                <a16:creationId xmlns:a16="http://schemas.microsoft.com/office/drawing/2014/main" id="{DA2F82B9-480E-49D4-AFD3-A3BC21B8A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CFFCE-F9B6-482C-816E-091792F26E49}"/>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4293971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7FC0-FF7C-4F6B-A842-ECAEDD7558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CF3BD4-EEBC-444E-88DB-259F6F33A3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C2BFAAB-6BAC-4D88-8AF7-FC846BF0456E}"/>
              </a:ext>
            </a:extLst>
          </p:cNvPr>
          <p:cNvSpPr>
            <a:spLocks noGrp="1"/>
          </p:cNvSpPr>
          <p:nvPr>
            <p:ph type="dt" sz="half" idx="10"/>
          </p:nvPr>
        </p:nvSpPr>
        <p:spPr/>
        <p:txBody>
          <a:bodyPr/>
          <a:lstStyle/>
          <a:p>
            <a:fld id="{5D61C943-17ED-40DF-91B3-D85599C40CF8}" type="datetime1">
              <a:rPr lang="en-US" smtClean="0"/>
              <a:t>3/31/2026</a:t>
            </a:fld>
            <a:endParaRPr lang="en-US"/>
          </a:p>
        </p:txBody>
      </p:sp>
      <p:sp>
        <p:nvSpPr>
          <p:cNvPr id="5" name="Footer Placeholder 4">
            <a:extLst>
              <a:ext uri="{FF2B5EF4-FFF2-40B4-BE49-F238E27FC236}">
                <a16:creationId xmlns:a16="http://schemas.microsoft.com/office/drawing/2014/main" id="{546DD7F4-E6AC-4CB6-B687-556E6DB5B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A703C-113A-46CC-AC65-292EB067D462}"/>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514042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7A4B-0F44-4E42-939A-CDE6C4A492D0}"/>
              </a:ext>
            </a:extLst>
          </p:cNvPr>
          <p:cNvSpPr>
            <a:spLocks noGrp="1"/>
          </p:cNvSpPr>
          <p:nvPr>
            <p:ph type="title"/>
          </p:nvPr>
        </p:nvSpPr>
        <p:spPr>
          <a:xfrm>
            <a:off x="4902440" y="307011"/>
            <a:ext cx="6787025" cy="2986087"/>
          </a:xfrm>
        </p:spPr>
        <p:txBody>
          <a:bodyPr anchor="b"/>
          <a:lstStyle>
            <a:lvl1pPr algn="ct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53B6593-CC60-4C4A-B097-A7D3799BD55C}"/>
              </a:ext>
            </a:extLst>
          </p:cNvPr>
          <p:cNvSpPr>
            <a:spLocks noGrp="1"/>
          </p:cNvSpPr>
          <p:nvPr>
            <p:ph type="body" idx="1"/>
          </p:nvPr>
        </p:nvSpPr>
        <p:spPr>
          <a:xfrm>
            <a:off x="4902440" y="3883454"/>
            <a:ext cx="6787025" cy="792283"/>
          </a:xfrm>
        </p:spPr>
        <p:txBody>
          <a:bodyPr/>
          <a:lstStyle>
            <a:lvl1pPr marL="0" indent="0" algn="ctr">
              <a:buNone/>
              <a:defRPr sz="2400">
                <a:solidFill>
                  <a:schemeClr val="bg2">
                    <a:lumMod val="1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0D56C689-8E98-4045-AAAC-AC66298D8CDB}"/>
              </a:ext>
            </a:extLst>
          </p:cNvPr>
          <p:cNvSpPr>
            <a:spLocks noGrp="1"/>
          </p:cNvSpPr>
          <p:nvPr>
            <p:ph type="dt" sz="half" idx="10"/>
          </p:nvPr>
        </p:nvSpPr>
        <p:spPr>
          <a:xfrm>
            <a:off x="5023411" y="5266097"/>
            <a:ext cx="1482526" cy="365125"/>
          </a:xfrm>
        </p:spPr>
        <p:txBody>
          <a:bodyPr/>
          <a:lstStyle/>
          <a:p>
            <a:fld id="{2215E438-4E85-4D3F-9BAC-6B1DD032DF0B}" type="datetime1">
              <a:rPr lang="en-US" smtClean="0"/>
              <a:t>3/31/2026</a:t>
            </a:fld>
            <a:endParaRPr lang="en-US"/>
          </a:p>
        </p:txBody>
      </p:sp>
      <p:sp>
        <p:nvSpPr>
          <p:cNvPr id="5" name="Footer Placeholder 4">
            <a:extLst>
              <a:ext uri="{FF2B5EF4-FFF2-40B4-BE49-F238E27FC236}">
                <a16:creationId xmlns:a16="http://schemas.microsoft.com/office/drawing/2014/main" id="{F3A7DCE6-A108-4CE1-BB08-97701D342A20}"/>
              </a:ext>
            </a:extLst>
          </p:cNvPr>
          <p:cNvSpPr>
            <a:spLocks noGrp="1"/>
          </p:cNvSpPr>
          <p:nvPr>
            <p:ph type="ftr" sz="quarter" idx="11"/>
          </p:nvPr>
        </p:nvSpPr>
        <p:spPr>
          <a:xfrm>
            <a:off x="7071167" y="5266096"/>
            <a:ext cx="2026534" cy="365125"/>
          </a:xfrm>
        </p:spPr>
        <p:txBody>
          <a:bodyPr/>
          <a:lstStyle/>
          <a:p>
            <a:endParaRPr lang="en-US" dirty="0"/>
          </a:p>
        </p:txBody>
      </p:sp>
      <p:sp>
        <p:nvSpPr>
          <p:cNvPr id="6" name="Slide Number Placeholder 5">
            <a:extLst>
              <a:ext uri="{FF2B5EF4-FFF2-40B4-BE49-F238E27FC236}">
                <a16:creationId xmlns:a16="http://schemas.microsoft.com/office/drawing/2014/main" id="{0428B96D-492C-4CC3-A033-5EA3A2F3CCEE}"/>
              </a:ext>
            </a:extLst>
          </p:cNvPr>
          <p:cNvSpPr>
            <a:spLocks noGrp="1"/>
          </p:cNvSpPr>
          <p:nvPr>
            <p:ph type="sldNum" sz="quarter" idx="12"/>
          </p:nvPr>
        </p:nvSpPr>
        <p:spPr>
          <a:xfrm>
            <a:off x="9662931" y="5266095"/>
            <a:ext cx="2026534" cy="365125"/>
          </a:xfrm>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2721465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E1157-304E-4446-9FA2-A0D0F7A509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B4CE9E-70A6-48AD-A24A-13D5743836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0BE2C5-1B89-4EE8-A540-906472A1FB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4BB858-CDD0-459B-8AA4-9272BD26A46B}"/>
              </a:ext>
            </a:extLst>
          </p:cNvPr>
          <p:cNvSpPr>
            <a:spLocks noGrp="1"/>
          </p:cNvSpPr>
          <p:nvPr>
            <p:ph type="dt" sz="half" idx="10"/>
          </p:nvPr>
        </p:nvSpPr>
        <p:spPr/>
        <p:txBody>
          <a:bodyPr/>
          <a:lstStyle/>
          <a:p>
            <a:fld id="{953EA5E2-10B3-49D7-AF21-8B017DA270AD}" type="datetime1">
              <a:rPr lang="en-US" smtClean="0"/>
              <a:t>3/31/2026</a:t>
            </a:fld>
            <a:endParaRPr lang="en-US"/>
          </a:p>
        </p:txBody>
      </p:sp>
      <p:sp>
        <p:nvSpPr>
          <p:cNvPr id="6" name="Footer Placeholder 5">
            <a:extLst>
              <a:ext uri="{FF2B5EF4-FFF2-40B4-BE49-F238E27FC236}">
                <a16:creationId xmlns:a16="http://schemas.microsoft.com/office/drawing/2014/main" id="{4DB7E86D-82BE-4E26-A9C3-95CC0F497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7D830B-C931-46B1-8F17-16243BFDFA90}"/>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73057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CABEE-5ED7-4733-B755-CB96ADE7AA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1A0618-A658-46BD-AB6D-8208DA7FC8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867DBE-C48C-42A1-94A3-9527A0944B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F27F4C-4D8F-4F03-9881-DADD3BC808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57925D-369F-411F-B885-734AB70D29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3643A2-98F3-42F1-9A82-FA5FFD7F88F9}"/>
              </a:ext>
            </a:extLst>
          </p:cNvPr>
          <p:cNvSpPr>
            <a:spLocks noGrp="1"/>
          </p:cNvSpPr>
          <p:nvPr>
            <p:ph type="dt" sz="half" idx="10"/>
          </p:nvPr>
        </p:nvSpPr>
        <p:spPr/>
        <p:txBody>
          <a:bodyPr/>
          <a:lstStyle/>
          <a:p>
            <a:fld id="{9B76A55A-21B0-4879-A645-2DBE13DB919E}" type="datetime1">
              <a:rPr lang="en-US" smtClean="0"/>
              <a:t>3/31/2026</a:t>
            </a:fld>
            <a:endParaRPr lang="en-US"/>
          </a:p>
        </p:txBody>
      </p:sp>
      <p:sp>
        <p:nvSpPr>
          <p:cNvPr id="8" name="Footer Placeholder 7">
            <a:extLst>
              <a:ext uri="{FF2B5EF4-FFF2-40B4-BE49-F238E27FC236}">
                <a16:creationId xmlns:a16="http://schemas.microsoft.com/office/drawing/2014/main" id="{AC162CF4-4E17-4D39-8E8E-8949A9CD9E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DEEB83-1757-489A-8EE3-E5F48A357EBB}"/>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825987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650B1-6BD1-4645-81EE-9AC7858D85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7856AC-1564-422B-A261-A405B2217D42}"/>
              </a:ext>
            </a:extLst>
          </p:cNvPr>
          <p:cNvSpPr>
            <a:spLocks noGrp="1"/>
          </p:cNvSpPr>
          <p:nvPr>
            <p:ph type="dt" sz="half" idx="10"/>
          </p:nvPr>
        </p:nvSpPr>
        <p:spPr/>
        <p:txBody>
          <a:bodyPr/>
          <a:lstStyle/>
          <a:p>
            <a:fld id="{1E32472D-453F-4165-9576-F3F52E52AC0C}" type="datetime1">
              <a:rPr lang="en-US" smtClean="0"/>
              <a:t>3/31/2026</a:t>
            </a:fld>
            <a:endParaRPr lang="en-US"/>
          </a:p>
        </p:txBody>
      </p:sp>
      <p:sp>
        <p:nvSpPr>
          <p:cNvPr id="4" name="Footer Placeholder 3">
            <a:extLst>
              <a:ext uri="{FF2B5EF4-FFF2-40B4-BE49-F238E27FC236}">
                <a16:creationId xmlns:a16="http://schemas.microsoft.com/office/drawing/2014/main" id="{AA5EC8FB-F905-4A5D-AB53-12C1AADB93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C74DBB-D2BA-424E-A50D-E0D78897E9E2}"/>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2780188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92351-298C-4CA7-A9E3-56F637FA48B9}"/>
              </a:ext>
            </a:extLst>
          </p:cNvPr>
          <p:cNvSpPr>
            <a:spLocks noGrp="1"/>
          </p:cNvSpPr>
          <p:nvPr>
            <p:ph type="dt" sz="half" idx="10"/>
          </p:nvPr>
        </p:nvSpPr>
        <p:spPr/>
        <p:txBody>
          <a:bodyPr/>
          <a:lstStyle/>
          <a:p>
            <a:fld id="{0B082867-BE3B-4A4F-BA34-F4723B19EE02}" type="datetime1">
              <a:rPr lang="en-US" smtClean="0"/>
              <a:t>3/31/2026</a:t>
            </a:fld>
            <a:endParaRPr lang="en-US"/>
          </a:p>
        </p:txBody>
      </p:sp>
      <p:sp>
        <p:nvSpPr>
          <p:cNvPr id="3" name="Footer Placeholder 2">
            <a:extLst>
              <a:ext uri="{FF2B5EF4-FFF2-40B4-BE49-F238E27FC236}">
                <a16:creationId xmlns:a16="http://schemas.microsoft.com/office/drawing/2014/main" id="{13F81D90-C9C0-4B17-89C3-13DA3A9114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9E314D-FD1B-4975-AE16-9CDCC6342C3D}"/>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483520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29E3F-372A-407D-B334-3FD2775502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240B83-8870-4B46-9F59-5CC84DEFB0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8CC3D7-7F10-42DA-8696-266C3AE69E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E5CF6-7F8D-4850-9864-97DA86EA78D4}"/>
              </a:ext>
            </a:extLst>
          </p:cNvPr>
          <p:cNvSpPr>
            <a:spLocks noGrp="1"/>
          </p:cNvSpPr>
          <p:nvPr>
            <p:ph type="dt" sz="half" idx="10"/>
          </p:nvPr>
        </p:nvSpPr>
        <p:spPr/>
        <p:txBody>
          <a:bodyPr/>
          <a:lstStyle/>
          <a:p>
            <a:fld id="{1BE00915-569B-4C23-9426-DCDD59A33E23}" type="datetime1">
              <a:rPr lang="en-US" smtClean="0"/>
              <a:t>3/31/2026</a:t>
            </a:fld>
            <a:endParaRPr lang="en-US"/>
          </a:p>
        </p:txBody>
      </p:sp>
      <p:sp>
        <p:nvSpPr>
          <p:cNvPr id="6" name="Footer Placeholder 5">
            <a:extLst>
              <a:ext uri="{FF2B5EF4-FFF2-40B4-BE49-F238E27FC236}">
                <a16:creationId xmlns:a16="http://schemas.microsoft.com/office/drawing/2014/main" id="{73646AFE-B880-46F5-B5C6-2DEC8AAFBB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375EDA-D7C7-4D5B-8ADA-2C4C0D169E46}"/>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1494897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A279-B977-4A7C-87E5-62231D946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C0D755-8571-44A5-AE1A-89C9201F5B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5F734A2E-AFFE-48A4-A1FD-8FC6BEE61F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5560A-540C-47FC-A6B0-665522069079}"/>
              </a:ext>
            </a:extLst>
          </p:cNvPr>
          <p:cNvSpPr>
            <a:spLocks noGrp="1"/>
          </p:cNvSpPr>
          <p:nvPr>
            <p:ph type="dt" sz="half" idx="10"/>
          </p:nvPr>
        </p:nvSpPr>
        <p:spPr/>
        <p:txBody>
          <a:bodyPr/>
          <a:lstStyle/>
          <a:p>
            <a:fld id="{748A4558-F46D-4BFE-BBCB-E8415B01BDF2}" type="datetime1">
              <a:rPr lang="en-US" smtClean="0"/>
              <a:t>3/31/2026</a:t>
            </a:fld>
            <a:endParaRPr lang="en-US"/>
          </a:p>
        </p:txBody>
      </p:sp>
      <p:sp>
        <p:nvSpPr>
          <p:cNvPr id="6" name="Footer Placeholder 5">
            <a:extLst>
              <a:ext uri="{FF2B5EF4-FFF2-40B4-BE49-F238E27FC236}">
                <a16:creationId xmlns:a16="http://schemas.microsoft.com/office/drawing/2014/main" id="{949A1103-4151-4737-9D9F-ECB366AA7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0B3C5-F017-4E10-86F3-4C24DEFA8BD4}"/>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958458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1024C-8551-48EC-85CB-36598BBE26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7669F4-208D-4BAB-82BE-F275945E2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781D84-11A2-4845-9DEE-21A1FB2F7749}"/>
              </a:ext>
            </a:extLst>
          </p:cNvPr>
          <p:cNvSpPr>
            <a:spLocks noGrp="1"/>
          </p:cNvSpPr>
          <p:nvPr>
            <p:ph type="dt" sz="half" idx="10"/>
          </p:nvPr>
        </p:nvSpPr>
        <p:spPr/>
        <p:txBody>
          <a:bodyPr/>
          <a:lstStyle/>
          <a:p>
            <a:fld id="{78C055B2-9816-47D6-8696-79EC0E8A85E7}" type="datetime1">
              <a:rPr lang="en-US" smtClean="0"/>
              <a:t>3/31/2026</a:t>
            </a:fld>
            <a:endParaRPr lang="en-US"/>
          </a:p>
        </p:txBody>
      </p:sp>
      <p:sp>
        <p:nvSpPr>
          <p:cNvPr id="5" name="Footer Placeholder 4">
            <a:extLst>
              <a:ext uri="{FF2B5EF4-FFF2-40B4-BE49-F238E27FC236}">
                <a16:creationId xmlns:a16="http://schemas.microsoft.com/office/drawing/2014/main" id="{82F461C0-7A06-45C8-A0F8-23FAD46F3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B6CCC8-2ED3-42E3-8030-B0E9DF79659C}"/>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1848293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5E5C2-3281-4A33-88C5-C97138BFAC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0B8C3E-19EC-4156-82C4-FA8E3ACF7D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78D120-4C33-4D5C-A088-1E77796376A1}"/>
              </a:ext>
            </a:extLst>
          </p:cNvPr>
          <p:cNvSpPr>
            <a:spLocks noGrp="1"/>
          </p:cNvSpPr>
          <p:nvPr>
            <p:ph type="dt" sz="half" idx="10"/>
          </p:nvPr>
        </p:nvSpPr>
        <p:spPr/>
        <p:txBody>
          <a:bodyPr/>
          <a:lstStyle/>
          <a:p>
            <a:fld id="{64BF8F82-3D86-4560-B5B6-7B23B98F1EEA}" type="datetime1">
              <a:rPr lang="en-US" smtClean="0"/>
              <a:t>3/31/2026</a:t>
            </a:fld>
            <a:endParaRPr lang="en-US"/>
          </a:p>
        </p:txBody>
      </p:sp>
      <p:sp>
        <p:nvSpPr>
          <p:cNvPr id="5" name="Footer Placeholder 4">
            <a:extLst>
              <a:ext uri="{FF2B5EF4-FFF2-40B4-BE49-F238E27FC236}">
                <a16:creationId xmlns:a16="http://schemas.microsoft.com/office/drawing/2014/main" id="{B418C907-51F8-4CCC-8671-CA5B649EB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480B0B-A14D-4BA5-A718-F6E7ADBC49CD}"/>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362461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EBDDA-E62D-4396-A585-79909DF65F1D}"/>
              </a:ext>
            </a:extLst>
          </p:cNvPr>
          <p:cNvSpPr>
            <a:spLocks noGrp="1"/>
          </p:cNvSpPr>
          <p:nvPr>
            <p:ph type="title"/>
          </p:nvPr>
        </p:nvSpPr>
        <p:spPr>
          <a:xfrm>
            <a:off x="838200" y="608924"/>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D21B46D-FE47-4863-91F5-8DF27DBA3FBD}"/>
              </a:ext>
            </a:extLst>
          </p:cNvPr>
          <p:cNvSpPr>
            <a:spLocks noGrp="1"/>
          </p:cNvSpPr>
          <p:nvPr>
            <p:ph type="body" idx="1"/>
          </p:nvPr>
        </p:nvSpPr>
        <p:spPr>
          <a:xfrm>
            <a:off x="838200" y="1971081"/>
            <a:ext cx="10515600" cy="42779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B7AB05-0A06-4E1C-9ABC-94BB04320F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87A3C5-C027-42F3-B269-41CC90725807}" type="datetime1">
              <a:rPr lang="en-US" smtClean="0"/>
              <a:t>3/31/2026</a:t>
            </a:fld>
            <a:endParaRPr lang="en-US"/>
          </a:p>
        </p:txBody>
      </p:sp>
      <p:sp>
        <p:nvSpPr>
          <p:cNvPr id="5" name="Footer Placeholder 4">
            <a:extLst>
              <a:ext uri="{FF2B5EF4-FFF2-40B4-BE49-F238E27FC236}">
                <a16:creationId xmlns:a16="http://schemas.microsoft.com/office/drawing/2014/main" id="{3443E9AF-D197-4E5B-86F0-EB12503E8F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D37BCB-A864-4AA7-AA0C-5BBFBA97E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2AFD5A-4082-4BE4-96FC-4C4C6076294A}" type="slidenum">
              <a:rPr lang="en-US" smtClean="0"/>
              <a:pPr/>
              <a:t>‹#›</a:t>
            </a:fld>
            <a:endParaRPr lang="en-US"/>
          </a:p>
        </p:txBody>
      </p:sp>
    </p:spTree>
    <p:extLst>
      <p:ext uri="{BB962C8B-B14F-4D97-AF65-F5344CB8AC3E}">
        <p14:creationId xmlns:p14="http://schemas.microsoft.com/office/powerpoint/2010/main" val="6829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chemeClr val="accent6">
              <a:lumMod val="50000"/>
            </a:schemeClr>
          </a:solidFill>
          <a:latin typeface="+mn-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8.xml"/><Relationship Id="rId5" Type="http://schemas.openxmlformats.org/officeDocument/2006/relationships/image" Target="../media/image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5E126-A573-1D84-4218-09A477F5F66A}"/>
              </a:ext>
            </a:extLst>
          </p:cNvPr>
          <p:cNvSpPr>
            <a:spLocks noGrp="1"/>
          </p:cNvSpPr>
          <p:nvPr>
            <p:ph type="title"/>
          </p:nvPr>
        </p:nvSpPr>
        <p:spPr>
          <a:xfrm>
            <a:off x="4993880" y="1758692"/>
            <a:ext cx="6787025" cy="2431707"/>
          </a:xfrm>
        </p:spPr>
        <p:txBody>
          <a:bodyPr>
            <a:normAutofit fontScale="90000"/>
          </a:bodyPr>
          <a:lstStyle/>
          <a:p>
            <a:r>
              <a:rPr lang="en-US" dirty="0"/>
              <a:t>INDUSTRIAL TRAINING PRESENTATION</a:t>
            </a:r>
            <a:br>
              <a:rPr lang="en-US" dirty="0"/>
            </a:br>
            <a:br>
              <a:rPr lang="en-US" dirty="0"/>
            </a:br>
            <a:r>
              <a:rPr lang="en-US" sz="3100" dirty="0"/>
              <a:t>HYDROHOPE DRILLING AND </a:t>
            </a:r>
            <a:br>
              <a:rPr lang="en-US" sz="3100" dirty="0"/>
            </a:br>
            <a:r>
              <a:rPr lang="en-US" sz="3100" dirty="0"/>
              <a:t>CONSTRUCTION SERVICES</a:t>
            </a:r>
          </a:p>
        </p:txBody>
      </p:sp>
    </p:spTree>
    <p:extLst>
      <p:ext uri="{BB962C8B-B14F-4D97-AF65-F5344CB8AC3E}">
        <p14:creationId xmlns:p14="http://schemas.microsoft.com/office/powerpoint/2010/main" val="3981058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73156-26FF-0ED3-73D6-EEA02705732C}"/>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OUTLINE </a:t>
            </a:r>
          </a:p>
        </p:txBody>
      </p:sp>
      <p:sp>
        <p:nvSpPr>
          <p:cNvPr id="3" name="Content Placeholder 2">
            <a:extLst>
              <a:ext uri="{FF2B5EF4-FFF2-40B4-BE49-F238E27FC236}">
                <a16:creationId xmlns:a16="http://schemas.microsoft.com/office/drawing/2014/main" id="{B5ADD6F6-B091-4085-4143-37BF067CFE1D}"/>
              </a:ext>
            </a:extLst>
          </p:cNvPr>
          <p:cNvSpPr>
            <a:spLocks noGrp="1"/>
          </p:cNvSpPr>
          <p:nvPr>
            <p:ph idx="1"/>
          </p:nvPr>
        </p:nvSpPr>
        <p:spPr>
          <a:xfrm>
            <a:off x="489857" y="1652782"/>
            <a:ext cx="10279743" cy="4129990"/>
          </a:xfrm>
        </p:spPr>
        <p:txBody>
          <a:bodyPr>
            <a:normAutofit/>
          </a:bodyPr>
          <a:lstStyle/>
          <a:p>
            <a:pPr lvl="1"/>
            <a:r>
              <a:rPr lang="en-US" dirty="0">
                <a:latin typeface="Times New Roman" panose="02020603050405020304" pitchFamily="18" charset="0"/>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SITE ASSESSMENT AND HAZARD CLEARANCE. </a:t>
            </a:r>
          </a:p>
          <a:p>
            <a:pPr lvl="1"/>
            <a:r>
              <a:rPr lang="en-US" sz="2400" dirty="0">
                <a:latin typeface="Times New Roman" panose="02020603050405020304" pitchFamily="18" charset="0"/>
                <a:cs typeface="Times New Roman" panose="02020603050405020304" pitchFamily="18" charset="0"/>
              </a:rPr>
              <a:t>STEPS INVOLVED IN GROUNDWATER EXPLOITATION </a:t>
            </a:r>
          </a:p>
          <a:p>
            <a:pPr lvl="1"/>
            <a:r>
              <a:rPr lang="en-US" dirty="0">
                <a:latin typeface="Times New Roman" panose="02020603050405020304" pitchFamily="18" charset="0"/>
                <a:cs typeface="Times New Roman" panose="02020603050405020304" pitchFamily="18" charset="0"/>
              </a:rPr>
              <a:t>GEOPHYSICAL SURVEY</a:t>
            </a:r>
            <a:endParaRPr lang="en-US" sz="24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HOW WE USED THE ADMT FOR SURVEYING</a:t>
            </a:r>
          </a:p>
          <a:p>
            <a:pPr lvl="1"/>
            <a:r>
              <a:rPr lang="en-US" dirty="0">
                <a:latin typeface="Times New Roman" panose="02020603050405020304" pitchFamily="18" charset="0"/>
                <a:cs typeface="Times New Roman" panose="02020603050405020304" pitchFamily="18" charset="0"/>
              </a:rPr>
              <a:t>BOREHOLE DRILLING</a:t>
            </a:r>
          </a:p>
          <a:p>
            <a:pPr lvl="1"/>
            <a:r>
              <a:rPr lang="en-US" dirty="0">
                <a:latin typeface="Times New Roman" panose="02020603050405020304" pitchFamily="18" charset="0"/>
                <a:cs typeface="Times New Roman" panose="02020603050405020304" pitchFamily="18" charset="0"/>
              </a:rPr>
              <a:t>GRAVEL PACKING AND GROUTING</a:t>
            </a:r>
            <a:endParaRPr lang="en-GB"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BOREHOLE DEVELOPMENT</a:t>
            </a:r>
            <a:endParaRPr lang="en-GB" b="1" dirty="0">
              <a:latin typeface="Times New Roman" panose="02020603050405020304" pitchFamily="18" charset="0"/>
              <a:cs typeface="Times New Roman" panose="02020603050405020304" pitchFamily="18" charset="0"/>
            </a:endParaRPr>
          </a:p>
          <a:p>
            <a:pPr lvl="1"/>
            <a:r>
              <a:rPr lang="en-GB" dirty="0">
                <a:latin typeface="Times New Roman" panose="02020603050405020304" pitchFamily="18" charset="0"/>
                <a:cs typeface="Times New Roman" panose="02020603050405020304" pitchFamily="18" charset="0"/>
              </a:rPr>
              <a:t>PUMP INSTALLATION</a:t>
            </a:r>
          </a:p>
          <a:p>
            <a:pPr lvl="1"/>
            <a:r>
              <a:rPr lang="en-US" dirty="0">
                <a:latin typeface="Times New Roman" panose="02020603050405020304" pitchFamily="18" charset="0"/>
                <a:cs typeface="Times New Roman" panose="02020603050405020304" pitchFamily="18" charset="0"/>
              </a:rPr>
              <a:t>CONCLUSIONS </a:t>
            </a:r>
          </a:p>
        </p:txBody>
      </p:sp>
      <p:sp>
        <p:nvSpPr>
          <p:cNvPr id="4" name="Slide Number Placeholder 3">
            <a:extLst>
              <a:ext uri="{FF2B5EF4-FFF2-40B4-BE49-F238E27FC236}">
                <a16:creationId xmlns:a16="http://schemas.microsoft.com/office/drawing/2014/main" id="{5B1319E2-E592-492C-83D0-B460D1A4A3D0}"/>
              </a:ext>
            </a:extLst>
          </p:cNvPr>
          <p:cNvSpPr>
            <a:spLocks noGrp="1"/>
          </p:cNvSpPr>
          <p:nvPr>
            <p:ph type="sldNum" sz="quarter" idx="12"/>
          </p:nvPr>
        </p:nvSpPr>
        <p:spPr>
          <a:xfrm>
            <a:off x="8610600" y="5782772"/>
            <a:ext cx="2743200" cy="365125"/>
          </a:xfrm>
        </p:spPr>
        <p:txBody>
          <a:bodyPr/>
          <a:lstStyle/>
          <a:p>
            <a:fld id="{C52AFD5A-4082-4BE4-96FC-4C4C6076294A}" type="slidenum">
              <a:rPr lang="en-US" sz="1600" smtClean="0"/>
              <a:pPr/>
              <a:t>2</a:t>
            </a:fld>
            <a:endParaRPr lang="en-US" sz="1600" dirty="0"/>
          </a:p>
        </p:txBody>
      </p:sp>
    </p:spTree>
    <p:extLst>
      <p:ext uri="{BB962C8B-B14F-4D97-AF65-F5344CB8AC3E}">
        <p14:creationId xmlns:p14="http://schemas.microsoft.com/office/powerpoint/2010/main" val="1958447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92345-7D31-36F1-54AE-E09C07D92BE4}"/>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INTRODUCTION</a:t>
            </a:r>
          </a:p>
        </p:txBody>
      </p:sp>
      <p:sp>
        <p:nvSpPr>
          <p:cNvPr id="4" name="Content Placeholder 3">
            <a:extLst>
              <a:ext uri="{FF2B5EF4-FFF2-40B4-BE49-F238E27FC236}">
                <a16:creationId xmlns:a16="http://schemas.microsoft.com/office/drawing/2014/main" id="{E9EF0D57-EAEC-4826-5653-6BE2961A6480}"/>
              </a:ext>
            </a:extLst>
          </p:cNvPr>
          <p:cNvSpPr>
            <a:spLocks noGrp="1"/>
          </p:cNvSpPr>
          <p:nvPr>
            <p:ph idx="1"/>
          </p:nvPr>
        </p:nvSpPr>
        <p:spPr>
          <a:xfrm>
            <a:off x="838200" y="1684421"/>
            <a:ext cx="9737558" cy="4564655"/>
          </a:xfrm>
        </p:spPr>
        <p:txBody>
          <a:bodyPr>
            <a:normAutofit/>
          </a:bodyPr>
          <a:lstStyle/>
          <a:p>
            <a:r>
              <a:rPr lang="en-US" sz="3600" i="0" dirty="0">
                <a:solidFill>
                  <a:srgbClr val="202122"/>
                </a:solidFill>
                <a:effectLst/>
                <a:latin typeface="Times New Roman" panose="02020603050405020304" pitchFamily="18" charset="0"/>
                <a:cs typeface="Times New Roman" panose="02020603050405020304" pitchFamily="18" charset="0"/>
              </a:rPr>
              <a:t>Groundwater</a:t>
            </a:r>
            <a:r>
              <a:rPr lang="en-US" sz="3600" b="0" i="0" dirty="0">
                <a:solidFill>
                  <a:srgbClr val="202122"/>
                </a:solidFill>
                <a:effectLst/>
                <a:latin typeface="Times New Roman" panose="02020603050405020304" pitchFamily="18" charset="0"/>
                <a:cs typeface="Times New Roman" panose="02020603050405020304" pitchFamily="18" charset="0"/>
              </a:rPr>
              <a:t> is the </a:t>
            </a:r>
            <a:r>
              <a:rPr lang="en-US" sz="3600" dirty="0">
                <a:solidFill>
                  <a:schemeClr val="tx1"/>
                </a:solidFill>
                <a:latin typeface="Times New Roman" panose="02020603050405020304" pitchFamily="18" charset="0"/>
                <a:cs typeface="Times New Roman" panose="02020603050405020304" pitchFamily="18" charset="0"/>
              </a:rPr>
              <a:t>water</a:t>
            </a:r>
            <a:r>
              <a:rPr lang="en-US" sz="3600" b="0" i="0" dirty="0">
                <a:solidFill>
                  <a:srgbClr val="202122"/>
                </a:solidFill>
                <a:effectLst/>
                <a:latin typeface="Times New Roman" panose="02020603050405020304" pitchFamily="18" charset="0"/>
                <a:cs typeface="Times New Roman" panose="02020603050405020304" pitchFamily="18" charset="0"/>
              </a:rPr>
              <a:t> present beneath </a:t>
            </a:r>
            <a:r>
              <a:rPr lang="en-US" sz="3600" dirty="0">
                <a:solidFill>
                  <a:schemeClr val="tx1"/>
                </a:solidFill>
                <a:latin typeface="Times New Roman" panose="02020603050405020304" pitchFamily="18" charset="0"/>
                <a:cs typeface="Times New Roman" panose="02020603050405020304" pitchFamily="18" charset="0"/>
              </a:rPr>
              <a:t>Earth</a:t>
            </a:r>
            <a:r>
              <a:rPr lang="en-US" sz="3600" b="0" i="0" dirty="0">
                <a:solidFill>
                  <a:schemeClr val="tx1"/>
                </a:solidFill>
                <a:effectLst/>
                <a:latin typeface="Times New Roman" panose="02020603050405020304" pitchFamily="18" charset="0"/>
                <a:cs typeface="Times New Roman" panose="02020603050405020304" pitchFamily="18" charset="0"/>
              </a:rPr>
              <a:t>'s</a:t>
            </a:r>
            <a:r>
              <a:rPr lang="en-US" sz="3600" b="0" i="0" dirty="0">
                <a:solidFill>
                  <a:srgbClr val="202122"/>
                </a:solidFill>
                <a:effectLst/>
                <a:latin typeface="Times New Roman" panose="02020603050405020304" pitchFamily="18" charset="0"/>
                <a:cs typeface="Times New Roman" panose="02020603050405020304" pitchFamily="18" charset="0"/>
              </a:rPr>
              <a:t> surface in rock and </a:t>
            </a:r>
            <a:r>
              <a:rPr lang="en-US" sz="3600" dirty="0">
                <a:solidFill>
                  <a:schemeClr val="tx1"/>
                </a:solidFill>
                <a:latin typeface="Times New Roman" panose="02020603050405020304" pitchFamily="18" charset="0"/>
                <a:cs typeface="Times New Roman" panose="02020603050405020304" pitchFamily="18" charset="0"/>
              </a:rPr>
              <a:t>soil pore spaces</a:t>
            </a:r>
            <a:r>
              <a:rPr lang="en-US" sz="3600" b="0" i="0" dirty="0">
                <a:solidFill>
                  <a:schemeClr val="tx1"/>
                </a:solidFill>
                <a:effectLst/>
                <a:latin typeface="Times New Roman" panose="02020603050405020304" pitchFamily="18" charset="0"/>
                <a:cs typeface="Times New Roman" panose="02020603050405020304" pitchFamily="18" charset="0"/>
              </a:rPr>
              <a:t> </a:t>
            </a:r>
            <a:r>
              <a:rPr lang="en-US" sz="3600" b="0" i="0" dirty="0">
                <a:solidFill>
                  <a:srgbClr val="202122"/>
                </a:solidFill>
                <a:effectLst/>
                <a:latin typeface="Times New Roman" panose="02020603050405020304" pitchFamily="18" charset="0"/>
                <a:cs typeface="Times New Roman" panose="02020603050405020304" pitchFamily="18" charset="0"/>
              </a:rPr>
              <a:t>and in the </a:t>
            </a:r>
            <a:r>
              <a:rPr lang="en-US" sz="3600" dirty="0">
                <a:solidFill>
                  <a:schemeClr val="tx1"/>
                </a:solidFill>
                <a:latin typeface="Times New Roman" panose="02020603050405020304" pitchFamily="18" charset="0"/>
                <a:cs typeface="Times New Roman" panose="02020603050405020304" pitchFamily="18" charset="0"/>
              </a:rPr>
              <a:t>fractures</a:t>
            </a:r>
            <a:r>
              <a:rPr lang="en-US" sz="3600" b="0" i="0" dirty="0">
                <a:solidFill>
                  <a:srgbClr val="202122"/>
                </a:solidFill>
                <a:effectLst/>
                <a:latin typeface="Times New Roman" panose="02020603050405020304" pitchFamily="18" charset="0"/>
                <a:cs typeface="Times New Roman" panose="02020603050405020304" pitchFamily="18" charset="0"/>
              </a:rPr>
              <a:t> of </a:t>
            </a:r>
            <a:r>
              <a:rPr lang="en-US" sz="3600" dirty="0">
                <a:solidFill>
                  <a:schemeClr val="tx1"/>
                </a:solidFill>
                <a:latin typeface="Times New Roman" panose="02020603050405020304" pitchFamily="18" charset="0"/>
                <a:cs typeface="Times New Roman" panose="02020603050405020304" pitchFamily="18" charset="0"/>
              </a:rPr>
              <a:t>rock formations</a:t>
            </a:r>
            <a:r>
              <a:rPr lang="en-US" sz="3600" b="0" i="0" dirty="0">
                <a:solidFill>
                  <a:srgbClr val="202122"/>
                </a:solidFill>
                <a:effectLst/>
                <a:latin typeface="Times New Roman" panose="02020603050405020304" pitchFamily="18" charset="0"/>
                <a:cs typeface="Times New Roman" panose="02020603050405020304" pitchFamily="18" charset="0"/>
              </a:rPr>
              <a:t>. About 30 percent of all readily available </a:t>
            </a:r>
            <a:r>
              <a:rPr lang="en-US" sz="3600" dirty="0">
                <a:solidFill>
                  <a:schemeClr val="tx1"/>
                </a:solidFill>
                <a:latin typeface="Times New Roman" panose="02020603050405020304" pitchFamily="18" charset="0"/>
                <a:cs typeface="Times New Roman" panose="02020603050405020304" pitchFamily="18" charset="0"/>
              </a:rPr>
              <a:t>fresh water</a:t>
            </a:r>
            <a:r>
              <a:rPr lang="en-US" sz="3600" i="0" dirty="0">
                <a:solidFill>
                  <a:schemeClr val="tx1"/>
                </a:solidFill>
                <a:effectLst/>
                <a:latin typeface="Times New Roman" panose="02020603050405020304" pitchFamily="18" charset="0"/>
                <a:cs typeface="Times New Roman" panose="02020603050405020304" pitchFamily="18" charset="0"/>
              </a:rPr>
              <a:t> </a:t>
            </a:r>
            <a:r>
              <a:rPr lang="en-US" sz="3600" b="0" i="0" dirty="0">
                <a:solidFill>
                  <a:srgbClr val="202122"/>
                </a:solidFill>
                <a:effectLst/>
                <a:latin typeface="Times New Roman" panose="02020603050405020304" pitchFamily="18" charset="0"/>
                <a:cs typeface="Times New Roman" panose="02020603050405020304" pitchFamily="18" charset="0"/>
              </a:rPr>
              <a:t>in the world is groundwater.</a:t>
            </a:r>
            <a:r>
              <a:rPr lang="en-US" sz="3600" dirty="0">
                <a:latin typeface="Times New Roman" panose="02020603050405020304" pitchFamily="18" charset="0"/>
                <a:cs typeface="Times New Roman" panose="02020603050405020304" pitchFamily="18" charset="0"/>
              </a:rPr>
              <a:t> </a:t>
            </a:r>
          </a:p>
          <a:p>
            <a:r>
              <a:rPr lang="en-US" sz="3600" dirty="0">
                <a:latin typeface="Times New Roman" panose="02020603050405020304" pitchFamily="18" charset="0"/>
                <a:cs typeface="Times New Roman" panose="02020603050405020304" pitchFamily="18" charset="0"/>
              </a:rPr>
              <a:t>The exploration for water requires several important steps to get adequate and portable water for consumption and other domestic uses. </a:t>
            </a:r>
          </a:p>
        </p:txBody>
      </p:sp>
      <p:sp>
        <p:nvSpPr>
          <p:cNvPr id="5" name="Slide Number Placeholder 4">
            <a:extLst>
              <a:ext uri="{FF2B5EF4-FFF2-40B4-BE49-F238E27FC236}">
                <a16:creationId xmlns:a16="http://schemas.microsoft.com/office/drawing/2014/main" id="{41F1ECF1-0C4C-410B-8893-2E873E5ABBD3}"/>
              </a:ext>
            </a:extLst>
          </p:cNvPr>
          <p:cNvSpPr>
            <a:spLocks noGrp="1"/>
          </p:cNvSpPr>
          <p:nvPr>
            <p:ph type="sldNum" sz="quarter" idx="12"/>
          </p:nvPr>
        </p:nvSpPr>
        <p:spPr/>
        <p:txBody>
          <a:bodyPr/>
          <a:lstStyle/>
          <a:p>
            <a:fld id="{C52AFD5A-4082-4BE4-96FC-4C4C6076294A}" type="slidenum">
              <a:rPr lang="en-US" sz="1600" smtClean="0"/>
              <a:pPr/>
              <a:t>3</a:t>
            </a:fld>
            <a:endParaRPr lang="en-US" sz="1600" dirty="0"/>
          </a:p>
        </p:txBody>
      </p:sp>
    </p:spTree>
    <p:extLst>
      <p:ext uri="{BB962C8B-B14F-4D97-AF65-F5344CB8AC3E}">
        <p14:creationId xmlns:p14="http://schemas.microsoft.com/office/powerpoint/2010/main" val="2037163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0E82-1A2A-0BFE-24E6-ACBBA069AD51}"/>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SITE ASSESSMENT AND HAZARD CLEARANCE. </a:t>
            </a:r>
          </a:p>
        </p:txBody>
      </p:sp>
      <p:sp>
        <p:nvSpPr>
          <p:cNvPr id="3" name="Content Placeholder 2">
            <a:extLst>
              <a:ext uri="{FF2B5EF4-FFF2-40B4-BE49-F238E27FC236}">
                <a16:creationId xmlns:a16="http://schemas.microsoft.com/office/drawing/2014/main" id="{2D3A9568-491D-F4DD-156B-BA3AAF2BE873}"/>
              </a:ext>
            </a:extLst>
          </p:cNvPr>
          <p:cNvSpPr>
            <a:spLocks noGrp="1"/>
          </p:cNvSpPr>
          <p:nvPr>
            <p:ph idx="1"/>
          </p:nvPr>
        </p:nvSpPr>
        <p:spPr>
          <a:xfrm>
            <a:off x="838200" y="1538515"/>
            <a:ext cx="9757229" cy="4833256"/>
          </a:xfrm>
        </p:spPr>
        <p:txBody>
          <a:bodyPr>
            <a:normAutofit/>
          </a:bodyPr>
          <a:lstStyle/>
          <a:p>
            <a:pPr marL="914400" lvl="2" indent="0">
              <a:buNone/>
            </a:pPr>
            <a:r>
              <a:rPr lang="en-US" sz="2800" b="1" dirty="0">
                <a:latin typeface="Times New Roman" panose="02020603050405020304" pitchFamily="18" charset="0"/>
                <a:cs typeface="Times New Roman" panose="02020603050405020304" pitchFamily="18" charset="0"/>
              </a:rPr>
              <a:t>Contamination Control</a:t>
            </a:r>
            <a:endParaRPr lang="en-GB" sz="3200" b="1" dirty="0">
              <a:latin typeface="Times New Roman" panose="02020603050405020304" pitchFamily="18" charset="0"/>
              <a:cs typeface="Times New Roman" panose="02020603050405020304" pitchFamily="18" charset="0"/>
            </a:endParaRPr>
          </a:p>
          <a:p>
            <a:pPr lvl="2"/>
            <a:r>
              <a:rPr lang="en-GB" sz="2800" dirty="0">
                <a:latin typeface="Times New Roman" panose="02020603050405020304" pitchFamily="18" charset="0"/>
                <a:cs typeface="Times New Roman" panose="02020603050405020304" pitchFamily="18" charset="0"/>
              </a:rPr>
              <a:t>Identified potential sources of contamination</a:t>
            </a:r>
          </a:p>
          <a:p>
            <a:pPr lvl="2"/>
            <a:r>
              <a:rPr lang="en-GB" sz="2800" dirty="0">
                <a:latin typeface="Times New Roman" panose="02020603050405020304" pitchFamily="18" charset="0"/>
                <a:cs typeface="Times New Roman" panose="02020603050405020304" pitchFamily="18" charset="0"/>
              </a:rPr>
              <a:t>Maintained minimum 30 m distance from septic tanks and soakaways</a:t>
            </a:r>
          </a:p>
          <a:p>
            <a:pPr lvl="2"/>
            <a:r>
              <a:rPr lang="en-GB" sz="2800" dirty="0">
                <a:latin typeface="Times New Roman" panose="02020603050405020304" pitchFamily="18" charset="0"/>
                <a:cs typeface="Times New Roman" panose="02020603050405020304" pitchFamily="18" charset="0"/>
              </a:rPr>
              <a:t>Prevented leachate infiltration into groundwater (aquifer protection) </a:t>
            </a:r>
          </a:p>
          <a:p>
            <a:pPr marL="914400" lvl="2" indent="0">
              <a:buNone/>
            </a:pPr>
            <a:r>
              <a:rPr lang="en-GB" sz="2800" b="1" dirty="0">
                <a:latin typeface="Times New Roman" panose="02020603050405020304" pitchFamily="18" charset="0"/>
                <a:cs typeface="Times New Roman" panose="02020603050405020304" pitchFamily="18" charset="0"/>
              </a:rPr>
              <a:t>Hazard Identification</a:t>
            </a:r>
          </a:p>
          <a:p>
            <a:pPr lvl="2"/>
            <a:r>
              <a:rPr lang="en-GB" sz="2800" dirty="0">
                <a:latin typeface="Times New Roman" panose="02020603050405020304" pitchFamily="18" charset="0"/>
                <a:cs typeface="Times New Roman" panose="02020603050405020304" pitchFamily="18" charset="0"/>
              </a:rPr>
              <a:t>Checked for high-tension power lines (pylons)</a:t>
            </a:r>
          </a:p>
          <a:p>
            <a:pPr lvl="2"/>
            <a:r>
              <a:rPr lang="en-GB" sz="2800" dirty="0">
                <a:latin typeface="Times New Roman" panose="02020603050405020304" pitchFamily="18" charset="0"/>
                <a:cs typeface="Times New Roman" panose="02020603050405020304" pitchFamily="18" charset="0"/>
              </a:rPr>
              <a:t>Located underground utilities (pipes, cables, etc.) </a:t>
            </a:r>
          </a:p>
        </p:txBody>
      </p:sp>
      <p:sp>
        <p:nvSpPr>
          <p:cNvPr id="5" name="Slide Number Placeholder 4">
            <a:extLst>
              <a:ext uri="{FF2B5EF4-FFF2-40B4-BE49-F238E27FC236}">
                <a16:creationId xmlns:a16="http://schemas.microsoft.com/office/drawing/2014/main" id="{CACA6E1E-35A8-46BF-8295-C8F29F03954C}"/>
              </a:ext>
            </a:extLst>
          </p:cNvPr>
          <p:cNvSpPr>
            <a:spLocks noGrp="1"/>
          </p:cNvSpPr>
          <p:nvPr>
            <p:ph type="sldNum" sz="quarter" idx="12"/>
          </p:nvPr>
        </p:nvSpPr>
        <p:spPr>
          <a:xfrm>
            <a:off x="8610600" y="5883951"/>
            <a:ext cx="2743200" cy="365125"/>
          </a:xfrm>
        </p:spPr>
        <p:txBody>
          <a:bodyPr/>
          <a:lstStyle/>
          <a:p>
            <a:fld id="{C52AFD5A-4082-4BE4-96FC-4C4C6076294A}" type="slidenum">
              <a:rPr lang="en-US" sz="1600" smtClean="0"/>
              <a:pPr/>
              <a:t>4</a:t>
            </a:fld>
            <a:endParaRPr lang="en-US" sz="1600" dirty="0"/>
          </a:p>
        </p:txBody>
      </p:sp>
    </p:spTree>
    <p:extLst>
      <p:ext uri="{BB962C8B-B14F-4D97-AF65-F5344CB8AC3E}">
        <p14:creationId xmlns:p14="http://schemas.microsoft.com/office/powerpoint/2010/main" val="2323554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36765C6-5F42-7304-4F59-FC503F83280F}"/>
              </a:ext>
            </a:extLst>
          </p:cNvPr>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STEPS INVOLVED IN GROUNDWATER EXPLOITATION </a:t>
            </a:r>
          </a:p>
        </p:txBody>
      </p:sp>
      <p:sp>
        <p:nvSpPr>
          <p:cNvPr id="11" name="Content Placeholder 10">
            <a:extLst>
              <a:ext uri="{FF2B5EF4-FFF2-40B4-BE49-F238E27FC236}">
                <a16:creationId xmlns:a16="http://schemas.microsoft.com/office/drawing/2014/main" id="{91E05E90-9EB5-8966-74EE-DA6AEC77CA5C}"/>
              </a:ext>
            </a:extLst>
          </p:cNvPr>
          <p:cNvSpPr>
            <a:spLocks noGrp="1"/>
          </p:cNvSpPr>
          <p:nvPr>
            <p:ph idx="1"/>
          </p:nvPr>
        </p:nvSpPr>
        <p:spPr>
          <a:xfrm>
            <a:off x="838200" y="1515979"/>
            <a:ext cx="10515600" cy="4733097"/>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Geophysical Survey</a:t>
            </a:r>
          </a:p>
          <a:p>
            <a:r>
              <a:rPr lang="en-US" sz="3600" dirty="0">
                <a:latin typeface="Times New Roman" panose="02020603050405020304" pitchFamily="18" charset="0"/>
                <a:cs typeface="Times New Roman" panose="02020603050405020304" pitchFamily="18" charset="0"/>
              </a:rPr>
              <a:t> Borehole Drilling </a:t>
            </a:r>
          </a:p>
          <a:p>
            <a:r>
              <a:rPr lang="en-US" sz="3600" dirty="0">
                <a:latin typeface="Times New Roman" panose="02020603050405020304" pitchFamily="18" charset="0"/>
                <a:cs typeface="Times New Roman" panose="02020603050405020304" pitchFamily="18" charset="0"/>
              </a:rPr>
              <a:t> Construction</a:t>
            </a:r>
          </a:p>
          <a:p>
            <a:r>
              <a:rPr lang="en-US" sz="3600" dirty="0">
                <a:latin typeface="Times New Roman" panose="02020603050405020304" pitchFamily="18" charset="0"/>
                <a:cs typeface="Times New Roman" panose="02020603050405020304" pitchFamily="18" charset="0"/>
              </a:rPr>
              <a:t> Gravel Packing </a:t>
            </a:r>
          </a:p>
          <a:p>
            <a:r>
              <a:rPr lang="en-US" sz="3600" dirty="0">
                <a:latin typeface="Times New Roman" panose="02020603050405020304" pitchFamily="18" charset="0"/>
                <a:cs typeface="Times New Roman" panose="02020603050405020304" pitchFamily="18" charset="0"/>
              </a:rPr>
              <a:t> Development </a:t>
            </a:r>
          </a:p>
          <a:p>
            <a:r>
              <a:rPr lang="en-US" sz="3600" dirty="0">
                <a:latin typeface="Times New Roman" panose="02020603050405020304" pitchFamily="18" charset="0"/>
                <a:cs typeface="Times New Roman" panose="02020603050405020304" pitchFamily="18" charset="0"/>
              </a:rPr>
              <a:t> Pump installation</a:t>
            </a:r>
          </a:p>
        </p:txBody>
      </p:sp>
      <p:sp>
        <p:nvSpPr>
          <p:cNvPr id="4" name="Slide Number Placeholder 3">
            <a:extLst>
              <a:ext uri="{FF2B5EF4-FFF2-40B4-BE49-F238E27FC236}">
                <a16:creationId xmlns:a16="http://schemas.microsoft.com/office/drawing/2014/main" id="{5D710AF3-E7BB-4E7F-8E55-1C6F525597CE}"/>
              </a:ext>
            </a:extLst>
          </p:cNvPr>
          <p:cNvSpPr>
            <a:spLocks noGrp="1"/>
          </p:cNvSpPr>
          <p:nvPr>
            <p:ph type="sldNum" sz="quarter" idx="12"/>
          </p:nvPr>
        </p:nvSpPr>
        <p:spPr/>
        <p:txBody>
          <a:bodyPr/>
          <a:lstStyle/>
          <a:p>
            <a:fld id="{C52AFD5A-4082-4BE4-96FC-4C4C6076294A}" type="slidenum">
              <a:rPr lang="en-US" sz="1600" smtClean="0"/>
              <a:pPr/>
              <a:t>5</a:t>
            </a:fld>
            <a:endParaRPr lang="en-US" sz="1600" dirty="0"/>
          </a:p>
        </p:txBody>
      </p:sp>
    </p:spTree>
    <p:extLst>
      <p:ext uri="{BB962C8B-B14F-4D97-AF65-F5344CB8AC3E}">
        <p14:creationId xmlns:p14="http://schemas.microsoft.com/office/powerpoint/2010/main" val="396322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4B0F-AC45-C074-63A6-05075FAD338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GEOPHYSICAL SURVEY</a:t>
            </a:r>
          </a:p>
        </p:txBody>
      </p:sp>
      <p:sp>
        <p:nvSpPr>
          <p:cNvPr id="3" name="Content Placeholder 2">
            <a:extLst>
              <a:ext uri="{FF2B5EF4-FFF2-40B4-BE49-F238E27FC236}">
                <a16:creationId xmlns:a16="http://schemas.microsoft.com/office/drawing/2014/main" id="{2042BB35-5444-B42D-552C-555FC5328D83}"/>
              </a:ext>
            </a:extLst>
          </p:cNvPr>
          <p:cNvSpPr>
            <a:spLocks noGrp="1"/>
          </p:cNvSpPr>
          <p:nvPr>
            <p:ph sz="half" idx="2"/>
          </p:nvPr>
        </p:nvSpPr>
        <p:spPr>
          <a:xfrm>
            <a:off x="836611" y="1431759"/>
            <a:ext cx="5183187" cy="4668253"/>
          </a:xfrm>
        </p:spPr>
        <p:txBody>
          <a:bodyPr>
            <a:normAutofit lnSpcReduction="10000"/>
          </a:bodyPr>
          <a:lstStyle/>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Geophysical techniques are non-invasive technologies that measure the variations in the physical characteristics of the surface and subsurface geology, either NATURAL OR ARTIFICIAL, generated within the Earth’s crust.</a:t>
            </a:r>
            <a:endParaRPr lang="en-GB"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A728BCF4-EB61-5D8E-D525-FA207E8A617D}"/>
              </a:ext>
            </a:extLst>
          </p:cNvPr>
          <p:cNvSpPr>
            <a:spLocks noGrp="1"/>
          </p:cNvSpPr>
          <p:nvPr>
            <p:ph type="body" sz="quarter" idx="3"/>
          </p:nvPr>
        </p:nvSpPr>
        <p:spPr>
          <a:xfrm>
            <a:off x="6172200" y="1431759"/>
            <a:ext cx="5183188" cy="733926"/>
          </a:xfrm>
        </p:spPr>
        <p:txBody>
          <a:bodyPr/>
          <a:lstStyle/>
          <a:p>
            <a:r>
              <a:rPr lang="en-US" dirty="0"/>
              <a:t> </a:t>
            </a:r>
            <a:r>
              <a:rPr lang="en-US" sz="3200" dirty="0">
                <a:latin typeface="Times New Roman" panose="02020603050405020304" pitchFamily="18" charset="0"/>
                <a:cs typeface="Times New Roman" panose="02020603050405020304" pitchFamily="18" charset="0"/>
              </a:rPr>
              <a:t>METHODOLOGY</a:t>
            </a:r>
            <a:endParaRPr lang="en-US" sz="28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F2B9F9C1-EC3C-6B55-B504-56486CA8E0B9}"/>
              </a:ext>
            </a:extLst>
          </p:cNvPr>
          <p:cNvSpPr>
            <a:spLocks noGrp="1"/>
          </p:cNvSpPr>
          <p:nvPr>
            <p:ph sz="quarter" idx="4"/>
          </p:nvPr>
        </p:nvSpPr>
        <p:spPr>
          <a:xfrm>
            <a:off x="6172200" y="2298408"/>
            <a:ext cx="5183188" cy="3684588"/>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There are various methods used in conducting a geophysical survey. These include the Electrical Resistivity method, the Magnetic/Electromagnetic method, and the Seismic Method.</a:t>
            </a:r>
          </a:p>
          <a:p>
            <a:pPr marL="0" indent="0">
              <a:buNone/>
            </a:pPr>
            <a:r>
              <a:rPr lang="en-US" dirty="0">
                <a:latin typeface="Times New Roman" panose="02020603050405020304" pitchFamily="18" charset="0"/>
                <a:cs typeface="Times New Roman" panose="02020603050405020304" pitchFamily="18" charset="0"/>
              </a:rPr>
              <a:t>Out of the afore-mentioned methods, the Electrical Resistivity method using ADMT is mostly employed by this company.</a:t>
            </a:r>
          </a:p>
        </p:txBody>
      </p:sp>
      <p:sp>
        <p:nvSpPr>
          <p:cNvPr id="4" name="Slide Number Placeholder 3">
            <a:extLst>
              <a:ext uri="{FF2B5EF4-FFF2-40B4-BE49-F238E27FC236}">
                <a16:creationId xmlns:a16="http://schemas.microsoft.com/office/drawing/2014/main" id="{C36C8EF1-A26E-4D26-9DC3-372D2D489D58}"/>
              </a:ext>
            </a:extLst>
          </p:cNvPr>
          <p:cNvSpPr>
            <a:spLocks noGrp="1"/>
          </p:cNvSpPr>
          <p:nvPr>
            <p:ph type="sldNum" sz="quarter" idx="12"/>
          </p:nvPr>
        </p:nvSpPr>
        <p:spPr/>
        <p:txBody>
          <a:bodyPr/>
          <a:lstStyle/>
          <a:p>
            <a:fld id="{C52AFD5A-4082-4BE4-96FC-4C4C6076294A}" type="slidenum">
              <a:rPr lang="en-US" sz="1600" smtClean="0"/>
              <a:pPr/>
              <a:t>6</a:t>
            </a:fld>
            <a:endParaRPr lang="en-US" sz="1600" dirty="0"/>
          </a:p>
        </p:txBody>
      </p:sp>
    </p:spTree>
    <p:extLst>
      <p:ext uri="{BB962C8B-B14F-4D97-AF65-F5344CB8AC3E}">
        <p14:creationId xmlns:p14="http://schemas.microsoft.com/office/powerpoint/2010/main" val="4133502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EC55F-5262-B738-8146-80D619E99115}"/>
              </a:ext>
            </a:extLst>
          </p:cNvPr>
          <p:cNvSpPr>
            <a:spLocks noGrp="1"/>
          </p:cNvSpPr>
          <p:nvPr>
            <p:ph type="title"/>
          </p:nvPr>
        </p:nvSpPr>
        <p:spPr>
          <a:xfrm>
            <a:off x="839788" y="792977"/>
            <a:ext cx="5836783" cy="1037771"/>
          </a:xfrm>
        </p:spPr>
        <p:txBody>
          <a:bodyPr>
            <a:normAutofit/>
          </a:bodyPr>
          <a:lstStyle/>
          <a:p>
            <a:r>
              <a:rPr lang="en-US" dirty="0">
                <a:latin typeface="Times New Roman" panose="02020603050405020304" pitchFamily="18" charset="0"/>
                <a:cs typeface="Times New Roman" panose="02020603050405020304" pitchFamily="18" charset="0"/>
              </a:rPr>
              <a:t>HOW WE USED THE ADMT FOR SURVEYING</a:t>
            </a:r>
          </a:p>
        </p:txBody>
      </p:sp>
      <p:sp>
        <p:nvSpPr>
          <p:cNvPr id="9" name="Text Placeholder 8">
            <a:extLst>
              <a:ext uri="{FF2B5EF4-FFF2-40B4-BE49-F238E27FC236}">
                <a16:creationId xmlns:a16="http://schemas.microsoft.com/office/drawing/2014/main" id="{EADE9D4F-BD7C-BEFD-6636-2964E1505E47}"/>
              </a:ext>
            </a:extLst>
          </p:cNvPr>
          <p:cNvSpPr>
            <a:spLocks noGrp="1"/>
          </p:cNvSpPr>
          <p:nvPr>
            <p:ph type="body" sz="half" idx="2"/>
          </p:nvPr>
        </p:nvSpPr>
        <p:spPr>
          <a:xfrm>
            <a:off x="839788" y="2063579"/>
            <a:ext cx="3606645" cy="3591071"/>
          </a:xfrm>
        </p:spPr>
        <p:txBody>
          <a:bodyPr>
            <a:normAutofit fontScale="85000" lnSpcReduction="20000"/>
          </a:bodyPr>
          <a:lstStyle/>
          <a:p>
            <a:r>
              <a:rPr lang="en-US" sz="2800" dirty="0">
                <a:latin typeface="Times New Roman" panose="02020603050405020304" pitchFamily="18" charset="0"/>
                <a:cs typeface="Times New Roman" panose="02020603050405020304" pitchFamily="18" charset="0"/>
              </a:rPr>
              <a:t>The ADMT-200S-Y water detector was used for </a:t>
            </a:r>
            <a:r>
              <a:rPr lang="en-GB" sz="2800" dirty="0">
                <a:latin typeface="Times New Roman" panose="02020603050405020304" pitchFamily="18" charset="0"/>
                <a:cs typeface="Times New Roman" panose="02020603050405020304" pitchFamily="18" charset="0"/>
              </a:rPr>
              <a:t>the Groundwater prospecting</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The midpoint between the two electrodes was measured. </a:t>
            </a:r>
          </a:p>
          <a:p>
            <a:r>
              <a:rPr lang="en-US" sz="2800" dirty="0">
                <a:latin typeface="Times New Roman" panose="02020603050405020304" pitchFamily="18" charset="0"/>
                <a:cs typeface="Times New Roman" panose="02020603050405020304" pitchFamily="18" charset="0"/>
              </a:rPr>
              <a:t>After each reading, the electrodes were moved equidistantly in the same direction until the entire profile measurement was completed</a:t>
            </a:r>
          </a:p>
        </p:txBody>
      </p:sp>
      <p:sp>
        <p:nvSpPr>
          <p:cNvPr id="5" name="Slide Number Placeholder 4">
            <a:extLst>
              <a:ext uri="{FF2B5EF4-FFF2-40B4-BE49-F238E27FC236}">
                <a16:creationId xmlns:a16="http://schemas.microsoft.com/office/drawing/2014/main" id="{A21930B9-2567-453D-B175-8886167EA3EC}"/>
              </a:ext>
            </a:extLst>
          </p:cNvPr>
          <p:cNvSpPr>
            <a:spLocks noGrp="1"/>
          </p:cNvSpPr>
          <p:nvPr>
            <p:ph type="sldNum" sz="quarter" idx="12"/>
          </p:nvPr>
        </p:nvSpPr>
        <p:spPr/>
        <p:txBody>
          <a:bodyPr/>
          <a:lstStyle/>
          <a:p>
            <a:fld id="{C52AFD5A-4082-4BE4-96FC-4C4C6076294A}" type="slidenum">
              <a:rPr lang="en-US" sz="1600" smtClean="0"/>
              <a:pPr/>
              <a:t>7</a:t>
            </a:fld>
            <a:endParaRPr lang="en-US" sz="1600" dirty="0"/>
          </a:p>
        </p:txBody>
      </p:sp>
      <p:pic>
        <p:nvPicPr>
          <p:cNvPr id="11" name="Content Placeholder 10" descr="photo_2026-01-15_00-43-20">
            <a:extLst>
              <a:ext uri="{FF2B5EF4-FFF2-40B4-BE49-F238E27FC236}">
                <a16:creationId xmlns:a16="http://schemas.microsoft.com/office/drawing/2014/main" id="{2AC67BE4-DC2A-2B2F-DF6D-B94FB785BCF0}"/>
              </a:ext>
            </a:extLst>
          </p:cNvPr>
          <p:cNvPicPr>
            <a:picLocks noGrp="1" noChangeAspect="1"/>
          </p:cNvPicPr>
          <p:nvPr>
            <p:ph idx="1"/>
          </p:nvPr>
        </p:nvPicPr>
        <p:blipFill>
          <a:blip r:embed="rId2"/>
          <a:stretch>
            <a:fillRect/>
          </a:stretch>
        </p:blipFill>
        <p:spPr>
          <a:xfrm>
            <a:off x="4528706" y="1643773"/>
            <a:ext cx="3606646" cy="21758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11" descr="Picture1">
            <a:extLst>
              <a:ext uri="{FF2B5EF4-FFF2-40B4-BE49-F238E27FC236}">
                <a16:creationId xmlns:a16="http://schemas.microsoft.com/office/drawing/2014/main" id="{ACD4E489-4412-E979-B9DF-F898DF019174}"/>
              </a:ext>
            </a:extLst>
          </p:cNvPr>
          <p:cNvPicPr>
            <a:picLocks noChangeAspect="1"/>
          </p:cNvPicPr>
          <p:nvPr/>
        </p:nvPicPr>
        <p:blipFill>
          <a:blip r:embed="rId3"/>
          <a:stretch>
            <a:fillRect/>
          </a:stretch>
        </p:blipFill>
        <p:spPr>
          <a:xfrm>
            <a:off x="8053078" y="3982843"/>
            <a:ext cx="3299134" cy="2008305"/>
          </a:xfrm>
          <a:prstGeom prst="rect">
            <a:avLst/>
          </a:prstGeom>
        </p:spPr>
      </p:pic>
      <p:sp>
        <p:nvSpPr>
          <p:cNvPr id="13" name="Text Box 14">
            <a:extLst>
              <a:ext uri="{FF2B5EF4-FFF2-40B4-BE49-F238E27FC236}">
                <a16:creationId xmlns:a16="http://schemas.microsoft.com/office/drawing/2014/main" id="{3A1B5F26-B486-1BE2-001C-BF710C3D3E24}"/>
              </a:ext>
            </a:extLst>
          </p:cNvPr>
          <p:cNvSpPr txBox="1"/>
          <p:nvPr/>
        </p:nvSpPr>
        <p:spPr>
          <a:xfrm>
            <a:off x="8053078" y="4126291"/>
            <a:ext cx="1037968" cy="333633"/>
          </a:xfrm>
          <a:prstGeom prst="rect">
            <a:avLst/>
          </a:prstGeom>
          <a:noFill/>
          <a:ln w="6350">
            <a:noFill/>
          </a:ln>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50000"/>
              </a:lnSpc>
              <a:spcAft>
                <a:spcPts val="1000"/>
              </a:spcAft>
              <a:buNone/>
            </a:pPr>
            <a:r>
              <a:rPr lang="en-GB" sz="1200" dirty="0">
                <a:effectLst/>
                <a:latin typeface="Times New Roman" panose="02020603050405020304" pitchFamily="18" charset="0"/>
                <a:ea typeface="MS Mincho" panose="020B0400000000000000" pitchFamily="49" charset="-128"/>
                <a:cs typeface="Times New Roman" panose="02020603050405020304" pitchFamily="18" charset="0"/>
              </a:rPr>
              <a:t>MAINFRAM</a:t>
            </a:r>
          </a:p>
        </p:txBody>
      </p:sp>
      <p:sp>
        <p:nvSpPr>
          <p:cNvPr id="14" name="TextBox 13">
            <a:extLst>
              <a:ext uri="{FF2B5EF4-FFF2-40B4-BE49-F238E27FC236}">
                <a16:creationId xmlns:a16="http://schemas.microsoft.com/office/drawing/2014/main" id="{A929C055-A2CD-3646-485D-DBF94A28CFA2}"/>
              </a:ext>
            </a:extLst>
          </p:cNvPr>
          <p:cNvSpPr txBox="1"/>
          <p:nvPr/>
        </p:nvSpPr>
        <p:spPr>
          <a:xfrm>
            <a:off x="9564260" y="5141278"/>
            <a:ext cx="365761" cy="246221"/>
          </a:xfrm>
          <a:prstGeom prst="rect">
            <a:avLst/>
          </a:prstGeom>
          <a:noFill/>
        </p:spPr>
        <p:txBody>
          <a:bodyPr wrap="square" rtlCol="0">
            <a:spAutoFit/>
          </a:bodyPr>
          <a:lstStyle/>
          <a:p>
            <a:r>
              <a:rPr lang="en-GB" sz="1000" dirty="0"/>
              <a:t>M</a:t>
            </a:r>
          </a:p>
        </p:txBody>
      </p:sp>
      <p:pic>
        <p:nvPicPr>
          <p:cNvPr id="16" name="Picture 15">
            <a:extLst>
              <a:ext uri="{FF2B5EF4-FFF2-40B4-BE49-F238E27FC236}">
                <a16:creationId xmlns:a16="http://schemas.microsoft.com/office/drawing/2014/main" id="{0987371D-DBB2-0658-D295-4C21B1AD3343}"/>
              </a:ext>
            </a:extLst>
          </p:cNvPr>
          <p:cNvPicPr>
            <a:picLocks noChangeAspect="1"/>
          </p:cNvPicPr>
          <p:nvPr/>
        </p:nvPicPr>
        <p:blipFill>
          <a:blip r:embed="rId4"/>
          <a:stretch>
            <a:fillRect/>
          </a:stretch>
        </p:blipFill>
        <p:spPr>
          <a:xfrm>
            <a:off x="10853968" y="5017480"/>
            <a:ext cx="432854" cy="493819"/>
          </a:xfrm>
          <a:prstGeom prst="rect">
            <a:avLst/>
          </a:prstGeom>
        </p:spPr>
      </p:pic>
      <p:pic>
        <p:nvPicPr>
          <p:cNvPr id="17" name="Picture 16">
            <a:extLst>
              <a:ext uri="{FF2B5EF4-FFF2-40B4-BE49-F238E27FC236}">
                <a16:creationId xmlns:a16="http://schemas.microsoft.com/office/drawing/2014/main" id="{E11240E1-E96D-1739-1C1E-0BFFE83D8819}"/>
              </a:ext>
            </a:extLst>
          </p:cNvPr>
          <p:cNvPicPr/>
          <p:nvPr/>
        </p:nvPicPr>
        <p:blipFill>
          <a:blip r:embed="rId5"/>
          <a:stretch>
            <a:fillRect/>
          </a:stretch>
        </p:blipFill>
        <p:spPr>
          <a:xfrm>
            <a:off x="8217625" y="1098637"/>
            <a:ext cx="3217933" cy="255872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42630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EC55F-5262-B738-8146-80D619E99115}"/>
              </a:ext>
            </a:extLst>
          </p:cNvPr>
          <p:cNvSpPr>
            <a:spLocks noGrp="1"/>
          </p:cNvSpPr>
          <p:nvPr>
            <p:ph type="title"/>
          </p:nvPr>
        </p:nvSpPr>
        <p:spPr/>
        <p:txBody>
          <a:bodyPr>
            <a:normAutofit fontScale="90000"/>
          </a:bodyPr>
          <a:lstStyle/>
          <a:p>
            <a:pPr algn="ctr"/>
            <a:r>
              <a:rPr lang="en-US" dirty="0">
                <a:latin typeface="Times New Roman" panose="02020603050405020304" pitchFamily="18" charset="0"/>
                <a:cs typeface="Times New Roman" panose="02020603050405020304" pitchFamily="18" charset="0"/>
              </a:rPr>
              <a:t>Interpretation of Data From the ADMT water detector</a:t>
            </a:r>
          </a:p>
        </p:txBody>
      </p:sp>
      <p:sp>
        <p:nvSpPr>
          <p:cNvPr id="7" name="Text Placeholder 6">
            <a:extLst>
              <a:ext uri="{FF2B5EF4-FFF2-40B4-BE49-F238E27FC236}">
                <a16:creationId xmlns:a16="http://schemas.microsoft.com/office/drawing/2014/main" id="{883AC926-8B62-8279-1520-FD9A844BEBFE}"/>
              </a:ext>
            </a:extLst>
          </p:cNvPr>
          <p:cNvSpPr>
            <a:spLocks noGrp="1"/>
          </p:cNvSpPr>
          <p:nvPr>
            <p:ph type="body" sz="half" idx="2"/>
          </p:nvPr>
        </p:nvSpPr>
        <p:spPr>
          <a:xfrm>
            <a:off x="5603889" y="812586"/>
            <a:ext cx="5584064" cy="5127172"/>
          </a:xfrm>
        </p:spPr>
        <p:txBody>
          <a:bodyPr>
            <a:norm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data collected by the instrument is processed by </a:t>
            </a:r>
            <a:r>
              <a:rPr lang="en-US" sz="2400" dirty="0" err="1">
                <a:latin typeface="Times New Roman" panose="02020603050405020304" pitchFamily="18" charset="0"/>
                <a:cs typeface="Times New Roman" panose="02020603050405020304" pitchFamily="18" charset="0"/>
              </a:rPr>
              <a:t>Aidu</a:t>
            </a:r>
            <a:r>
              <a:rPr lang="en-US" sz="2400" dirty="0">
                <a:latin typeface="Times New Roman" panose="02020603050405020304" pitchFamily="18" charset="0"/>
                <a:cs typeface="Times New Roman" panose="02020603050405020304" pitchFamily="18" charset="0"/>
              </a:rPr>
              <a:t> Intelligent Data Processing Software and presented in a contour map form where inference can be made of the position, width and judgement depth of geological anomalies.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results, which are presented in the contour map, are shown in the appendix, where the abscissa indicates the measuring point number, the ordinate indicates the depth, the green area is the aquifer zones, and the blue area is the low resistivity area. </a:t>
            </a:r>
            <a:endParaRPr lang="en-GB"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BD57AA2-027B-4F51-81BF-364E4FA67EDA}"/>
              </a:ext>
            </a:extLst>
          </p:cNvPr>
          <p:cNvSpPr>
            <a:spLocks noGrp="1"/>
          </p:cNvSpPr>
          <p:nvPr>
            <p:ph type="sldNum" sz="quarter" idx="12"/>
          </p:nvPr>
        </p:nvSpPr>
        <p:spPr/>
        <p:txBody>
          <a:bodyPr/>
          <a:lstStyle/>
          <a:p>
            <a:fld id="{C52AFD5A-4082-4BE4-96FC-4C4C6076294A}" type="slidenum">
              <a:rPr lang="en-US" sz="1600" smtClean="0"/>
              <a:pPr/>
              <a:t>8</a:t>
            </a:fld>
            <a:endParaRPr lang="en-US" sz="1600" dirty="0"/>
          </a:p>
        </p:txBody>
      </p:sp>
      <p:pic>
        <p:nvPicPr>
          <p:cNvPr id="8" name="Content Placeholder 7" descr="WhatsApp Image 2026-01-20 at 7.23.10 AM">
            <a:extLst>
              <a:ext uri="{FF2B5EF4-FFF2-40B4-BE49-F238E27FC236}">
                <a16:creationId xmlns:a16="http://schemas.microsoft.com/office/drawing/2014/main" id="{90B2B8B8-CA71-A625-32BF-8C07FD8BE426}"/>
              </a:ext>
            </a:extLst>
          </p:cNvPr>
          <p:cNvPicPr>
            <a:picLocks noGrp="1"/>
          </p:cNvPicPr>
          <p:nvPr>
            <p:ph idx="1"/>
          </p:nvPr>
        </p:nvPicPr>
        <p:blipFill>
          <a:blip r:embed="rId2"/>
          <a:srcRect t="4321"/>
          <a:stretch>
            <a:fillRect/>
          </a:stretch>
        </p:blipFill>
        <p:spPr>
          <a:xfrm>
            <a:off x="919475" y="2235400"/>
            <a:ext cx="3772861" cy="3704358"/>
          </a:xfrm>
          <a:prstGeom prst="rect">
            <a:avLst/>
          </a:prstGeom>
          <a:ln w="76200">
            <a:solidFill>
              <a:schemeClr val="tx1"/>
            </a:solidFill>
          </a:ln>
        </p:spPr>
      </p:pic>
    </p:spTree>
    <p:extLst>
      <p:ext uri="{BB962C8B-B14F-4D97-AF65-F5344CB8AC3E}">
        <p14:creationId xmlns:p14="http://schemas.microsoft.com/office/powerpoint/2010/main" val="4131957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EC55F-5262-B738-8146-80D619E99115}"/>
              </a:ext>
            </a:extLst>
          </p:cNvPr>
          <p:cNvSpPr>
            <a:spLocks noGrp="1"/>
          </p:cNvSpPr>
          <p:nvPr>
            <p:ph type="title"/>
          </p:nvPr>
        </p:nvSpPr>
        <p:spPr>
          <a:xfrm>
            <a:off x="839787" y="457200"/>
            <a:ext cx="4425631" cy="944799"/>
          </a:xfrm>
        </p:spPr>
        <p:txBody>
          <a:bodyPr>
            <a:normAutofit fontScale="90000"/>
          </a:bodyPr>
          <a:lstStyle/>
          <a:p>
            <a:r>
              <a:rPr lang="en-US" dirty="0">
                <a:latin typeface="Times New Roman" panose="02020603050405020304" pitchFamily="18" charset="0"/>
                <a:cs typeface="Times New Roman" panose="02020603050405020304" pitchFamily="18" charset="0"/>
              </a:rPr>
              <a:t>BOREHOLE DRILLING</a:t>
            </a:r>
          </a:p>
        </p:txBody>
      </p:sp>
      <p:sp>
        <p:nvSpPr>
          <p:cNvPr id="6" name="Text Placeholder 5">
            <a:extLst>
              <a:ext uri="{FF2B5EF4-FFF2-40B4-BE49-F238E27FC236}">
                <a16:creationId xmlns:a16="http://schemas.microsoft.com/office/drawing/2014/main" id="{20EF1C54-4B01-9538-168C-F5277C8A85B8}"/>
              </a:ext>
            </a:extLst>
          </p:cNvPr>
          <p:cNvSpPr>
            <a:spLocks noGrp="1"/>
          </p:cNvSpPr>
          <p:nvPr>
            <p:ph type="body" sz="half" idx="2"/>
          </p:nvPr>
        </p:nvSpPr>
        <p:spPr>
          <a:xfrm>
            <a:off x="838201" y="1509487"/>
            <a:ext cx="5017934" cy="4846864"/>
          </a:xfrm>
        </p:spPr>
        <p:txBody>
          <a:bodyPr>
            <a:normAutofit fontScale="70000" lnSpcReduction="20000"/>
          </a:bodyPr>
          <a:lstStyle/>
          <a:p>
            <a:pPr marL="457200" indent="-457200">
              <a:buFont typeface="Wingdings" panose="05000000000000000000" pitchFamily="2" charset="2"/>
              <a:buChar char="Ø"/>
            </a:pPr>
            <a:r>
              <a:rPr lang="en-US" sz="3600" dirty="0"/>
              <a:t>A JCR DTH water well rig was used for the drilling works.</a:t>
            </a:r>
            <a:endParaRPr lang="en-GB" sz="3600" dirty="0"/>
          </a:p>
          <a:p>
            <a:pPr marL="457200" indent="-457200">
              <a:buFont typeface="Wingdings" panose="05000000000000000000" pitchFamily="2" charset="2"/>
              <a:buChar char="Ø"/>
            </a:pPr>
            <a:r>
              <a:rPr lang="en-US" sz="3600" dirty="0"/>
              <a:t>For 125 mm casing, a 300 mm hole was drilled using an insert bit with air or mud flush to the partially weathered rock.</a:t>
            </a:r>
          </a:p>
          <a:p>
            <a:pPr marL="457200" indent="-457200">
              <a:buFont typeface="Wingdings" panose="05000000000000000000" pitchFamily="2" charset="2"/>
              <a:buChar char="Ø"/>
            </a:pPr>
            <a:r>
              <a:rPr lang="en-US" sz="3600" dirty="0"/>
              <a:t> A 250 mm steel temporary surface casing was installed to hold back the overburden. </a:t>
            </a:r>
          </a:p>
          <a:p>
            <a:pPr marL="457200" indent="-457200">
              <a:buFont typeface="Wingdings" panose="05000000000000000000" pitchFamily="2" charset="2"/>
              <a:buChar char="Ø"/>
            </a:pPr>
            <a:r>
              <a:rPr lang="en-US" sz="3600" dirty="0"/>
              <a:t>A nominal 175 mm (7-inch) hole Through underlying rock to the final depth using an air down-the-hole hammer button bit, sometimes with water injected into the air circulation during drilling.</a:t>
            </a:r>
            <a:endParaRPr lang="en-GB" sz="4400" dirty="0"/>
          </a:p>
          <a:p>
            <a:endParaRPr lang="en-US" sz="2800" dirty="0"/>
          </a:p>
        </p:txBody>
      </p:sp>
      <p:sp>
        <p:nvSpPr>
          <p:cNvPr id="5" name="Slide Number Placeholder 4">
            <a:extLst>
              <a:ext uri="{FF2B5EF4-FFF2-40B4-BE49-F238E27FC236}">
                <a16:creationId xmlns:a16="http://schemas.microsoft.com/office/drawing/2014/main" id="{7B8125C8-DFAF-46A9-B717-2F3F1223E908}"/>
              </a:ext>
            </a:extLst>
          </p:cNvPr>
          <p:cNvSpPr>
            <a:spLocks noGrp="1"/>
          </p:cNvSpPr>
          <p:nvPr>
            <p:ph type="sldNum" sz="quarter" idx="12"/>
          </p:nvPr>
        </p:nvSpPr>
        <p:spPr/>
        <p:txBody>
          <a:bodyPr/>
          <a:lstStyle/>
          <a:p>
            <a:fld id="{C52AFD5A-4082-4BE4-96FC-4C4C6076294A}" type="slidenum">
              <a:rPr lang="en-US" sz="1600" smtClean="0"/>
              <a:pPr/>
              <a:t>9</a:t>
            </a:fld>
            <a:endParaRPr lang="en-US" sz="1600" dirty="0"/>
          </a:p>
        </p:txBody>
      </p:sp>
      <p:pic>
        <p:nvPicPr>
          <p:cNvPr id="7" name="Content Placeholder 6" descr="A close-up of a machine&#10;&#10;AI-generated content may be incorrect.">
            <a:extLst>
              <a:ext uri="{FF2B5EF4-FFF2-40B4-BE49-F238E27FC236}">
                <a16:creationId xmlns:a16="http://schemas.microsoft.com/office/drawing/2014/main" id="{B3D84757-6FB8-7513-B927-FF25FB4A1C8B}"/>
              </a:ext>
            </a:extLst>
          </p:cNvPr>
          <p:cNvPicPr>
            <a:picLocks noGrp="1" noChangeAspect="1"/>
          </p:cNvPicPr>
          <p:nvPr>
            <p:ph idx="1"/>
          </p:nvPr>
        </p:nvPicPr>
        <p:blipFill>
          <a:blip r:embed="rId2"/>
          <a:stretch>
            <a:fillRect/>
          </a:stretch>
        </p:blipFill>
        <p:spPr>
          <a:xfrm>
            <a:off x="5856134" y="1401999"/>
            <a:ext cx="4670992" cy="446698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28027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008B5-C9A6-4B53-A0B4-DF50B767F65B}"/>
              </a:ext>
            </a:extLst>
          </p:cNvPr>
          <p:cNvSpPr>
            <a:spLocks noGrp="1"/>
          </p:cNvSpPr>
          <p:nvPr>
            <p:ph type="title"/>
          </p:nvPr>
        </p:nvSpPr>
        <p:spPr>
          <a:xfrm>
            <a:off x="839788" y="632824"/>
            <a:ext cx="4864326" cy="1166948"/>
          </a:xfrm>
        </p:spPr>
        <p:txBody>
          <a:bodyPr/>
          <a:lstStyle/>
          <a:p>
            <a:r>
              <a:rPr lang="en-GB" dirty="0">
                <a:latin typeface="Times New Roman" panose="02020603050405020304" pitchFamily="18" charset="0"/>
                <a:cs typeface="Times New Roman" panose="02020603050405020304" pitchFamily="18" charset="0"/>
              </a:rPr>
              <a:t>    LOGGING AND SAMPLE COLLECTION</a:t>
            </a:r>
          </a:p>
        </p:txBody>
      </p:sp>
      <p:sp>
        <p:nvSpPr>
          <p:cNvPr id="5" name="Text Placeholder 4">
            <a:extLst>
              <a:ext uri="{FF2B5EF4-FFF2-40B4-BE49-F238E27FC236}">
                <a16:creationId xmlns:a16="http://schemas.microsoft.com/office/drawing/2014/main" id="{0540DA15-E203-2CA1-98D6-D4E2A04F6894}"/>
              </a:ext>
            </a:extLst>
          </p:cNvPr>
          <p:cNvSpPr>
            <a:spLocks noGrp="1"/>
          </p:cNvSpPr>
          <p:nvPr>
            <p:ph type="body" sz="half" idx="2"/>
          </p:nvPr>
        </p:nvSpPr>
        <p:spPr>
          <a:xfrm>
            <a:off x="839788" y="2057400"/>
            <a:ext cx="4517072" cy="3811588"/>
          </a:xfrm>
        </p:spPr>
        <p:txBody>
          <a:bodyPr>
            <a:normAutofit/>
          </a:bodyPr>
          <a:lstStyle/>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Well logging also known as borehole logging, is the practice of making a detailed record of the geology formation penetrated by a borehole.</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Drilling was stopped when sufficient water.</a:t>
            </a:r>
            <a:endParaRPr lang="en-GB" sz="2800" dirty="0">
              <a:latin typeface="Times New Roman" panose="02020603050405020304" pitchFamily="18" charset="0"/>
              <a:cs typeface="Times New Roman" panose="02020603050405020304" pitchFamily="18" charset="0"/>
            </a:endParaRPr>
          </a:p>
          <a:p>
            <a:pPr marL="0" indent="0">
              <a:buNone/>
            </a:pPr>
            <a:endParaRPr lang="en-GB" sz="2400" dirty="0"/>
          </a:p>
          <a:p>
            <a:endParaRPr lang="en-US" sz="2400" dirty="0"/>
          </a:p>
        </p:txBody>
      </p:sp>
      <p:sp>
        <p:nvSpPr>
          <p:cNvPr id="4" name="Slide Number Placeholder 3">
            <a:extLst>
              <a:ext uri="{FF2B5EF4-FFF2-40B4-BE49-F238E27FC236}">
                <a16:creationId xmlns:a16="http://schemas.microsoft.com/office/drawing/2014/main" id="{F53F3803-F0ED-4AE6-A03C-4F3D9BA0B246}"/>
              </a:ext>
            </a:extLst>
          </p:cNvPr>
          <p:cNvSpPr>
            <a:spLocks noGrp="1"/>
          </p:cNvSpPr>
          <p:nvPr>
            <p:ph type="sldNum" sz="quarter" idx="12"/>
          </p:nvPr>
        </p:nvSpPr>
        <p:spPr/>
        <p:txBody>
          <a:bodyPr/>
          <a:lstStyle/>
          <a:p>
            <a:fld id="{C52AFD5A-4082-4BE4-96FC-4C4C6076294A}" type="slidenum">
              <a:rPr lang="en-US" sz="1600" smtClean="0"/>
              <a:pPr/>
              <a:t>10</a:t>
            </a:fld>
            <a:endParaRPr lang="en-US" sz="1600" dirty="0"/>
          </a:p>
        </p:txBody>
      </p:sp>
      <p:pic>
        <p:nvPicPr>
          <p:cNvPr id="8" name="Content Placeholder 7">
            <a:extLst>
              <a:ext uri="{FF2B5EF4-FFF2-40B4-BE49-F238E27FC236}">
                <a16:creationId xmlns:a16="http://schemas.microsoft.com/office/drawing/2014/main" id="{43F86BB2-C3BA-7228-F8D6-7962E8CE2CF5}"/>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rot="5400000">
            <a:off x="6297229" y="1405190"/>
            <a:ext cx="4215259" cy="423672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Rectangle 8">
            <a:extLst>
              <a:ext uri="{FF2B5EF4-FFF2-40B4-BE49-F238E27FC236}">
                <a16:creationId xmlns:a16="http://schemas.microsoft.com/office/drawing/2014/main" id="{03A6E534-FBE6-6DEA-1EE6-B10B499EA8A5}"/>
              </a:ext>
            </a:extLst>
          </p:cNvPr>
          <p:cNvSpPr/>
          <p:nvPr/>
        </p:nvSpPr>
        <p:spPr>
          <a:xfrm>
            <a:off x="6286499" y="762000"/>
            <a:ext cx="3634741" cy="51816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LOGGED SAMPLES ON FIELD</a:t>
            </a:r>
          </a:p>
        </p:txBody>
      </p:sp>
    </p:spTree>
    <p:extLst>
      <p:ext uri="{BB962C8B-B14F-4D97-AF65-F5344CB8AC3E}">
        <p14:creationId xmlns:p14="http://schemas.microsoft.com/office/powerpoint/2010/main" val="3068538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1C3B5-466F-4A44-8C02-C74EB8217C8F}"/>
              </a:ext>
            </a:extLst>
          </p:cNvPr>
          <p:cNvSpPr>
            <a:spLocks noGrp="1"/>
          </p:cNvSpPr>
          <p:nvPr>
            <p:ph type="title"/>
          </p:nvPr>
        </p:nvSpPr>
        <p:spPr>
          <a:xfrm>
            <a:off x="839788" y="457200"/>
            <a:ext cx="3932237" cy="1130198"/>
          </a:xfrm>
        </p:spPr>
        <p:txBody>
          <a:bodyPr/>
          <a:lstStyle/>
          <a:p>
            <a:pPr algn="ctr"/>
            <a:r>
              <a:rPr lang="en-GB" dirty="0">
                <a:latin typeface="Times New Roman" panose="02020603050405020304" pitchFamily="18" charset="0"/>
                <a:cs typeface="Times New Roman" panose="02020603050405020304" pitchFamily="18" charset="0"/>
              </a:rPr>
              <a:t>BOREHOLE CONSTRUCTION</a:t>
            </a:r>
            <a:endParaRPr lang="en-GH"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595F2440-40DD-82D2-85DF-5DEC25B8C4A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452043" y="3640356"/>
            <a:ext cx="4758758" cy="2456411"/>
          </a:xfrm>
          <a:prstGeom prst="rect">
            <a:avLst/>
          </a:prstGeom>
          <a:noFill/>
          <a:ln>
            <a:noFill/>
          </a:ln>
        </p:spPr>
      </p:pic>
      <p:sp>
        <p:nvSpPr>
          <p:cNvPr id="3" name="Text Placeholder 2">
            <a:extLst>
              <a:ext uri="{FF2B5EF4-FFF2-40B4-BE49-F238E27FC236}">
                <a16:creationId xmlns:a16="http://schemas.microsoft.com/office/drawing/2014/main" id="{EAD5FE72-B284-8ECB-1A40-B081568C6DF2}"/>
              </a:ext>
            </a:extLst>
          </p:cNvPr>
          <p:cNvSpPr>
            <a:spLocks noGrp="1"/>
          </p:cNvSpPr>
          <p:nvPr>
            <p:ph type="body" sz="half" idx="2"/>
          </p:nvPr>
        </p:nvSpPr>
        <p:spPr>
          <a:xfrm>
            <a:off x="839788" y="1645920"/>
            <a:ext cx="4240542" cy="4450847"/>
          </a:xfrm>
        </p:spPr>
        <p:txBody>
          <a:bodyPr>
            <a:normAutofit fontScale="92500" lnSpcReduction="10000"/>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Borehole construction was carried out after the successful completion of drilling and casing operations to convert the drilled hole into a stable and functional groundwater abstraction structure</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construction process involved the installation of casing and screens, placement of gravel pack, and well head completion to ensure structural integrity, efficient water inflow, and protection against contamination</a:t>
            </a:r>
          </a:p>
        </p:txBody>
      </p:sp>
      <p:sp>
        <p:nvSpPr>
          <p:cNvPr id="4" name="Slide Number Placeholder 3">
            <a:extLst>
              <a:ext uri="{FF2B5EF4-FFF2-40B4-BE49-F238E27FC236}">
                <a16:creationId xmlns:a16="http://schemas.microsoft.com/office/drawing/2014/main" id="{E1B35CBE-52E9-4DA7-8FC9-540ADA187FC8}"/>
              </a:ext>
            </a:extLst>
          </p:cNvPr>
          <p:cNvSpPr>
            <a:spLocks noGrp="1"/>
          </p:cNvSpPr>
          <p:nvPr>
            <p:ph type="sldNum" sz="quarter" idx="12"/>
          </p:nvPr>
        </p:nvSpPr>
        <p:spPr/>
        <p:txBody>
          <a:bodyPr/>
          <a:lstStyle/>
          <a:p>
            <a:fld id="{C52AFD5A-4082-4BE4-96FC-4C4C6076294A}" type="slidenum">
              <a:rPr lang="en-US" sz="1600" smtClean="0"/>
              <a:pPr/>
              <a:t>11</a:t>
            </a:fld>
            <a:endParaRPr lang="en-US" sz="1600" dirty="0"/>
          </a:p>
        </p:txBody>
      </p:sp>
      <p:pic>
        <p:nvPicPr>
          <p:cNvPr id="8" name="Picture 7">
            <a:extLst>
              <a:ext uri="{FF2B5EF4-FFF2-40B4-BE49-F238E27FC236}">
                <a16:creationId xmlns:a16="http://schemas.microsoft.com/office/drawing/2014/main" id="{F05BDEF9-8DA7-9A62-D074-EB36D837880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88635" y="831326"/>
            <a:ext cx="4921225" cy="2649062"/>
          </a:xfrm>
          <a:prstGeom prst="rect">
            <a:avLst/>
          </a:prstGeom>
          <a:noFill/>
          <a:ln>
            <a:noFill/>
          </a:ln>
        </p:spPr>
      </p:pic>
      <p:sp>
        <p:nvSpPr>
          <p:cNvPr id="9" name="TextBox 8">
            <a:extLst>
              <a:ext uri="{FF2B5EF4-FFF2-40B4-BE49-F238E27FC236}">
                <a16:creationId xmlns:a16="http://schemas.microsoft.com/office/drawing/2014/main" id="{21318973-9E26-966A-9D52-96725E6843CF}"/>
              </a:ext>
            </a:extLst>
          </p:cNvPr>
          <p:cNvSpPr txBox="1"/>
          <p:nvPr/>
        </p:nvSpPr>
        <p:spPr>
          <a:xfrm>
            <a:off x="10468050" y="3640356"/>
            <a:ext cx="770590"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en-GB" dirty="0"/>
              <a:t>Plains</a:t>
            </a:r>
          </a:p>
        </p:txBody>
      </p:sp>
      <p:sp>
        <p:nvSpPr>
          <p:cNvPr id="10" name="TextBox 9">
            <a:extLst>
              <a:ext uri="{FF2B5EF4-FFF2-40B4-BE49-F238E27FC236}">
                <a16:creationId xmlns:a16="http://schemas.microsoft.com/office/drawing/2014/main" id="{C609B2E4-8569-356F-6A11-2D42DC00FB8C}"/>
              </a:ext>
            </a:extLst>
          </p:cNvPr>
          <p:cNvSpPr txBox="1"/>
          <p:nvPr/>
        </p:nvSpPr>
        <p:spPr>
          <a:xfrm>
            <a:off x="10330827" y="673073"/>
            <a:ext cx="907813" cy="369332"/>
          </a:xfrm>
          <a:prstGeom prst="rect">
            <a:avLst/>
          </a:prstGeom>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GB" dirty="0"/>
              <a:t>Screens</a:t>
            </a:r>
          </a:p>
        </p:txBody>
      </p:sp>
    </p:spTree>
    <p:extLst>
      <p:ext uri="{BB962C8B-B14F-4D97-AF65-F5344CB8AC3E}">
        <p14:creationId xmlns:p14="http://schemas.microsoft.com/office/powerpoint/2010/main" val="437118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DE56-B6F0-4658-6F07-A3168E6BF35E}"/>
              </a:ext>
            </a:extLst>
          </p:cNvPr>
          <p:cNvSpPr>
            <a:spLocks noGrp="1"/>
          </p:cNvSpPr>
          <p:nvPr>
            <p:ph type="title"/>
          </p:nvPr>
        </p:nvSpPr>
        <p:spPr>
          <a:xfrm>
            <a:off x="839788" y="457200"/>
            <a:ext cx="3932237" cy="1574800"/>
          </a:xfrm>
        </p:spPr>
        <p:txBody>
          <a:bodyPr>
            <a:normAutofit/>
          </a:bodyPr>
          <a:lstStyle/>
          <a:p>
            <a:pPr algn="ctr"/>
            <a:r>
              <a:rPr lang="en-US" dirty="0">
                <a:latin typeface="Times New Roman" panose="02020603050405020304" pitchFamily="18" charset="0"/>
                <a:cs typeface="Times New Roman" panose="02020603050405020304" pitchFamily="18" charset="0"/>
              </a:rPr>
              <a:t>GRAVEL PACKING AND GROUTING</a:t>
            </a:r>
            <a:br>
              <a:rPr lang="en-GB" dirty="0"/>
            </a:br>
            <a:endParaRPr lang="en-GB" dirty="0"/>
          </a:p>
        </p:txBody>
      </p:sp>
      <p:sp>
        <p:nvSpPr>
          <p:cNvPr id="5" name="Content Placeholder 4">
            <a:extLst>
              <a:ext uri="{FF2B5EF4-FFF2-40B4-BE49-F238E27FC236}">
                <a16:creationId xmlns:a16="http://schemas.microsoft.com/office/drawing/2014/main" id="{4D72C43A-B64F-5D28-3403-50A52564859A}"/>
              </a:ext>
            </a:extLst>
          </p:cNvPr>
          <p:cNvSpPr>
            <a:spLocks noGrp="1"/>
          </p:cNvSpPr>
          <p:nvPr>
            <p:ph idx="1"/>
          </p:nvPr>
        </p:nvSpPr>
        <p:spPr>
          <a:xfrm>
            <a:off x="5183188" y="682171"/>
            <a:ext cx="6367513" cy="5338239"/>
          </a:xfrm>
        </p:spPr>
        <p:txBody>
          <a:bodyPr>
            <a:noAutofit/>
          </a:bodyPr>
          <a:lstStyle/>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 well-graded gravel pack was placed in the annular space between the borehole wall and the screened sections of the casing. </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gravel pack served as a filter to prevent fine formation materials from entering the borehole while improving groundwater flow into the screens. </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After the gravel packing, the borehole head was completed with the construction of a concrete apron sloped away from the borehole to allow proper drainage of surface water.</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BE4B51B-4C08-E258-7140-520889A536CD}"/>
              </a:ext>
            </a:extLst>
          </p:cNvPr>
          <p:cNvSpPr>
            <a:spLocks noGrp="1"/>
          </p:cNvSpPr>
          <p:nvPr>
            <p:ph type="sldNum" sz="quarter" idx="12"/>
          </p:nvPr>
        </p:nvSpPr>
        <p:spPr/>
        <p:txBody>
          <a:bodyPr/>
          <a:lstStyle/>
          <a:p>
            <a:fld id="{C52AFD5A-4082-4BE4-96FC-4C4C6076294A}" type="slidenum">
              <a:rPr lang="en-US" smtClean="0"/>
              <a:pPr/>
              <a:t>12</a:t>
            </a:fld>
            <a:endParaRPr lang="en-US"/>
          </a:p>
        </p:txBody>
      </p:sp>
      <p:pic>
        <p:nvPicPr>
          <p:cNvPr id="9" name="Picture 8">
            <a:extLst>
              <a:ext uri="{FF2B5EF4-FFF2-40B4-BE49-F238E27FC236}">
                <a16:creationId xmlns:a16="http://schemas.microsoft.com/office/drawing/2014/main" id="{770A7499-0DC1-A566-D5C2-B58593365E26}"/>
              </a:ext>
            </a:extLst>
          </p:cNvPr>
          <p:cNvPicPr>
            <a:picLocks noChangeAspect="1"/>
          </p:cNvPicPr>
          <p:nvPr/>
        </p:nvPicPr>
        <p:blipFill>
          <a:blip r:embed="rId2"/>
          <a:stretch>
            <a:fillRect/>
          </a:stretch>
        </p:blipFill>
        <p:spPr>
          <a:xfrm>
            <a:off x="1057501" y="1611085"/>
            <a:ext cx="3496809" cy="4510925"/>
          </a:xfrm>
          <a:prstGeom prst="rect">
            <a:avLst/>
          </a:prstGeom>
        </p:spPr>
      </p:pic>
    </p:spTree>
    <p:extLst>
      <p:ext uri="{BB962C8B-B14F-4D97-AF65-F5344CB8AC3E}">
        <p14:creationId xmlns:p14="http://schemas.microsoft.com/office/powerpoint/2010/main" val="3266923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A1AE2-B673-BF2F-9464-08501E7CB13A}"/>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BOREHOLE DEVELOPMENT</a:t>
            </a:r>
            <a:br>
              <a:rPr lang="en-GB" dirty="0"/>
            </a:br>
            <a:endParaRPr lang="en-GB" dirty="0"/>
          </a:p>
        </p:txBody>
      </p:sp>
      <p:sp>
        <p:nvSpPr>
          <p:cNvPr id="3" name="Content Placeholder 2">
            <a:extLst>
              <a:ext uri="{FF2B5EF4-FFF2-40B4-BE49-F238E27FC236}">
                <a16:creationId xmlns:a16="http://schemas.microsoft.com/office/drawing/2014/main" id="{9057D3F3-5383-698F-FB8E-9641565D99B5}"/>
              </a:ext>
            </a:extLst>
          </p:cNvPr>
          <p:cNvSpPr>
            <a:spLocks noGrp="1"/>
          </p:cNvSpPr>
          <p:nvPr>
            <p:ph idx="1"/>
          </p:nvPr>
        </p:nvSpPr>
        <p:spPr>
          <a:xfrm>
            <a:off x="4630522" y="989013"/>
            <a:ext cx="6724866" cy="5049685"/>
          </a:xfrm>
        </p:spPr>
        <p:txBody>
          <a:bodyPr>
            <a:noAutofit/>
          </a:bodyPr>
          <a:lstStyle/>
          <a:p>
            <a:pPr>
              <a:buFont typeface="Wingdings" panose="05000000000000000000" pitchFamily="2" charset="2"/>
              <a:buChar char="Ø"/>
            </a:pPr>
            <a:r>
              <a:rPr lang="en-US" sz="2400" b="1" dirty="0"/>
              <a:t> Air Lifting (or Pumping)</a:t>
            </a:r>
          </a:p>
          <a:p>
            <a:pPr>
              <a:buFont typeface="Arial" panose="020B0604020202020204" pitchFamily="34" charset="0"/>
              <a:buChar char="•"/>
            </a:pPr>
            <a:r>
              <a:rPr lang="en-US" sz="2400" dirty="0"/>
              <a:t>Use compressed air or a pump to blow/lift dirty water out.</a:t>
            </a:r>
          </a:p>
          <a:p>
            <a:pPr>
              <a:buFont typeface="Arial" panose="020B0604020202020204" pitchFamily="34" charset="0"/>
              <a:buChar char="•"/>
            </a:pPr>
            <a:r>
              <a:rPr lang="en-US" sz="2400" dirty="0"/>
              <a:t>Continue until the water becomes clear.</a:t>
            </a:r>
            <a:endParaRPr lang="en-US" sz="2400" b="1" dirty="0"/>
          </a:p>
          <a:p>
            <a:pPr>
              <a:buFont typeface="Arial" panose="020B0604020202020204" pitchFamily="34" charset="0"/>
              <a:buChar char="•"/>
            </a:pPr>
            <a:r>
              <a:rPr lang="en-US" sz="2400" dirty="0"/>
              <a:t>Flush out drilling mud, cuttings, and fine particles from the borehole.</a:t>
            </a:r>
          </a:p>
          <a:p>
            <a:pPr>
              <a:buFont typeface="Arial" panose="020B0604020202020204" pitchFamily="34" charset="0"/>
              <a:buChar char="•"/>
            </a:pPr>
            <a:r>
              <a:rPr lang="en-US" sz="2400" dirty="0"/>
              <a:t>This helps open the aquifer around the screen.</a:t>
            </a:r>
          </a:p>
          <a:p>
            <a:pPr>
              <a:buFont typeface="Arial" panose="020B0604020202020204" pitchFamily="34" charset="0"/>
              <a:buChar char="•"/>
            </a:pPr>
            <a:r>
              <a:rPr lang="en-US" sz="2400" dirty="0"/>
              <a:t>Move water up and down in the borehole using a surge block or plunger.</a:t>
            </a:r>
          </a:p>
          <a:p>
            <a:pPr>
              <a:buFont typeface="Arial" panose="020B0604020202020204" pitchFamily="34" charset="0"/>
              <a:buChar char="•"/>
            </a:pPr>
            <a:r>
              <a:rPr lang="en-US" sz="2400" dirty="0"/>
              <a:t>This loosens fine materials around the screen.</a:t>
            </a:r>
          </a:p>
          <a:p>
            <a:pPr marL="0" indent="0">
              <a:buNone/>
            </a:pPr>
            <a:endParaRPr lang="en-GB" sz="1600" dirty="0"/>
          </a:p>
        </p:txBody>
      </p:sp>
      <p:sp>
        <p:nvSpPr>
          <p:cNvPr id="4" name="Slide Number Placeholder 3">
            <a:extLst>
              <a:ext uri="{FF2B5EF4-FFF2-40B4-BE49-F238E27FC236}">
                <a16:creationId xmlns:a16="http://schemas.microsoft.com/office/drawing/2014/main" id="{705B728C-E43C-6A0C-DC02-A6DD89DB3D34}"/>
              </a:ext>
            </a:extLst>
          </p:cNvPr>
          <p:cNvSpPr>
            <a:spLocks noGrp="1"/>
          </p:cNvSpPr>
          <p:nvPr>
            <p:ph type="sldNum" sz="quarter" idx="12"/>
          </p:nvPr>
        </p:nvSpPr>
        <p:spPr/>
        <p:txBody>
          <a:bodyPr/>
          <a:lstStyle/>
          <a:p>
            <a:fld id="{C52AFD5A-4082-4BE4-96FC-4C4C6076294A}" type="slidenum">
              <a:rPr lang="en-US" smtClean="0"/>
              <a:pPr/>
              <a:t>13</a:t>
            </a:fld>
            <a:endParaRPr lang="en-US"/>
          </a:p>
        </p:txBody>
      </p:sp>
      <p:pic>
        <p:nvPicPr>
          <p:cNvPr id="7" name="Picture 6">
            <a:extLst>
              <a:ext uri="{FF2B5EF4-FFF2-40B4-BE49-F238E27FC236}">
                <a16:creationId xmlns:a16="http://schemas.microsoft.com/office/drawing/2014/main" id="{2CB634E5-EA02-57E6-8ECE-764D4F055B88}"/>
              </a:ext>
            </a:extLst>
          </p:cNvPr>
          <p:cNvPicPr>
            <a:picLocks noChangeAspect="1"/>
          </p:cNvPicPr>
          <p:nvPr/>
        </p:nvPicPr>
        <p:blipFill>
          <a:blip r:embed="rId2"/>
          <a:stretch>
            <a:fillRect/>
          </a:stretch>
        </p:blipFill>
        <p:spPr>
          <a:xfrm>
            <a:off x="836612" y="1683657"/>
            <a:ext cx="3793910" cy="4185330"/>
          </a:xfrm>
          <a:prstGeom prst="rect">
            <a:avLst/>
          </a:prstGeom>
        </p:spPr>
      </p:pic>
    </p:spTree>
    <p:extLst>
      <p:ext uri="{BB962C8B-B14F-4D97-AF65-F5344CB8AC3E}">
        <p14:creationId xmlns:p14="http://schemas.microsoft.com/office/powerpoint/2010/main" val="3869590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CA51D-C750-11BC-D167-25411C716AF3}"/>
              </a:ext>
            </a:extLst>
          </p:cNvPr>
          <p:cNvSpPr>
            <a:spLocks noGrp="1"/>
          </p:cNvSpPr>
          <p:nvPr>
            <p:ph type="title"/>
          </p:nvPr>
        </p:nvSpPr>
        <p:spPr/>
        <p:txBody>
          <a:bodyPr/>
          <a:lstStyle/>
          <a:p>
            <a:pPr algn="ctr"/>
            <a:r>
              <a:rPr lang="en-GB" dirty="0">
                <a:latin typeface="Times New Roman" panose="02020603050405020304" pitchFamily="18" charset="0"/>
                <a:cs typeface="Times New Roman" panose="02020603050405020304" pitchFamily="18" charset="0"/>
              </a:rPr>
              <a:t>PUMP INSTALLATION</a:t>
            </a:r>
          </a:p>
        </p:txBody>
      </p:sp>
      <p:sp>
        <p:nvSpPr>
          <p:cNvPr id="4" name="Slide Number Placeholder 3">
            <a:extLst>
              <a:ext uri="{FF2B5EF4-FFF2-40B4-BE49-F238E27FC236}">
                <a16:creationId xmlns:a16="http://schemas.microsoft.com/office/drawing/2014/main" id="{0DA1E930-7E41-0486-FB3A-D7E5E7CF0A3F}"/>
              </a:ext>
            </a:extLst>
          </p:cNvPr>
          <p:cNvSpPr>
            <a:spLocks noGrp="1"/>
          </p:cNvSpPr>
          <p:nvPr>
            <p:ph type="sldNum" sz="quarter" idx="12"/>
          </p:nvPr>
        </p:nvSpPr>
        <p:spPr/>
        <p:txBody>
          <a:bodyPr/>
          <a:lstStyle/>
          <a:p>
            <a:fld id="{C52AFD5A-4082-4BE4-96FC-4C4C6076294A}" type="slidenum">
              <a:rPr lang="en-US" smtClean="0"/>
              <a:pPr/>
              <a:t>14</a:t>
            </a:fld>
            <a:endParaRPr lang="en-US"/>
          </a:p>
        </p:txBody>
      </p:sp>
      <p:pic>
        <p:nvPicPr>
          <p:cNvPr id="5" name="Content Placeholder 4">
            <a:extLst>
              <a:ext uri="{FF2B5EF4-FFF2-40B4-BE49-F238E27FC236}">
                <a16:creationId xmlns:a16="http://schemas.microsoft.com/office/drawing/2014/main" id="{2C79C4EB-8A64-A974-DB40-892402203B08}"/>
              </a:ext>
            </a:extLst>
          </p:cNvPr>
          <p:cNvPicPr>
            <a:picLocks noGrp="1"/>
          </p:cNvPicPr>
          <p:nvPr>
            <p:ph idx="1"/>
          </p:nvPr>
        </p:nvPicPr>
        <p:blipFill>
          <a:blip r:embed="rId2"/>
          <a:stretch>
            <a:fillRect/>
          </a:stretch>
        </p:blipFill>
        <p:spPr>
          <a:xfrm>
            <a:off x="1155905" y="1934487"/>
            <a:ext cx="2822972" cy="3737147"/>
          </a:xfrm>
          <a:prstGeom prst="rect">
            <a:avLst/>
          </a:prstGeom>
        </p:spPr>
      </p:pic>
      <p:sp>
        <p:nvSpPr>
          <p:cNvPr id="6" name="TextBox 5">
            <a:extLst>
              <a:ext uri="{FF2B5EF4-FFF2-40B4-BE49-F238E27FC236}">
                <a16:creationId xmlns:a16="http://schemas.microsoft.com/office/drawing/2014/main" id="{F647C2F4-6CD9-1148-1568-E73D1EB15D9C}"/>
              </a:ext>
            </a:extLst>
          </p:cNvPr>
          <p:cNvSpPr txBox="1"/>
          <p:nvPr/>
        </p:nvSpPr>
        <p:spPr>
          <a:xfrm>
            <a:off x="4253039" y="1934487"/>
            <a:ext cx="6783055" cy="4154984"/>
          </a:xfrm>
          <a:prstGeom prst="rect">
            <a:avLst/>
          </a:prstGeom>
          <a:noFill/>
        </p:spPr>
        <p:txBody>
          <a:bodyPr wrap="square" rtlCol="0">
            <a:spAutoFit/>
          </a:bodyPr>
          <a:lstStyle/>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Installed a stainless steel submersible pump based on hydraulic data and recharge rate</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Pump was sized according to the sustainable yield of the aquifer to prevent over-pumping and structural damage</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Connected with high-pressure pipes and submerged at a calculated depth to ensure continuous operation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Installed wellhead cap to prevent contamination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Integrated control panel to regulate operation and protect against electrical surges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1130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BC99D-33C1-594F-E26D-8E4B5EEE3165}"/>
              </a:ext>
            </a:extLst>
          </p:cNvPr>
          <p:cNvSpPr>
            <a:spLocks noGrp="1"/>
          </p:cNvSpPr>
          <p:nvPr>
            <p:ph type="title"/>
          </p:nvPr>
        </p:nvSpPr>
        <p:spPr/>
        <p:txBody>
          <a:bodyPr/>
          <a:lstStyle/>
          <a:p>
            <a:pPr algn="ctr"/>
            <a:r>
              <a:rPr lang="en-GB" dirty="0">
                <a:latin typeface="Times New Roman" panose="02020603050405020304" pitchFamily="18" charset="0"/>
                <a:cs typeface="Times New Roman" panose="02020603050405020304" pitchFamily="18" charset="0"/>
              </a:rPr>
              <a:t>BOREHOLE CAPPING</a:t>
            </a:r>
          </a:p>
        </p:txBody>
      </p:sp>
      <p:sp>
        <p:nvSpPr>
          <p:cNvPr id="4" name="Slide Number Placeholder 3">
            <a:extLst>
              <a:ext uri="{FF2B5EF4-FFF2-40B4-BE49-F238E27FC236}">
                <a16:creationId xmlns:a16="http://schemas.microsoft.com/office/drawing/2014/main" id="{CD6239D2-5AF8-DF66-F1DD-DD80EB2DF219}"/>
              </a:ext>
            </a:extLst>
          </p:cNvPr>
          <p:cNvSpPr>
            <a:spLocks noGrp="1"/>
          </p:cNvSpPr>
          <p:nvPr>
            <p:ph type="sldNum" sz="quarter" idx="12"/>
          </p:nvPr>
        </p:nvSpPr>
        <p:spPr/>
        <p:txBody>
          <a:bodyPr/>
          <a:lstStyle/>
          <a:p>
            <a:fld id="{C52AFD5A-4082-4BE4-96FC-4C4C6076294A}" type="slidenum">
              <a:rPr lang="en-US" smtClean="0"/>
              <a:pPr/>
              <a:t>15</a:t>
            </a:fld>
            <a:endParaRPr lang="en-US"/>
          </a:p>
        </p:txBody>
      </p:sp>
      <p:sp>
        <p:nvSpPr>
          <p:cNvPr id="8" name="Rectangle 2">
            <a:extLst>
              <a:ext uri="{FF2B5EF4-FFF2-40B4-BE49-F238E27FC236}">
                <a16:creationId xmlns:a16="http://schemas.microsoft.com/office/drawing/2014/main" id="{F2D40278-4A7A-9224-C3BD-28EC690E8FB6}"/>
              </a:ext>
            </a:extLst>
          </p:cNvPr>
          <p:cNvSpPr>
            <a:spLocks noGrp="1" noChangeArrowheads="1"/>
          </p:cNvSpPr>
          <p:nvPr>
            <p:ph idx="1"/>
          </p:nvPr>
        </p:nvSpPr>
        <p:spPr bwMode="auto">
          <a:xfrm>
            <a:off x="1072286" y="1565156"/>
            <a:ext cx="930798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Install Well Cap</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Fix a tight-fitting sanitary well cap on the casing.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Construct Concrete Apron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concrete slab around the borehole.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slab should slope outward to drain water away.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Drainage Channel</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Construct a small channel to carry wastewater away.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Seal the Annular Space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cement grout to seal the space between casing and borehole wall.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Install Lock (if needed)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Lock the cap for security.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960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EC55F-5262-B738-8146-80D619E99115}"/>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	CONCLUSIONS </a:t>
            </a:r>
          </a:p>
        </p:txBody>
      </p:sp>
      <p:sp>
        <p:nvSpPr>
          <p:cNvPr id="3" name="Content Placeholder 2">
            <a:extLst>
              <a:ext uri="{FF2B5EF4-FFF2-40B4-BE49-F238E27FC236}">
                <a16:creationId xmlns:a16="http://schemas.microsoft.com/office/drawing/2014/main" id="{38525D55-448B-0B32-05B7-4C6F4D3CCE0C}"/>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Exposure to groundwater exploration and borehole development processes</a:t>
            </a:r>
          </a:p>
          <a:p>
            <a:pPr algn="just"/>
            <a:r>
              <a:rPr lang="en-US" sz="3200" dirty="0">
                <a:latin typeface="Times New Roman" panose="02020603050405020304" pitchFamily="18" charset="0"/>
                <a:cs typeface="Times New Roman" panose="02020603050405020304" pitchFamily="18" charset="0"/>
              </a:rPr>
              <a:t>Significance of health, safety, and environmental practices during field operations.</a:t>
            </a:r>
          </a:p>
          <a:p>
            <a:pPr algn="just"/>
            <a:r>
              <a:rPr lang="en-US" sz="3200" dirty="0">
                <a:latin typeface="Times New Roman" panose="02020603050405020304" pitchFamily="18" charset="0"/>
                <a:cs typeface="Times New Roman" panose="02020603050405020304" pitchFamily="18" charset="0"/>
              </a:rPr>
              <a:t>Improved technical competence in the use of geophysical equipment.</a:t>
            </a:r>
          </a:p>
        </p:txBody>
      </p:sp>
      <p:sp>
        <p:nvSpPr>
          <p:cNvPr id="4" name="Slide Number Placeholder 3">
            <a:extLst>
              <a:ext uri="{FF2B5EF4-FFF2-40B4-BE49-F238E27FC236}">
                <a16:creationId xmlns:a16="http://schemas.microsoft.com/office/drawing/2014/main" id="{27D90A01-EAE1-44B8-8453-7B02E330ADCC}"/>
              </a:ext>
            </a:extLst>
          </p:cNvPr>
          <p:cNvSpPr>
            <a:spLocks noGrp="1"/>
          </p:cNvSpPr>
          <p:nvPr>
            <p:ph type="sldNum" sz="quarter" idx="12"/>
          </p:nvPr>
        </p:nvSpPr>
        <p:spPr>
          <a:xfrm>
            <a:off x="8610600" y="5883951"/>
            <a:ext cx="2743200" cy="365125"/>
          </a:xfrm>
        </p:spPr>
        <p:txBody>
          <a:bodyPr/>
          <a:lstStyle/>
          <a:p>
            <a:fld id="{C52AFD5A-4082-4BE4-96FC-4C4C6076294A}" type="slidenum">
              <a:rPr lang="en-US" sz="1600" smtClean="0"/>
              <a:pPr/>
              <a:t>16</a:t>
            </a:fld>
            <a:endParaRPr lang="en-US" sz="1600" dirty="0"/>
          </a:p>
        </p:txBody>
      </p:sp>
    </p:spTree>
    <p:extLst>
      <p:ext uri="{BB962C8B-B14F-4D97-AF65-F5344CB8AC3E}">
        <p14:creationId xmlns:p14="http://schemas.microsoft.com/office/powerpoint/2010/main" val="13996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761D-7582-954B-FB82-5C8B5026201E}"/>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90DC11C0-3645-D133-0396-CDB9E24D3E95}"/>
              </a:ext>
            </a:extLst>
          </p:cNvPr>
          <p:cNvSpPr>
            <a:spLocks noGrp="1"/>
          </p:cNvSpPr>
          <p:nvPr>
            <p:ph idx="1"/>
          </p:nvPr>
        </p:nvSpPr>
        <p:spPr/>
        <p:txBody>
          <a:bodyPr/>
          <a:lstStyle/>
          <a:p>
            <a:r>
              <a:rPr lang="en-US" dirty="0"/>
              <a:t> Conduct mandatory geophysical surveys before drilling for better site selection</a:t>
            </a:r>
          </a:p>
          <a:p>
            <a:r>
              <a:rPr lang="en-US" dirty="0"/>
              <a:t> Maintain detailed and systematic logging records</a:t>
            </a:r>
          </a:p>
          <a:p>
            <a:r>
              <a:rPr lang="en-US" dirty="0"/>
              <a:t> Ensure continuous Health, Safety, and Environmental (HSE) training</a:t>
            </a:r>
          </a:p>
          <a:p>
            <a:r>
              <a:rPr lang="en-US" dirty="0"/>
              <a:t> Perform pumping test analysis after borehole completion to:</a:t>
            </a:r>
          </a:p>
          <a:p>
            <a:pPr marL="0" indent="0">
              <a:buNone/>
            </a:pPr>
            <a:r>
              <a:rPr lang="en-US" dirty="0"/>
              <a:t>Evaluate aquifer performance.</a:t>
            </a:r>
          </a:p>
          <a:p>
            <a:pPr marL="0" indent="0">
              <a:buNone/>
            </a:pPr>
            <a:r>
              <a:rPr lang="en-US" dirty="0"/>
              <a:t>Determine sustainable yield.</a:t>
            </a:r>
          </a:p>
          <a:p>
            <a:pPr marL="0" indent="0">
              <a:buNone/>
            </a:pPr>
            <a:r>
              <a:rPr lang="en-US" dirty="0"/>
              <a:t>Support groundwater management.</a:t>
            </a:r>
            <a:endParaRPr lang="en-GB" dirty="0"/>
          </a:p>
        </p:txBody>
      </p:sp>
      <p:sp>
        <p:nvSpPr>
          <p:cNvPr id="4" name="Slide Number Placeholder 3">
            <a:extLst>
              <a:ext uri="{FF2B5EF4-FFF2-40B4-BE49-F238E27FC236}">
                <a16:creationId xmlns:a16="http://schemas.microsoft.com/office/drawing/2014/main" id="{91E6B8F0-557A-2394-0B76-0A35A8FB9E85}"/>
              </a:ext>
            </a:extLst>
          </p:cNvPr>
          <p:cNvSpPr>
            <a:spLocks noGrp="1"/>
          </p:cNvSpPr>
          <p:nvPr>
            <p:ph type="sldNum" sz="quarter" idx="12"/>
          </p:nvPr>
        </p:nvSpPr>
        <p:spPr/>
        <p:txBody>
          <a:bodyPr/>
          <a:lstStyle/>
          <a:p>
            <a:fld id="{C52AFD5A-4082-4BE4-96FC-4C4C6076294A}" type="slidenum">
              <a:rPr lang="en-US" smtClean="0"/>
              <a:pPr/>
              <a:t>17</a:t>
            </a:fld>
            <a:endParaRPr lang="en-US"/>
          </a:p>
        </p:txBody>
      </p:sp>
    </p:spTree>
    <p:extLst>
      <p:ext uri="{BB962C8B-B14F-4D97-AF65-F5344CB8AC3E}">
        <p14:creationId xmlns:p14="http://schemas.microsoft.com/office/powerpoint/2010/main" val="3490766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BEAE-AE0C-A113-CB6C-C6597B310E81}"/>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572044987"/>
      </p:ext>
    </p:extLst>
  </p:cSld>
  <p:clrMapOvr>
    <a:masterClrMapping/>
  </p:clrMapOvr>
</p:sld>
</file>

<file path=ppt/theme/theme1.xml><?xml version="1.0" encoding="utf-8"?>
<a:theme xmlns:a="http://schemas.openxmlformats.org/drawingml/2006/main" name="Office Theme">
  <a:themeElements>
    <a:clrScheme name="Custom 2">
      <a:dk1>
        <a:srgbClr val="382010"/>
      </a:dk1>
      <a:lt1>
        <a:sysClr val="window" lastClr="FFFFFF"/>
      </a:lt1>
      <a:dk2>
        <a:srgbClr val="44546A"/>
      </a:dk2>
      <a:lt2>
        <a:srgbClr val="E7E6E6"/>
      </a:lt2>
      <a:accent1>
        <a:srgbClr val="4472C4"/>
      </a:accent1>
      <a:accent2>
        <a:srgbClr val="E2802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WC light.potx" id="{3AAB5C5D-F81D-415E-B016-C95F4778E009}" vid="{707FFEF3-20E4-4742-9351-C9F6B3F14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KWC light</Template>
  <TotalTime>1482</TotalTime>
  <Words>1003</Words>
  <Application>Microsoft Office PowerPoint</Application>
  <PresentationFormat>Widescreen</PresentationFormat>
  <Paragraphs>119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INDUSTRIAL TRAINING PRESENTATION  HYDROHOPE DRILLING AND  CONSTRUCTION SERVICES</vt:lpstr>
      <vt:lpstr>OUTLINE </vt:lpstr>
      <vt:lpstr>INTRODUCTION</vt:lpstr>
      <vt:lpstr>SITE ASSESSMENT AND HAZARD CLEARANCE. </vt:lpstr>
      <vt:lpstr>STEPS INVOLVED IN GROUNDWATER EXPLOITATION </vt:lpstr>
      <vt:lpstr>GEOPHYSICAL SURVEY</vt:lpstr>
      <vt:lpstr>HOW WE USED THE ADMT FOR SURVEYING</vt:lpstr>
      <vt:lpstr>Interpretation of Data From the ADMT water detector</vt:lpstr>
      <vt:lpstr>BOREHOLE DRILLING</vt:lpstr>
      <vt:lpstr>    LOGGING AND SAMPLE COLLECTION</vt:lpstr>
      <vt:lpstr>BOREHOLE CONSTRUCTION</vt:lpstr>
      <vt:lpstr>GRAVEL PACKING AND GROUTING </vt:lpstr>
      <vt:lpstr>BOREHOLE DEVELOPMENT </vt:lpstr>
      <vt:lpstr>PUMP INSTALLATION</vt:lpstr>
      <vt:lpstr>BOREHOLE CAPPING</vt:lpstr>
      <vt:lpstr> CONCLUSIONS </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Hope</dc:creator>
  <cp:lastModifiedBy>Fahim Adams</cp:lastModifiedBy>
  <cp:revision>84</cp:revision>
  <dcterms:created xsi:type="dcterms:W3CDTF">2023-07-24T13:47:17Z</dcterms:created>
  <dcterms:modified xsi:type="dcterms:W3CDTF">2026-03-31T23:00:36Z</dcterms:modified>
</cp:coreProperties>
</file>
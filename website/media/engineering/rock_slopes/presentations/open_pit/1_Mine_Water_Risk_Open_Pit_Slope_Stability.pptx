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2E96148-2031-D5B2-F328-D1BD19E1F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Mine Water Risk &amp; Open-Pit Slope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FFFFFF"/>
                </a:solidFill>
              </a:defRPr>
            </a:pPr>
            <a:r>
              <a:t>Graduate Mine Geotechnical / Hydrogeological Field Guide</a:t>
            </a:r>
          </a:p>
        </p:txBody>
      </p:sp>
      <p:pic>
        <p:nvPicPr>
          <p:cNvPr id="5" name="Picture 4" descr="hydrogeolo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508760"/>
            <a:ext cx="103327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343465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How to Use This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6503319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B"/>
                </a:solidFill>
              </a:defRPr>
            </a:pPr>
            <a:r>
              <a:rPr dirty="0">
                <a:solidFill>
                  <a:schemeClr val="accent5">
                    <a:lumMod val="75000"/>
                  </a:schemeClr>
                </a:solidFill>
              </a:rPr>
              <a:t>A workflow-oriented reference — not a substitute for site standards or competent-person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07040" cy="2269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Start with the site-specific Ground Control Management Plan (GCMP), geotechnical design criteria and water-management plan.</a:t>
            </a:r>
          </a:p>
          <a:p>
            <a:pPr>
              <a:spcAft>
                <a:spcPts val="900"/>
              </a:spcAft>
              <a:defRPr sz="17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Use this deck to understand what data to collect, what questions to ask, how to screen risk and what evidence should support a decision.</a:t>
            </a:r>
          </a:p>
          <a:p>
            <a:pPr>
              <a:spcAft>
                <a:spcPts val="900"/>
              </a:spcAft>
              <a:defRPr sz="17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Never change slope geometry, exclusion zones, pumping rates or trigger levels from this guide alone; those decisions require the mine's approved design and responsible technical authority.</a:t>
            </a:r>
          </a:p>
          <a:p>
            <a:pPr>
              <a:spcAft>
                <a:spcPts val="900"/>
              </a:spcAft>
              <a:defRPr sz="17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Keep an auditable chain from observation → interpretation → action → verification.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F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5897880"/>
            <a:ext cx="823481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AF3838"/>
                </a:solidFill>
              </a:defRPr>
            </a:pPr>
            <a:r>
              <a:rPr sz="1400" dirty="0"/>
              <a:t>FIELD RULE: IF THE GROUND OR WATER CONDITIONS DIFFER FROM THE DESIGN BASIS, STOP AND ESCALATE.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649479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What a New Graduate Should Be Able to 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63040"/>
            <a:ext cx="2606040" cy="27432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463040"/>
            <a:ext cx="64008" cy="2743200"/>
          </a:xfrm>
          <a:prstGeom prst="rect">
            <a:avLst/>
          </a:prstGeom>
          <a:solidFill>
            <a:srgbClr val="25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9105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29968"/>
            <a:ext cx="2318520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 err="1"/>
              <a:t>Recognise</a:t>
            </a:r>
            <a:r>
              <a:rPr dirty="0"/>
              <a:t> seepage, wet benches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, tension cracks, </a:t>
            </a:r>
            <a:r>
              <a:rPr dirty="0" err="1"/>
              <a:t>ravelling</a:t>
            </a:r>
            <a:r>
              <a:rPr dirty="0"/>
              <a:t>,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erosion and unusual inflows.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606040" cy="27432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0" y="1463040"/>
            <a:ext cx="64008" cy="2743200"/>
          </a:xfrm>
          <a:prstGeom prst="rect">
            <a:avLst/>
          </a:prstGeom>
          <a:solidFill>
            <a:srgbClr val="227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159105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29968"/>
            <a:ext cx="244124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Collect reliable piezometer, rainfall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, inflow and deformation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63040"/>
            <a:ext cx="2606040" cy="27432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463040"/>
            <a:ext cx="64008" cy="2743200"/>
          </a:xfrm>
          <a:prstGeom prst="rect">
            <a:avLst/>
          </a:prstGeom>
          <a:solidFill>
            <a:srgbClr val="D3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59105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Interpret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029968"/>
            <a:ext cx="2447465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Link geology + structures + water +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deformation rather than looking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at one dataset.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463040"/>
            <a:ext cx="2606040" cy="27432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235440" y="1463040"/>
            <a:ext cx="64008" cy="2743200"/>
          </a:xfrm>
          <a:prstGeom prst="rect">
            <a:avLst/>
          </a:prstGeom>
          <a:solidFill>
            <a:srgbClr val="AF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19" y="159105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Escalate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2029968"/>
            <a:ext cx="2456570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Know when a change exceeds your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authority and needs the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geotechnical lead.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764324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2638"/>
                </a:solidFill>
              </a:defRPr>
            </a:pPr>
            <a:r>
              <a:rPr sz="1400" dirty="0">
                <a:solidFill>
                  <a:schemeClr val="accent2"/>
                </a:solidFill>
              </a:rPr>
              <a:t>COMPETENCE = KNOWING WHAT YOU KNOW, WHAT YOU DO NOT KNOW, AND WHEN TO ESCALATE.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362214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1. Build the Water Story</a:t>
            </a:r>
          </a:p>
        </p:txBody>
      </p:sp>
      <p:pic>
        <p:nvPicPr>
          <p:cNvPr id="4" name="Picture 3" descr="hydroge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649224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69480" y="1463040"/>
            <a:ext cx="425196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Where is recharge entering the system?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Where are the aquifers and low-permeability units?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Which faults, joints or bedding planes provide preferential flow?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Where does water report to the pit?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How does rainfall or pumping change the response over time?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467846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2. Why Water Reduces Stability</a:t>
            </a:r>
          </a:p>
        </p:txBody>
      </p:sp>
      <p:pic>
        <p:nvPicPr>
          <p:cNvPr id="4" name="Picture 3" descr="effective_st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4008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0" y="1417320"/>
            <a:ext cx="4114800" cy="13716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0" y="1417320"/>
            <a:ext cx="64008" cy="1371600"/>
          </a:xfrm>
          <a:prstGeom prst="rect">
            <a:avLst/>
          </a:prstGeom>
          <a:solidFill>
            <a:srgbClr val="227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79" y="1545336"/>
            <a:ext cx="3794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Effective stress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984248"/>
            <a:ext cx="37947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t>σ′ = σ − u. Rising pore pressure u reduces effective stress.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971800"/>
            <a:ext cx="4114800" cy="13716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2971800"/>
            <a:ext cx="64008" cy="1371600"/>
          </a:xfrm>
          <a:prstGeom prst="rect">
            <a:avLst/>
          </a:prstGeom>
          <a:solidFill>
            <a:srgbClr val="D3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79" y="3099816"/>
            <a:ext cx="3794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Shear strength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538728"/>
            <a:ext cx="400648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 err="1"/>
              <a:t>τf</a:t>
            </a:r>
            <a:r>
              <a:rPr dirty="0"/>
              <a:t> = c′ + σ′ tan φ′. Lower σ′ generally means lower available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resistance.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526280"/>
            <a:ext cx="4114800" cy="13716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4526280"/>
            <a:ext cx="64008" cy="1371600"/>
          </a:xfrm>
          <a:prstGeom prst="rect">
            <a:avLst/>
          </a:prstGeom>
          <a:solidFill>
            <a:srgbClr val="AF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79" y="4654296"/>
            <a:ext cx="3794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Engineering meaning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5093208"/>
            <a:ext cx="375987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A hydraulic change can become a geotechnical stability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change.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738112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3. Field Signs: What Should Make You Look Twice?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342900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280160"/>
            <a:ext cx="64008" cy="1600200"/>
          </a:xfrm>
          <a:prstGeom prst="rect">
            <a:avLst/>
          </a:prstGeom>
          <a:solidFill>
            <a:srgbClr val="227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0817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Seepage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297991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New wet spots, flowing water or persistent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damp zones.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42900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64008" cy="1600200"/>
          </a:xfrm>
          <a:prstGeom prst="rect">
            <a:avLst/>
          </a:prstGeom>
          <a:solidFill>
            <a:srgbClr val="25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40817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Ponding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47088"/>
            <a:ext cx="3108960" cy="941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t>Water collecting behind berms or on benches.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280160"/>
            <a:ext cx="342900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3880" y="1280160"/>
            <a:ext cx="64008" cy="1600200"/>
          </a:xfrm>
          <a:prstGeom prst="rect">
            <a:avLst/>
          </a:prstGeom>
          <a:solidFill>
            <a:srgbClr val="D3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40817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Erosion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847088"/>
            <a:ext cx="3108960" cy="941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t>Rills, gullies or loss of crest/bench material.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91840"/>
            <a:ext cx="342900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291840"/>
            <a:ext cx="64008" cy="1600200"/>
          </a:xfrm>
          <a:prstGeom prst="rect">
            <a:avLst/>
          </a:prstGeom>
          <a:solidFill>
            <a:srgbClr val="AF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41985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Deformation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58768"/>
            <a:ext cx="297498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New cracks, bulging, </a:t>
            </a:r>
            <a:r>
              <a:rPr dirty="0" err="1"/>
              <a:t>ravelling</a:t>
            </a:r>
            <a:r>
              <a:rPr dirty="0"/>
              <a:t> or increasing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displacement.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291840"/>
            <a:ext cx="342900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3291840"/>
            <a:ext cx="64008" cy="1600200"/>
          </a:xfrm>
          <a:prstGeom prst="rect">
            <a:avLst/>
          </a:prstGeom>
          <a:solidFill>
            <a:srgbClr val="427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341985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Changed inflow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858768"/>
            <a:ext cx="301480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A sudden or sustained change after rainfall,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blasting or pumping.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291840"/>
            <a:ext cx="342900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83880" y="3291840"/>
            <a:ext cx="64008" cy="1600200"/>
          </a:xfrm>
          <a:prstGeom prst="rect">
            <a:avLst/>
          </a:prstGeom>
          <a:solidFill>
            <a:srgbClr val="1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341985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Blocked drainage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858768"/>
            <a:ext cx="300755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Sumps, drains or pumps not functioning as 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designed.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3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897880"/>
            <a:ext cx="849937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3792D"/>
                </a:solidFill>
              </a:defRPr>
            </a:pPr>
            <a:r>
              <a:rPr sz="1400" dirty="0"/>
              <a:t>DOCUMENT LOCATION, TIME, WEATHER, RECENT MINING ACTIVITY AND PHOTOGRAPHS — CONTEXT MATTERS.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545283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4. Daily / Shift Water Data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737360" cy="685800"/>
          </a:xfrm>
          <a:prstGeom prst="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1307592"/>
            <a:ext cx="1591056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62D34"/>
                </a:solidFill>
              </a:defRPr>
            </a:pPr>
            <a:r>
              <a:t>Piezometers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234440"/>
            <a:ext cx="3657600" cy="685800"/>
          </a:xfrm>
          <a:prstGeom prst="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87752" y="1307592"/>
            <a:ext cx="3337773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62D34"/>
                </a:solidFill>
              </a:defRPr>
            </a:pPr>
            <a:r>
              <a:rPr dirty="0"/>
              <a:t>ID, elevation, pressure/head, timestamp, instrument</a:t>
            </a:r>
            <a:endParaRPr lang="en-GB" dirty="0"/>
          </a:p>
          <a:p>
            <a:pPr>
              <a:defRPr sz="1150">
                <a:solidFill>
                  <a:srgbClr val="262D34"/>
                </a:solidFill>
              </a:defRPr>
            </a:pPr>
            <a:r>
              <a:rPr dirty="0"/>
              <a:t> 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34440"/>
            <a:ext cx="5166360" cy="685800"/>
          </a:xfrm>
          <a:prstGeom prst="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3952" y="1307592"/>
            <a:ext cx="5020056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62D34"/>
                </a:solidFill>
              </a:defRPr>
            </a:pPr>
            <a:r>
              <a:t>Tracks pore-pressure response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084832"/>
            <a:ext cx="17373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157984"/>
            <a:ext cx="1591056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62D34"/>
                </a:solidFill>
              </a:defRPr>
            </a:pPr>
            <a:r>
              <a:t>Pit inflow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2084832"/>
            <a:ext cx="36576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87752" y="2157984"/>
            <a:ext cx="3511296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62D34"/>
                </a:solidFill>
              </a:defRPr>
            </a:pPr>
            <a:r>
              <a:t>Location, estimated/flow-meter rate,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084832"/>
            <a:ext cx="51663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2157984"/>
            <a:ext cx="5020056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62D34"/>
                </a:solidFill>
              </a:defRPr>
            </a:pPr>
            <a:r>
              <a:t>Identifies changing hydraulic conditions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935224"/>
            <a:ext cx="1737360" cy="685800"/>
          </a:xfrm>
          <a:prstGeom prst="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3008376"/>
            <a:ext cx="1591056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62D34"/>
                </a:solidFill>
              </a:defRPr>
            </a:pPr>
            <a:r>
              <a:t>Rainfall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2935224"/>
            <a:ext cx="3657600" cy="685800"/>
          </a:xfrm>
          <a:prstGeom prst="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87752" y="3008376"/>
            <a:ext cx="3511296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62D34"/>
                </a:solidFill>
              </a:defRPr>
            </a:pPr>
            <a:r>
              <a:t>Event total + intensity if available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935224"/>
            <a:ext cx="5166360" cy="685800"/>
          </a:xfrm>
          <a:prstGeom prst="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3008376"/>
            <a:ext cx="5020056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62D34"/>
                </a:solidFill>
              </a:defRPr>
            </a:pPr>
            <a:r>
              <a:t>Provides recharge context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785616"/>
            <a:ext cx="17373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" y="3858768"/>
            <a:ext cx="1591056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62D34"/>
                </a:solidFill>
              </a:defRPr>
            </a:pPr>
            <a:r>
              <a:t>Pumping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3785616"/>
            <a:ext cx="36576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87752" y="3858768"/>
            <a:ext cx="3511296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62D34"/>
                </a:solidFill>
              </a:defRPr>
            </a:pPr>
            <a:r>
              <a:t>Well/pump ID, rate, runtime, downtime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785616"/>
            <a:ext cx="51663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2" y="3858768"/>
            <a:ext cx="5020056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62D34"/>
                </a:solidFill>
              </a:defRPr>
            </a:pPr>
            <a:r>
              <a:t>Explains drawdown/recovery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636008"/>
            <a:ext cx="1737360" cy="685800"/>
          </a:xfrm>
          <a:prstGeom prst="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" y="4709160"/>
            <a:ext cx="1591056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62D34"/>
                </a:solidFill>
              </a:defRPr>
            </a:pPr>
            <a:r>
              <a:t>Seepage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4636008"/>
            <a:ext cx="3657600" cy="685800"/>
          </a:xfrm>
          <a:prstGeom prst="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87752" y="4709160"/>
            <a:ext cx="3511296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62D34"/>
                </a:solidFill>
              </a:defRPr>
            </a:pPr>
            <a:r>
              <a:t>Bench/sector, condition, photo, trend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636008"/>
            <a:ext cx="5166360" cy="685800"/>
          </a:xfrm>
          <a:prstGeom prst="rect">
            <a:avLst/>
          </a:prstGeom>
          <a:solidFill>
            <a:srgbClr val="F2F5F7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73952" y="4709160"/>
            <a:ext cx="5020056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62D34"/>
                </a:solidFill>
              </a:defRPr>
            </a:pPr>
            <a:r>
              <a:t>Ground-truths the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683802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5. Piezometer Data: A Graduate's Basic QA/QC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5760720" cy="2977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Confirm instrument ID, collar/elevation and installation interval before using a reading.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Check timestamp, units and whether the value is pressure, head or water elevation.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Compare with previous readings: is the change physically plausible?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Flag abrupt jumps, flat-lines, impossible values or readings during known instrument work.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Cross-check against rainfall, pumping and nearby instruments.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Never silently overwrite suspicious values — preserve the raw record and document the correction/flag.</a:t>
            </a:r>
          </a:p>
        </p:txBody>
      </p:sp>
      <p:pic>
        <p:nvPicPr>
          <p:cNvPr id="5" name="Picture 4" descr="hydroge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371600"/>
            <a:ext cx="4754880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66560" y="4983480"/>
            <a:ext cx="457200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66560" y="4983480"/>
            <a:ext cx="64008" cy="914400"/>
          </a:xfrm>
          <a:prstGeom prst="rect">
            <a:avLst/>
          </a:prstGeom>
          <a:solidFill>
            <a:srgbClr val="427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0" y="5111496"/>
            <a:ext cx="4251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Good habit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5550408"/>
            <a:ext cx="4251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t>Raw data → QA/QC flag → validated dataset → interpretation.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502022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6. Dewatering &amp; 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Depressurisation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Picture 3" descr="dewate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64008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371600"/>
            <a:ext cx="420624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Surface-water diversion keeps runoff away from vulnerable slopes.</a:t>
            </a:r>
          </a:p>
          <a:p>
            <a:pPr>
              <a:spcAft>
                <a:spcPts val="900"/>
              </a:spcAft>
              <a:defRPr sz="14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Horizontal drains can reduce pore pressure within selected slope sectors.</a:t>
            </a:r>
          </a:p>
          <a:p>
            <a:pPr>
              <a:spcAft>
                <a:spcPts val="900"/>
              </a:spcAft>
              <a:defRPr sz="14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Sumps and pumping control water reporting to working areas.</a:t>
            </a:r>
          </a:p>
          <a:p>
            <a:pPr>
              <a:spcAft>
                <a:spcPts val="900"/>
              </a:spcAft>
              <a:defRPr sz="14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Deep wells can lower hydraulic head in suitable aquifers.</a:t>
            </a:r>
          </a:p>
          <a:p>
            <a:pPr>
              <a:spcAft>
                <a:spcPts val="900"/>
              </a:spcAft>
              <a:defRPr sz="14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Each measure should have a design objective and a way to verify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480279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7. The Mine-Water Control Loop</a:t>
            </a:r>
          </a:p>
        </p:txBody>
      </p:sp>
      <p:pic>
        <p:nvPicPr>
          <p:cNvPr id="4" name="Picture 3" descr="water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10972800" cy="4389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7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97880"/>
            <a:ext cx="747288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2797D"/>
                </a:solidFill>
              </a:defRPr>
            </a:pPr>
            <a:r>
              <a:rPr sz="1400" dirty="0"/>
              <a:t>DO NOT ASSUME A PUMP IS WORKING BECAUSE IT IS RUNNING — VERIFY HYDRAULIC RESPONSE.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541366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8. Slope-Stability Scenario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606040" cy="292608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64008" cy="2926080"/>
          </a:xfrm>
          <a:prstGeom prst="rect">
            <a:avLst/>
          </a:prstGeom>
          <a:solidFill>
            <a:srgbClr val="25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4533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207300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Use the approved geometry, 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geology and strength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17320"/>
            <a:ext cx="2606040" cy="292608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0" y="1417320"/>
            <a:ext cx="64008" cy="2926080"/>
          </a:xfrm>
          <a:prstGeom prst="rect">
            <a:avLst/>
          </a:prstGeom>
          <a:solidFill>
            <a:srgbClr val="227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154533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Hydraulic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84248"/>
            <a:ext cx="194476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Test credible piezometric / 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pore-pressure conditions.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17320"/>
            <a:ext cx="2606040" cy="292608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417320"/>
            <a:ext cx="64008" cy="2926080"/>
          </a:xfrm>
          <a:prstGeom prst="rect">
            <a:avLst/>
          </a:prstGeom>
          <a:solidFill>
            <a:srgbClr val="D3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54533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Sensitivity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984248"/>
            <a:ext cx="213577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Identify parameters that most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affect stability.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417320"/>
            <a:ext cx="2606040" cy="292608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235440" y="1417320"/>
            <a:ext cx="64008" cy="2926080"/>
          </a:xfrm>
          <a:prstGeom prst="rect">
            <a:avLst/>
          </a:prstGeom>
          <a:solidFill>
            <a:srgbClr val="AF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19" y="154533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1984248"/>
            <a:ext cx="226914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Compare results with approved 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design criteria.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00600"/>
            <a:ext cx="10424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The objective is not to produce a single impressive factor of safety; it is to understand sensitivity and credible adverse conditions.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604107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9. Model Inputs: Build an Evidence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42900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64008" cy="1600200"/>
          </a:xfrm>
          <a:prstGeom prst="rect">
            <a:avLst/>
          </a:prstGeom>
          <a:solidFill>
            <a:srgbClr val="25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6245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Geometry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01368"/>
            <a:ext cx="285603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Surveyed pit profile, benches, berms and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planned excavation.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2900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64008" cy="1600200"/>
          </a:xfrm>
          <a:prstGeom prst="rect">
            <a:avLst/>
          </a:prstGeom>
          <a:solidFill>
            <a:srgbClr val="227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36245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Geology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01368"/>
            <a:ext cx="299947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Lithology, alteration, faults, joints, bedding 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and weak zones.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234440"/>
            <a:ext cx="342900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3880" y="1234440"/>
            <a:ext cx="64008" cy="1600200"/>
          </a:xfrm>
          <a:prstGeom prst="rect">
            <a:avLst/>
          </a:prstGeom>
          <a:solidFill>
            <a:srgbClr val="D3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36245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Strength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801368"/>
            <a:ext cx="243175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Laboratory + field data, rock-mass 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characterization and uncertainty.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342900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246120"/>
            <a:ext cx="64008" cy="1600200"/>
          </a:xfrm>
          <a:prstGeom prst="rect">
            <a:avLst/>
          </a:prstGeom>
          <a:solidFill>
            <a:srgbClr val="427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37413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Hydrology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13048"/>
            <a:ext cx="317785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Piezometric levels, permeability, recharge and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flow pathways.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246120"/>
            <a:ext cx="342900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3246120"/>
            <a:ext cx="64008" cy="1600200"/>
          </a:xfrm>
          <a:prstGeom prst="rect">
            <a:avLst/>
          </a:prstGeom>
          <a:solidFill>
            <a:srgbClr val="AF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337413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Loading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813048"/>
            <a:ext cx="287328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Water, equipment, blasting effects where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relevant, and external loads.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246120"/>
            <a:ext cx="342900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83880" y="3246120"/>
            <a:ext cx="64008" cy="1600200"/>
          </a:xfrm>
          <a:prstGeom prst="rect">
            <a:avLst/>
          </a:prstGeom>
          <a:solidFill>
            <a:srgbClr val="1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337413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Criteria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813048"/>
            <a:ext cx="295504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Approved acceptance criteria, design basis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and consequences.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591924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10. Groundwater Model → Slope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64008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Conceptual hydrogeological model: define units, boundaries, recharge, structures and discharge.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Calibrate against observed piezometric levels, inflows and pumping response.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Use the resulting hydraulic heads / pore pressures as inputs to the geotechnical stability model.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Reconcile model predictions against monitoring data after mining or dewatering changes.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Update assumptions when observations consistently disagree with the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417320"/>
            <a:ext cx="3749039" cy="132588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543800" y="1417320"/>
            <a:ext cx="64008" cy="1325880"/>
          </a:xfrm>
          <a:prstGeom prst="rect">
            <a:avLst/>
          </a:prstGeom>
          <a:solidFill>
            <a:srgbClr val="227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26679" y="1545336"/>
            <a:ext cx="342899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Hydrogeology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84248"/>
            <a:ext cx="3428999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t>Where does water move?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971800"/>
            <a:ext cx="3749039" cy="132588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543800" y="2971800"/>
            <a:ext cx="64008" cy="1325880"/>
          </a:xfrm>
          <a:prstGeom prst="rect">
            <a:avLst/>
          </a:prstGeom>
          <a:solidFill>
            <a:srgbClr val="D3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79" y="3099816"/>
            <a:ext cx="342899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Geotechnics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538728"/>
            <a:ext cx="3428999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t>What does that water do to stability?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526280"/>
            <a:ext cx="3749039" cy="132588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4526280"/>
            <a:ext cx="64008" cy="1325880"/>
          </a:xfrm>
          <a:prstGeom prst="rect">
            <a:avLst/>
          </a:prstGeom>
          <a:solidFill>
            <a:srgbClr val="427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26679" y="4654296"/>
            <a:ext cx="342899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Reconciliation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5093208"/>
            <a:ext cx="3428999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t>Does monitoring agree?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788908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11. Illustrative Dry / Drained / Undrained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46762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8"/>
                </a:solidFill>
              </a:defRPr>
            </a:pPr>
            <a:r>
              <a:rPr dirty="0">
                <a:solidFill>
                  <a:schemeClr val="bg1"/>
                </a:solidFill>
              </a:rPr>
              <a:t>Dry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148840" y="1371600"/>
            <a:ext cx="2152954" cy="548640"/>
          </a:xfrm>
          <a:prstGeom prst="rect">
            <a:avLst/>
          </a:prstGeom>
          <a:solidFill>
            <a:srgbClr val="25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93234" y="1417320"/>
            <a:ext cx="59824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1.277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81362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8"/>
                </a:solidFill>
              </a:defRPr>
            </a:pPr>
            <a:r>
              <a:rPr dirty="0">
                <a:solidFill>
                  <a:schemeClr val="bg1"/>
                </a:solidFill>
              </a:rPr>
              <a:t>Drained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2606040"/>
            <a:ext cx="1912010" cy="548640"/>
          </a:xfrm>
          <a:prstGeom prst="rect">
            <a:avLst/>
          </a:prstGeom>
          <a:solidFill>
            <a:srgbClr val="227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52290" y="2651760"/>
            <a:ext cx="59824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1.246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102201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638"/>
                </a:solidFill>
              </a:defRPr>
            </a:pPr>
            <a:r>
              <a:rPr dirty="0">
                <a:solidFill>
                  <a:schemeClr val="bg1"/>
                </a:solidFill>
              </a:rPr>
              <a:t>Undrained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3840480"/>
            <a:ext cx="1787651" cy="548640"/>
          </a:xfrm>
          <a:prstGeom prst="rect">
            <a:avLst/>
          </a:prstGeom>
          <a:solidFill>
            <a:srgbClr val="AF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7932" y="3886200"/>
            <a:ext cx="59824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1.230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1024128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These values are illustrative case-study values from the source presentation, not universal acceptance criteria.</a:t>
            </a:r>
          </a:p>
          <a:p>
            <a:pPr>
              <a:spcAft>
                <a:spcPts val="900"/>
              </a:spcAft>
              <a:defRPr sz="12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Use the mine's approved design criteria and responsible engineer's judgement for actual decisions.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687752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12. Sensitivity: Ask 'What Controls the Result?'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18288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1828800"/>
          </a:xfrm>
          <a:prstGeom prst="rect">
            <a:avLst/>
          </a:prstGeom>
          <a:solidFill>
            <a:srgbClr val="227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53895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Hydraulic sensitivity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98575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How much does FS change if pore pressure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rises?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18288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64008" cy="1828800"/>
          </a:xfrm>
          <a:prstGeom prst="rect">
            <a:avLst/>
          </a:prstGeom>
          <a:solidFill>
            <a:srgbClr val="D3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453895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Strength sensitivity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92807"/>
            <a:ext cx="272536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Which c′, φ′ or rock-mass assumptions 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dominate?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83280" cy="18288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325880"/>
            <a:ext cx="64008" cy="1828800"/>
          </a:xfrm>
          <a:prstGeom prst="rect">
            <a:avLst/>
          </a:prstGeom>
          <a:solidFill>
            <a:srgbClr val="25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19" y="1453895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Geometry sensitivity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892807"/>
            <a:ext cx="280564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Which slope angle, bench or weak layer 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matters most?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102412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Run controlled sensitivity cases rather than changing several assumptions at once.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Document the parameter, baseline value, changed value and resulting stability metric.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Use sensitivity to </a:t>
            </a:r>
            <a:r>
              <a:rPr dirty="0" err="1">
                <a:solidFill>
                  <a:schemeClr val="bg1"/>
                </a:solidFill>
              </a:rPr>
              <a:t>prioritise</a:t>
            </a:r>
            <a:r>
              <a:rPr dirty="0">
                <a:solidFill>
                  <a:schemeClr val="bg1"/>
                </a:solidFill>
              </a:rPr>
              <a:t> field investigation and monitoring.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687989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13. Monitoring: From Instruments to Decisions</a:t>
            </a:r>
          </a:p>
        </p:txBody>
      </p:sp>
      <p:pic>
        <p:nvPicPr>
          <p:cNvPr id="4" name="Picture 3" descr="monitoring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10972800" cy="4480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97880"/>
            <a:ext cx="771185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2638"/>
                </a:solidFill>
              </a:defRPr>
            </a:pPr>
            <a:r>
              <a:rPr sz="1400" dirty="0">
                <a:solidFill>
                  <a:schemeClr val="accent5">
                    <a:lumMod val="75000"/>
                  </a:schemeClr>
                </a:solidFill>
              </a:rPr>
              <a:t>TREND + RATE + SPATIAL PATTERN + HYDRAULIC CONTEXT IS MORE USEFUL THAN A SINGLE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655698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14. TARP / Trigger-Action-Response Thinking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2606040" cy="29718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64008" cy="2971800"/>
          </a:xfrm>
          <a:prstGeom prst="rect">
            <a:avLst/>
          </a:prstGeom>
          <a:solidFill>
            <a:srgbClr val="D3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9961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38528"/>
            <a:ext cx="2193421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A predefined measurement or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observation crosses an agreed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threshold.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606040" cy="29718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0" y="1371600"/>
            <a:ext cx="64008" cy="2971800"/>
          </a:xfrm>
          <a:prstGeom prst="rect">
            <a:avLst/>
          </a:prstGeom>
          <a:solidFill>
            <a:srgbClr val="25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149961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38528"/>
            <a:ext cx="242598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Check instrument health, location,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trend and independent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371600"/>
            <a:ext cx="2606040" cy="29718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371600"/>
            <a:ext cx="64008" cy="2971800"/>
          </a:xfrm>
          <a:prstGeom prst="rect">
            <a:avLst/>
          </a:prstGeom>
          <a:solidFill>
            <a:srgbClr val="AF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49961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938528"/>
            <a:ext cx="2397195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Implement the mine-approved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response: inspect, restrict access,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drain, monitor, etc.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371600"/>
            <a:ext cx="2606040" cy="29718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64008" cy="2971800"/>
          </a:xfrm>
          <a:prstGeom prst="rect">
            <a:avLst/>
          </a:prstGeom>
          <a:solidFill>
            <a:srgbClr val="427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19" y="149961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1938528"/>
            <a:ext cx="1960088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Record the event, update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interpretation and confirm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recovery.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00600"/>
            <a:ext cx="10241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Thresholds must be site-specific and approved; this guide does not prescribe universal alarm numbers.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641906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15. What to Do After a Sudden Water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07040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1. Make the area safe and follow the mine's ground-control / emergency procedure.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2. Record time, location, rainfall, pumping status, inflow and visible deformation.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3. Confirm instrument readings and check for corroborating data.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4. Notify the responsible geotechnical / hydrogeological engineer.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5. Compare observations with the design basis and current model.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6. Track the response after controls are applied and document closure.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F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97880"/>
            <a:ext cx="463139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AF3838"/>
                </a:solidFill>
              </a:defRPr>
            </a:pPr>
            <a:r>
              <a:rPr sz="1400" dirty="0"/>
              <a:t>SAFETY AND ESCALATION COME BEFORE DATA COLLECTION.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568969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16. Daily / Weekly Technical Reporting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2606040" cy="288036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64008" cy="2880360"/>
          </a:xfrm>
          <a:prstGeom prst="rect">
            <a:avLst/>
          </a:prstGeom>
          <a:solidFill>
            <a:srgbClr val="25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9961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What changed?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38528"/>
            <a:ext cx="2133276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Water levels, inflows, rainfall, 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deformation, drainage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606040" cy="288036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0" y="1371600"/>
            <a:ext cx="64008" cy="2880360"/>
          </a:xfrm>
          <a:prstGeom prst="rect">
            <a:avLst/>
          </a:prstGeom>
          <a:solidFill>
            <a:srgbClr val="227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149961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Where?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38528"/>
            <a:ext cx="209095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Map the affected sectors and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monitoring IDs.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371600"/>
            <a:ext cx="2606040" cy="288036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371600"/>
            <a:ext cx="64008" cy="2880360"/>
          </a:xfrm>
          <a:prstGeom prst="rect">
            <a:avLst/>
          </a:prstGeom>
          <a:solidFill>
            <a:srgbClr val="D3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49961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So what?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938528"/>
            <a:ext cx="2001895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Explain whether the change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affects the current design 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assumptions.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371600"/>
            <a:ext cx="2606040" cy="288036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64008" cy="2880360"/>
          </a:xfrm>
          <a:prstGeom prst="rect">
            <a:avLst/>
          </a:prstGeom>
          <a:solidFill>
            <a:srgbClr val="AF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19" y="149961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Now what?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1938528"/>
            <a:ext cx="215757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State actions, owner, due date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and follow-up measurement.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490890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17. New-Graduate Shift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2746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□ Review previous shift's water and geotechnical observations.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□ Check critical piezometer / radar / prism trends and instrument status.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□ Review rainfall, pumping and drainage performance.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□ Walk designated slope sectors and compare field conditions with the model/design.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□ Photograph and accurately locate new seepage, cracks, </a:t>
            </a:r>
            <a:r>
              <a:rPr dirty="0" err="1">
                <a:solidFill>
                  <a:schemeClr val="bg1"/>
                </a:solidFill>
              </a:rPr>
              <a:t>ravelling</a:t>
            </a:r>
            <a:r>
              <a:rPr dirty="0">
                <a:solidFill>
                  <a:schemeClr val="bg1"/>
                </a:solidFill>
              </a:rPr>
              <a:t> or erosion.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□ Flag anomalies; do not hide or overwrite raw data.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□ Discuss material changes with the responsible engineer before making design interpretations.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□ Record what was observed, what was concluded and what action was taken.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520725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18. Common Early-Career Mistakes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42900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64008" cy="1600200"/>
          </a:xfrm>
          <a:prstGeom prst="rect">
            <a:avLst/>
          </a:prstGeom>
          <a:solidFill>
            <a:srgbClr val="AF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6245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Using unverified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01368"/>
            <a:ext cx="292137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Treating every instrument reading as true 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without QA/QC.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2900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64008" cy="1600200"/>
          </a:xfrm>
          <a:prstGeom prst="rect">
            <a:avLst/>
          </a:prstGeom>
          <a:solidFill>
            <a:srgbClr val="D3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36245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Ignoring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01368"/>
            <a:ext cx="313233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Looking only at water table elevation and not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flow along faults/joints.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234440"/>
            <a:ext cx="342900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3880" y="1234440"/>
            <a:ext cx="64008" cy="1600200"/>
          </a:xfrm>
          <a:prstGeom prst="rect">
            <a:avLst/>
          </a:prstGeom>
          <a:solidFill>
            <a:srgbClr val="25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36245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Single-factor thinking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801368"/>
            <a:ext cx="283526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Blaming instability on water alone when 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geology/geometry may dominate.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342900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246120"/>
            <a:ext cx="64008" cy="1600200"/>
          </a:xfrm>
          <a:prstGeom prst="rect">
            <a:avLst/>
          </a:prstGeom>
          <a:solidFill>
            <a:srgbClr val="227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37413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No reconciliation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13048"/>
            <a:ext cx="318805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Running a model but never checking it against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monitoring.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246120"/>
            <a:ext cx="342900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3246120"/>
            <a:ext cx="64008" cy="1600200"/>
          </a:xfrm>
          <a:prstGeom prst="rect">
            <a:avLst/>
          </a:prstGeom>
          <a:solidFill>
            <a:srgbClr val="12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337413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Overconfidence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813048"/>
            <a:ext cx="306045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Presenting a calculation as a design decision</a:t>
            </a:r>
            <a:endParaRPr lang="en-GB" dirty="0"/>
          </a:p>
          <a:p>
            <a:pPr>
              <a:defRPr sz="1250">
                <a:solidFill>
                  <a:srgbClr val="262D34"/>
                </a:solidFill>
              </a:defRPr>
            </a:pPr>
            <a:r>
              <a:rPr dirty="0"/>
              <a:t> without approval.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246120"/>
            <a:ext cx="342900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83880" y="3246120"/>
            <a:ext cx="64008" cy="1600200"/>
          </a:xfrm>
          <a:prstGeom prst="rect">
            <a:avLst/>
          </a:prstGeom>
          <a:solidFill>
            <a:srgbClr val="427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337413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Poor 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813048"/>
            <a:ext cx="3108960" cy="941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t>Losing location, timestamp, units or context.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442133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19. Practical Digital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07040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Field: tablet / GIS / survey → geotagged observations and photographs.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Database: instrument IDs + timestamps + units + QA/QC flags.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Analysis: spreadsheet / Python → trends, correlations, rainfall-response plots and alerts.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3D / geotechnical: Leapfrog / GIS / slope-stability software → geology + geometry + hydraulic conditions.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Reporting: map + trend plot + interpretation + action log.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Archive: preserve raw data, model version, assumptions and approved outputs.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97880"/>
            <a:ext cx="1020734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5B84"/>
                </a:solidFill>
              </a:defRPr>
            </a:pPr>
            <a:r>
              <a:rPr sz="1400" dirty="0"/>
              <a:t>VERSION CONTROL MATTERS: ALWAYS KNOW WHICH GEOMETRY, GROUNDWATER MODEL AND PARAMETER SET PRODUCED A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92286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20. Ghana Mining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Groundwater–surface-water interaction can be especially important where pits intersect streams, catchments or weathered/fractured zones.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Recent research at the </a:t>
            </a:r>
            <a:r>
              <a:rPr dirty="0" err="1">
                <a:solidFill>
                  <a:schemeClr val="bg1"/>
                </a:solidFill>
              </a:rPr>
              <a:t>Nsuta</a:t>
            </a:r>
            <a:r>
              <a:rPr dirty="0">
                <a:solidFill>
                  <a:schemeClr val="bg1"/>
                </a:solidFill>
              </a:rPr>
              <a:t> mine in Ghana highlights the need to consider groundwater and surface-water interaction in pit-slope assessment.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Site-specific geology remains decisive: weathering, structures, lithological contacts and permeability contrasts can control local flow and stability.</a:t>
            </a:r>
          </a:p>
          <a:p>
            <a:pPr>
              <a:spcAft>
                <a:spcPts val="900"/>
              </a:spcAft>
              <a:defRPr sz="15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Use local mine data and approved Ghanaian regulatory / company requirements rather than importing generic thresholds.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892040"/>
            <a:ext cx="10058400" cy="914400"/>
          </a:xfrm>
          <a:prstGeom prst="roundRect">
            <a:avLst/>
          </a:prstGeom>
          <a:solidFill>
            <a:srgbClr val="F2F5F7"/>
          </a:solidFill>
          <a:ln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4892040"/>
            <a:ext cx="64008" cy="914400"/>
          </a:xfrm>
          <a:prstGeom prst="rect">
            <a:avLst/>
          </a:prstGeom>
          <a:solidFill>
            <a:srgbClr val="227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5020055"/>
            <a:ext cx="9738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8"/>
                </a:solidFill>
              </a:defRPr>
            </a:pPr>
            <a:r>
              <a:t>Useful Ghana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58968"/>
            <a:ext cx="9738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62D34"/>
                </a:solidFill>
              </a:defRPr>
            </a:pPr>
            <a:r>
              <a:t>Kawere catchment / Nsuta mine research: groundwater–surface-water interaction and pit-slope stability.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592155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8"/>
                </a:solidFill>
              </a:defRPr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21. Recommended Technical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1731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Read &amp; Beale — Guidelines for Evaluating Water in Pit Slope Stability: hydrogeological investigation, pressure measurement, conceptual models, numerical modelling, </a:t>
            </a:r>
            <a:r>
              <a:rPr dirty="0" err="1">
                <a:solidFill>
                  <a:schemeClr val="bg1"/>
                </a:solidFill>
              </a:rPr>
              <a:t>depressurisation</a:t>
            </a:r>
            <a:r>
              <a:rPr dirty="0">
                <a:solidFill>
                  <a:schemeClr val="bg1"/>
                </a:solidFill>
              </a:rPr>
              <a:t> and monitoring.</a:t>
            </a:r>
          </a:p>
          <a:p>
            <a:pPr>
              <a:spcAft>
                <a:spcPts val="900"/>
              </a:spcAft>
              <a:defRPr sz="14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Australian Centre for Geomechanics — open-pit slope stability and groundwater modelling conference papers.</a:t>
            </a:r>
          </a:p>
          <a:p>
            <a:pPr>
              <a:spcAft>
                <a:spcPts val="900"/>
              </a:spcAft>
              <a:defRPr sz="14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Site Ground Control Management Plan, geotechnical design criteria, hydrogeological model and TARP — these are the primary operational references.</a:t>
            </a:r>
          </a:p>
          <a:p>
            <a:pPr>
              <a:spcAft>
                <a:spcPts val="900"/>
              </a:spcAft>
              <a:defRPr sz="1400">
                <a:solidFill>
                  <a:srgbClr val="262D34"/>
                </a:solidFill>
              </a:defRPr>
            </a:pPr>
            <a:r>
              <a:rPr dirty="0">
                <a:solidFill>
                  <a:schemeClr val="bg1"/>
                </a:solidFill>
              </a:rPr>
              <a:t>Relevant mine-water and slope-stability procedures from the employer and competent technical authority.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FFFFFF"/>
                </a:solidFill>
              </a:defRPr>
            </a:pPr>
            <a:r>
              <a:t>Think like a geotechnical professional: observe → measure → understand → model → act → verify.</a:t>
            </a:r>
          </a:p>
        </p:txBody>
      </p:sp>
      <p:pic>
        <p:nvPicPr>
          <p:cNvPr id="5" name="Picture 4" descr="monitoring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105156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Water management is not separate from slope stability — it is part of the slope-control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2823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B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1887</Words>
  <Application>Microsoft Office PowerPoint</Application>
  <PresentationFormat>Widescreen</PresentationFormat>
  <Paragraphs>277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Anthony Essel Prepeh</cp:lastModifiedBy>
  <cp:revision>3</cp:revision>
  <dcterms:created xsi:type="dcterms:W3CDTF">2013-01-27T09:14:16Z</dcterms:created>
  <dcterms:modified xsi:type="dcterms:W3CDTF">2026-08-08T11:50:47Z</dcterms:modified>
  <cp:category/>
</cp:coreProperties>
</file>
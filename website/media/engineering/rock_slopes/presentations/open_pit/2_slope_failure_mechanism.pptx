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1" r:id="rId9"/>
    <p:sldId id="263" r:id="rId10"/>
    <p:sldId id="272" r:id="rId11"/>
    <p:sldId id="264" r:id="rId12"/>
    <p:sldId id="265" r:id="rId13"/>
    <p:sldId id="267" r:id="rId14"/>
    <p:sldId id="266"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61A89E1-0327-47AD-9982-B39E6BDC8F6F}"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E04855-04CD-4AFD-939D-4F4FD4290E78}" type="slidenum">
              <a:rPr lang="en-US" smtClean="0"/>
              <a:t>‹#›</a:t>
            </a:fld>
            <a:endParaRPr lang="en-US"/>
          </a:p>
        </p:txBody>
      </p:sp>
    </p:spTree>
    <p:extLst>
      <p:ext uri="{BB962C8B-B14F-4D97-AF65-F5344CB8AC3E}">
        <p14:creationId xmlns:p14="http://schemas.microsoft.com/office/powerpoint/2010/main" val="3117056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61A89E1-0327-47AD-9982-B39E6BDC8F6F}"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E04855-04CD-4AFD-939D-4F4FD4290E78}" type="slidenum">
              <a:rPr lang="en-US" smtClean="0"/>
              <a:t>‹#›</a:t>
            </a:fld>
            <a:endParaRPr lang="en-US"/>
          </a:p>
        </p:txBody>
      </p:sp>
    </p:spTree>
    <p:extLst>
      <p:ext uri="{BB962C8B-B14F-4D97-AF65-F5344CB8AC3E}">
        <p14:creationId xmlns:p14="http://schemas.microsoft.com/office/powerpoint/2010/main" val="2517888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1A89E1-0327-47AD-9982-B39E6BDC8F6F}"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E04855-04CD-4AFD-939D-4F4FD4290E78}" type="slidenum">
              <a:rPr lang="en-US" smtClean="0"/>
              <a:t>‹#›</a:t>
            </a:fld>
            <a:endParaRPr lang="en-US"/>
          </a:p>
        </p:txBody>
      </p:sp>
    </p:spTree>
    <p:extLst>
      <p:ext uri="{BB962C8B-B14F-4D97-AF65-F5344CB8AC3E}">
        <p14:creationId xmlns:p14="http://schemas.microsoft.com/office/powerpoint/2010/main" val="1375215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61A89E1-0327-47AD-9982-B39E6BDC8F6F}"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E04855-04CD-4AFD-939D-4F4FD4290E78}" type="slidenum">
              <a:rPr lang="en-US" smtClean="0"/>
              <a:t>‹#›</a:t>
            </a:fld>
            <a:endParaRPr lang="en-US"/>
          </a:p>
        </p:txBody>
      </p:sp>
    </p:spTree>
    <p:extLst>
      <p:ext uri="{BB962C8B-B14F-4D97-AF65-F5344CB8AC3E}">
        <p14:creationId xmlns:p14="http://schemas.microsoft.com/office/powerpoint/2010/main" val="1243457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61A89E1-0327-47AD-9982-B39E6BDC8F6F}" type="datetimeFigureOut">
              <a:rPr lang="en-US" smtClean="0"/>
              <a:t>8/8/2026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DE04855-04CD-4AFD-939D-4F4FD4290E78}" type="slidenum">
              <a:rPr lang="en-US" smtClean="0"/>
              <a:t>‹#›</a:t>
            </a:fld>
            <a:endParaRPr lang="en-US"/>
          </a:p>
        </p:txBody>
      </p:sp>
    </p:spTree>
    <p:extLst>
      <p:ext uri="{BB962C8B-B14F-4D97-AF65-F5344CB8AC3E}">
        <p14:creationId xmlns:p14="http://schemas.microsoft.com/office/powerpoint/2010/main" val="2861944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61A89E1-0327-47AD-9982-B39E6BDC8F6F}" type="datetimeFigureOut">
              <a:rPr lang="en-US" smtClean="0"/>
              <a:t>8/8/2026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DE04855-04CD-4AFD-939D-4F4FD4290E78}" type="slidenum">
              <a:rPr lang="en-US" smtClean="0"/>
              <a:t>‹#›</a:t>
            </a:fld>
            <a:endParaRPr lang="en-US"/>
          </a:p>
        </p:txBody>
      </p:sp>
    </p:spTree>
    <p:extLst>
      <p:ext uri="{BB962C8B-B14F-4D97-AF65-F5344CB8AC3E}">
        <p14:creationId xmlns:p14="http://schemas.microsoft.com/office/powerpoint/2010/main" val="2552515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1A89E1-0327-47AD-9982-B39E6BDC8F6F}" type="datetimeFigureOut">
              <a:rPr lang="en-US" smtClean="0"/>
              <a:t>8/8/2026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DE04855-04CD-4AFD-939D-4F4FD4290E78}" type="slidenum">
              <a:rPr lang="en-US" smtClean="0"/>
              <a:t>‹#›</a:t>
            </a:fld>
            <a:endParaRPr lang="en-US"/>
          </a:p>
        </p:txBody>
      </p:sp>
    </p:spTree>
    <p:extLst>
      <p:ext uri="{BB962C8B-B14F-4D97-AF65-F5344CB8AC3E}">
        <p14:creationId xmlns:p14="http://schemas.microsoft.com/office/powerpoint/2010/main" val="3880131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1A89E1-0327-47AD-9982-B39E6BDC8F6F}"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E04855-04CD-4AFD-939D-4F4FD4290E78}" type="slidenum">
              <a:rPr lang="en-US" smtClean="0"/>
              <a:t>‹#›</a:t>
            </a:fld>
            <a:endParaRPr lang="en-US"/>
          </a:p>
        </p:txBody>
      </p:sp>
    </p:spTree>
    <p:extLst>
      <p:ext uri="{BB962C8B-B14F-4D97-AF65-F5344CB8AC3E}">
        <p14:creationId xmlns:p14="http://schemas.microsoft.com/office/powerpoint/2010/main" val="596931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1A89E1-0327-47AD-9982-B39E6BDC8F6F}"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E04855-04CD-4AFD-939D-4F4FD4290E78}" type="slidenum">
              <a:rPr lang="en-US" smtClean="0"/>
              <a:t>‹#›</a:t>
            </a:fld>
            <a:endParaRPr lang="en-US"/>
          </a:p>
        </p:txBody>
      </p:sp>
    </p:spTree>
    <p:extLst>
      <p:ext uri="{BB962C8B-B14F-4D97-AF65-F5344CB8AC3E}">
        <p14:creationId xmlns:p14="http://schemas.microsoft.com/office/powerpoint/2010/main" val="2884618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61A89E1-0327-47AD-9982-B39E6BDC8F6F}"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E04855-04CD-4AFD-939D-4F4FD4290E78}" type="slidenum">
              <a:rPr lang="en-US" smtClean="0"/>
              <a:t>‹#›</a:t>
            </a:fld>
            <a:endParaRPr lang="en-US"/>
          </a:p>
        </p:txBody>
      </p:sp>
    </p:spTree>
    <p:extLst>
      <p:ext uri="{BB962C8B-B14F-4D97-AF65-F5344CB8AC3E}">
        <p14:creationId xmlns:p14="http://schemas.microsoft.com/office/powerpoint/2010/main" val="929640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61A89E1-0327-47AD-9982-B39E6BDC8F6F}"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E04855-04CD-4AFD-939D-4F4FD4290E78}" type="slidenum">
              <a:rPr lang="en-US" smtClean="0"/>
              <a:t>‹#›</a:t>
            </a:fld>
            <a:endParaRPr lang="en-US"/>
          </a:p>
        </p:txBody>
      </p:sp>
    </p:spTree>
    <p:extLst>
      <p:ext uri="{BB962C8B-B14F-4D97-AF65-F5344CB8AC3E}">
        <p14:creationId xmlns:p14="http://schemas.microsoft.com/office/powerpoint/2010/main" val="1861548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1A89E1-0327-47AD-9982-B39E6BDC8F6F}" type="datetimeFigureOut">
              <a:rPr lang="en-US" smtClean="0"/>
              <a:t>8/8/2026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E04855-04CD-4AFD-939D-4F4FD4290E78}" type="slidenum">
              <a:rPr lang="en-US" smtClean="0"/>
              <a:t>‹#›</a:t>
            </a:fld>
            <a:endParaRPr lang="en-US"/>
          </a:p>
        </p:txBody>
      </p:sp>
    </p:spTree>
    <p:extLst>
      <p:ext uri="{BB962C8B-B14F-4D97-AF65-F5344CB8AC3E}">
        <p14:creationId xmlns:p14="http://schemas.microsoft.com/office/powerpoint/2010/main" val="3548591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08076" y="-115840"/>
            <a:ext cx="9144000" cy="985127"/>
          </a:xfrm>
        </p:spPr>
        <p:txBody>
          <a:bodyPr>
            <a:normAutofit/>
          </a:bodyPr>
          <a:lstStyle/>
          <a:p>
            <a:r>
              <a:rPr lang="en-US" sz="5400" b="1" dirty="0">
                <a:solidFill>
                  <a:schemeClr val="bg1"/>
                </a:solidFill>
              </a:rPr>
              <a:t>Mechanism Of Slope Failure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102" y="705514"/>
            <a:ext cx="10385947" cy="4944659"/>
          </a:xfrm>
          <a:prstGeom prst="rect">
            <a:avLst/>
          </a:prstGeom>
        </p:spPr>
      </p:pic>
      <p:sp>
        <p:nvSpPr>
          <p:cNvPr id="6" name="Subtitle 5">
            <a:extLst>
              <a:ext uri="{FF2B5EF4-FFF2-40B4-BE49-F238E27FC236}">
                <a16:creationId xmlns:a16="http://schemas.microsoft.com/office/drawing/2014/main" id="{8242B186-56BF-3D19-7405-13E6C15C5FE1}"/>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178006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2"/>
                </a:solidFill>
              </a:rPr>
              <a:t>TYPES OF FAILURE</a:t>
            </a:r>
          </a:p>
        </p:txBody>
      </p:sp>
      <p:sp>
        <p:nvSpPr>
          <p:cNvPr id="3" name="Content Placeholder 2"/>
          <p:cNvSpPr>
            <a:spLocks noGrp="1"/>
          </p:cNvSpPr>
          <p:nvPr>
            <p:ph idx="1"/>
          </p:nvPr>
        </p:nvSpPr>
        <p:spPr/>
        <p:txBody>
          <a:bodyPr/>
          <a:lstStyle/>
          <a:p>
            <a:r>
              <a:rPr lang="en-US" dirty="0">
                <a:solidFill>
                  <a:schemeClr val="bg1"/>
                </a:solidFill>
              </a:rPr>
              <a:t>PLANE FAILURE</a:t>
            </a:r>
          </a:p>
          <a:p>
            <a:r>
              <a:rPr lang="en-US" dirty="0">
                <a:solidFill>
                  <a:schemeClr val="bg1"/>
                </a:solidFill>
              </a:rPr>
              <a:t>WEDGE FAILURE</a:t>
            </a:r>
          </a:p>
          <a:p>
            <a:r>
              <a:rPr lang="en-US" dirty="0">
                <a:solidFill>
                  <a:schemeClr val="bg1"/>
                </a:solidFill>
              </a:rPr>
              <a:t>CIRCULAR FAILURE</a:t>
            </a:r>
          </a:p>
          <a:p>
            <a:r>
              <a:rPr lang="en-US" dirty="0">
                <a:solidFill>
                  <a:schemeClr val="bg1"/>
                </a:solidFill>
              </a:rPr>
              <a:t>TOPPLING FAILURE</a:t>
            </a:r>
          </a:p>
          <a:p>
            <a:pPr marL="0" indent="0">
              <a:buNone/>
            </a:pPr>
            <a:endParaRPr lang="en-US" dirty="0">
              <a:solidFill>
                <a:schemeClr val="bg1"/>
              </a:solidFill>
            </a:endParaRPr>
          </a:p>
        </p:txBody>
      </p:sp>
    </p:spTree>
    <p:extLst>
      <p:ext uri="{BB962C8B-B14F-4D97-AF65-F5344CB8AC3E}">
        <p14:creationId xmlns:p14="http://schemas.microsoft.com/office/powerpoint/2010/main" val="1398190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Times New Roman" panose="02020603050405020304" pitchFamily="18" charset="0"/>
                <a:cs typeface="Times New Roman" panose="02020603050405020304" pitchFamily="18" charset="0"/>
              </a:rPr>
              <a:t>PLANE FAILURE</a:t>
            </a:r>
          </a:p>
        </p:txBody>
      </p:sp>
      <p:pic>
        <p:nvPicPr>
          <p:cNvPr id="4" name="Content Placeholder 3"/>
          <p:cNvPicPr>
            <a:picLocks noGrp="1" noChangeAspect="1"/>
          </p:cNvPicPr>
          <p:nvPr>
            <p:ph idx="1"/>
          </p:nvPr>
        </p:nvPicPr>
        <p:blipFill>
          <a:blip r:embed="rId3"/>
          <a:stretch>
            <a:fillRect/>
          </a:stretch>
        </p:blipFill>
        <p:spPr>
          <a:xfrm>
            <a:off x="1328262" y="2356021"/>
            <a:ext cx="4321912" cy="2966606"/>
          </a:xfrm>
          <a:prstGeom prst="rect">
            <a:avLst/>
          </a:prstGeom>
        </p:spPr>
      </p:pic>
      <p:pic>
        <p:nvPicPr>
          <p:cNvPr id="5" name="Picture 4"/>
          <p:cNvPicPr>
            <a:picLocks noChangeAspect="1"/>
          </p:cNvPicPr>
          <p:nvPr/>
        </p:nvPicPr>
        <p:blipFill>
          <a:blip r:embed="rId4"/>
          <a:stretch>
            <a:fillRect/>
          </a:stretch>
        </p:blipFill>
        <p:spPr>
          <a:xfrm>
            <a:off x="6318913" y="2074461"/>
            <a:ext cx="4394580" cy="3507474"/>
          </a:xfrm>
          <a:prstGeom prst="rect">
            <a:avLst/>
          </a:prstGeom>
        </p:spPr>
      </p:pic>
    </p:spTree>
    <p:extLst>
      <p:ext uri="{BB962C8B-B14F-4D97-AF65-F5344CB8AC3E}">
        <p14:creationId xmlns:p14="http://schemas.microsoft.com/office/powerpoint/2010/main" val="4163298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92540" y="1828800"/>
            <a:ext cx="10515600" cy="5480927"/>
          </a:xfrm>
        </p:spPr>
        <p:txBody>
          <a:bodyPr>
            <a:normAutofit/>
          </a:bodyPr>
          <a:lstStyle/>
          <a:p>
            <a:r>
              <a:rPr lang="en-US" dirty="0">
                <a:solidFill>
                  <a:schemeClr val="bg1"/>
                </a:solidFill>
                <a:latin typeface="Times New Roman" panose="02020603050405020304" pitchFamily="18" charset="0"/>
                <a:cs typeface="Times New Roman" panose="02020603050405020304" pitchFamily="18" charset="0"/>
              </a:rPr>
              <a:t> The plane on which sliding occurs must strike parallel or nearly parallel (within approximately ±20◦) to the slope face.</a:t>
            </a:r>
          </a:p>
          <a:p>
            <a:r>
              <a:rPr lang="en-US" dirty="0">
                <a:solidFill>
                  <a:schemeClr val="bg1"/>
                </a:solidFill>
                <a:latin typeface="Times New Roman" panose="02020603050405020304" pitchFamily="18" charset="0"/>
                <a:cs typeface="Times New Roman" panose="02020603050405020304" pitchFamily="18" charset="0"/>
              </a:rPr>
              <a:t> The sliding plane must “daylight” in the slope face, which means that the dip of the plane must be less than the dip of the slope face, that is, </a:t>
            </a:r>
            <a:r>
              <a:rPr lang="en-US" i="1" dirty="0" err="1">
                <a:solidFill>
                  <a:schemeClr val="bg1"/>
                </a:solidFill>
                <a:latin typeface="Times New Roman" panose="02020603050405020304" pitchFamily="18" charset="0"/>
                <a:cs typeface="Times New Roman" panose="02020603050405020304" pitchFamily="18" charset="0"/>
              </a:rPr>
              <a:t>ψ</a:t>
            </a:r>
            <a:r>
              <a:rPr lang="en-US" dirty="0" err="1">
                <a:solidFill>
                  <a:schemeClr val="bg1"/>
                </a:solidFill>
                <a:latin typeface="Times New Roman" panose="02020603050405020304" pitchFamily="18" charset="0"/>
                <a:cs typeface="Times New Roman" panose="02020603050405020304" pitchFamily="18" charset="0"/>
              </a:rPr>
              <a:t>p</a:t>
            </a:r>
            <a:r>
              <a:rPr lang="en-US" dirty="0">
                <a:solidFill>
                  <a:schemeClr val="bg1"/>
                </a:solidFill>
                <a:latin typeface="Times New Roman" panose="02020603050405020304" pitchFamily="18" charset="0"/>
                <a:cs typeface="Times New Roman" panose="02020603050405020304" pitchFamily="18" charset="0"/>
              </a:rPr>
              <a:t> </a:t>
            </a:r>
            <a:r>
              <a:rPr lang="en-US" i="1" dirty="0">
                <a:solidFill>
                  <a:schemeClr val="bg1"/>
                </a:solidFill>
                <a:latin typeface="Times New Roman" panose="02020603050405020304" pitchFamily="18" charset="0"/>
                <a:cs typeface="Times New Roman" panose="02020603050405020304" pitchFamily="18" charset="0"/>
              </a:rPr>
              <a:t>&lt; </a:t>
            </a:r>
            <a:r>
              <a:rPr lang="en-US" i="1" dirty="0" err="1">
                <a:solidFill>
                  <a:schemeClr val="bg1"/>
                </a:solidFill>
                <a:latin typeface="Times New Roman" panose="02020603050405020304" pitchFamily="18" charset="0"/>
                <a:cs typeface="Times New Roman" panose="02020603050405020304" pitchFamily="18" charset="0"/>
              </a:rPr>
              <a:t>ψ</a:t>
            </a:r>
            <a:r>
              <a:rPr lang="en-US" dirty="0" err="1">
                <a:solidFill>
                  <a:schemeClr val="bg1"/>
                </a:solidFill>
                <a:latin typeface="Times New Roman" panose="02020603050405020304" pitchFamily="18" charset="0"/>
                <a:cs typeface="Times New Roman" panose="02020603050405020304" pitchFamily="18" charset="0"/>
              </a:rPr>
              <a:t>f</a:t>
            </a:r>
            <a:r>
              <a:rPr lang="en-US" dirty="0">
                <a:solidFill>
                  <a:schemeClr val="bg1"/>
                </a:solidFill>
                <a:latin typeface="Times New Roman" panose="02020603050405020304" pitchFamily="18" charset="0"/>
                <a:cs typeface="Times New Roman" panose="02020603050405020304" pitchFamily="18" charset="0"/>
              </a:rPr>
              <a:t> </a:t>
            </a:r>
          </a:p>
          <a:p>
            <a:r>
              <a:rPr lang="en-US" dirty="0">
                <a:solidFill>
                  <a:schemeClr val="bg1"/>
                </a:solidFill>
                <a:latin typeface="Times New Roman" panose="02020603050405020304" pitchFamily="18" charset="0"/>
                <a:cs typeface="Times New Roman" panose="02020603050405020304" pitchFamily="18" charset="0"/>
              </a:rPr>
              <a:t> The dip of the sliding plane must be greater than the angle of friction of this plane, that is, </a:t>
            </a:r>
            <a:r>
              <a:rPr lang="el-GR" i="1" dirty="0">
                <a:solidFill>
                  <a:schemeClr val="bg1"/>
                </a:solidFill>
                <a:latin typeface="Times New Roman" panose="02020603050405020304" pitchFamily="18" charset="0"/>
                <a:cs typeface="Times New Roman" panose="02020603050405020304" pitchFamily="18" charset="0"/>
              </a:rPr>
              <a:t>ψ</a:t>
            </a:r>
            <a:r>
              <a:rPr lang="en-US" dirty="0">
                <a:solidFill>
                  <a:schemeClr val="bg1"/>
                </a:solidFill>
                <a:latin typeface="Times New Roman" panose="02020603050405020304" pitchFamily="18" charset="0"/>
                <a:cs typeface="Times New Roman" panose="02020603050405020304" pitchFamily="18" charset="0"/>
              </a:rPr>
              <a:t>p </a:t>
            </a:r>
            <a:r>
              <a:rPr lang="en-US" i="1" dirty="0">
                <a:solidFill>
                  <a:schemeClr val="bg1"/>
                </a:solidFill>
                <a:latin typeface="Times New Roman" panose="02020603050405020304" pitchFamily="18" charset="0"/>
                <a:cs typeface="Times New Roman" panose="02020603050405020304" pitchFamily="18" charset="0"/>
              </a:rPr>
              <a:t>&gt; </a:t>
            </a:r>
            <a:r>
              <a:rPr lang="el-GR" i="1" dirty="0">
                <a:solidFill>
                  <a:schemeClr val="bg1"/>
                </a:solidFill>
                <a:latin typeface="Times New Roman" panose="02020603050405020304" pitchFamily="18" charset="0"/>
                <a:cs typeface="Times New Roman" panose="02020603050405020304" pitchFamily="18" charset="0"/>
              </a:rPr>
              <a:t>φ</a:t>
            </a:r>
            <a:r>
              <a:rPr lang="el-GR" dirty="0">
                <a:solidFill>
                  <a:schemeClr val="bg1"/>
                </a:solidFill>
                <a:latin typeface="Times New Roman" panose="02020603050405020304" pitchFamily="18" charset="0"/>
                <a:cs typeface="Times New Roman" panose="02020603050405020304" pitchFamily="18" charset="0"/>
              </a:rPr>
              <a:t>.</a:t>
            </a:r>
          </a:p>
          <a:p>
            <a:r>
              <a:rPr lang="en-US" dirty="0">
                <a:solidFill>
                  <a:schemeClr val="bg1"/>
                </a:solidFill>
                <a:latin typeface="Times New Roman" panose="02020603050405020304" pitchFamily="18" charset="0"/>
                <a:cs typeface="Times New Roman" panose="02020603050405020304" pitchFamily="18" charset="0"/>
              </a:rPr>
              <a:t> The upper end of the sliding surface either intersects the upper slope, or terminates in a tension crack.</a:t>
            </a:r>
          </a:p>
          <a:p>
            <a:r>
              <a:rPr lang="en-US" dirty="0">
                <a:solidFill>
                  <a:schemeClr val="bg1"/>
                </a:solidFill>
                <a:latin typeface="Times New Roman" panose="02020603050405020304" pitchFamily="18" charset="0"/>
                <a:cs typeface="Times New Roman" panose="02020603050405020304" pitchFamily="18" charset="0"/>
              </a:rPr>
              <a:t> Release surfaces that provide negligible resistance to sliding must be present in the rock mass to define the lateral boundaries of the slide. </a:t>
            </a:r>
          </a:p>
        </p:txBody>
      </p:sp>
      <p:graphicFrame>
        <p:nvGraphicFramePr>
          <p:cNvPr id="2" name="Table 1"/>
          <p:cNvGraphicFramePr>
            <a:graphicFrameLocks noGrp="1"/>
          </p:cNvGraphicFramePr>
          <p:nvPr>
            <p:extLst>
              <p:ext uri="{D42A27DB-BD31-4B8C-83A1-F6EECF244321}">
                <p14:modId xmlns:p14="http://schemas.microsoft.com/office/powerpoint/2010/main" val="3978804269"/>
              </p:ext>
            </p:extLst>
          </p:nvPr>
        </p:nvGraphicFramePr>
        <p:xfrm>
          <a:off x="859809" y="286603"/>
          <a:ext cx="9300191" cy="1241945"/>
        </p:xfrm>
        <a:graphic>
          <a:graphicData uri="http://schemas.openxmlformats.org/drawingml/2006/table">
            <a:tbl>
              <a:tblPr firstRow="1" bandRow="1">
                <a:tableStyleId>{5C22544A-7EE6-4342-B048-85BDC9FD1C3A}</a:tableStyleId>
              </a:tblPr>
              <a:tblGrid>
                <a:gridCol w="9300191">
                  <a:extLst>
                    <a:ext uri="{9D8B030D-6E8A-4147-A177-3AD203B41FA5}">
                      <a16:colId xmlns:a16="http://schemas.microsoft.com/office/drawing/2014/main" val="20000"/>
                    </a:ext>
                  </a:extLst>
                </a:gridCol>
              </a:tblGrid>
              <a:tr h="1241945">
                <a:tc>
                  <a:txBody>
                    <a:bodyPr/>
                    <a:lstStyle/>
                    <a:p>
                      <a:r>
                        <a:rPr lang="en-US" sz="4400" b="0" dirty="0">
                          <a:solidFill>
                            <a:schemeClr val="accent2"/>
                          </a:solidFill>
                          <a:latin typeface="Times New Roman" panose="02020603050405020304" pitchFamily="18" charset="0"/>
                          <a:cs typeface="Times New Roman" panose="02020603050405020304" pitchFamily="18" charset="0"/>
                        </a:rPr>
                        <a:t>General conditions for plane failure</a:t>
                      </a:r>
                    </a:p>
                  </a:txBody>
                  <a:tcP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994683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2"/>
                </a:solidFill>
                <a:latin typeface="Times New Roman" panose="02020603050405020304" pitchFamily="18" charset="0"/>
                <a:cs typeface="Times New Roman" panose="02020603050405020304" pitchFamily="18" charset="0"/>
              </a:rPr>
              <a:t>WEDGE FAILURE</a:t>
            </a:r>
          </a:p>
        </p:txBody>
      </p:sp>
      <p:pic>
        <p:nvPicPr>
          <p:cNvPr id="4" name="Content Placeholder 3"/>
          <p:cNvPicPr>
            <a:picLocks noGrp="1" noChangeAspect="1"/>
          </p:cNvPicPr>
          <p:nvPr>
            <p:ph idx="1"/>
          </p:nvPr>
        </p:nvPicPr>
        <p:blipFill>
          <a:blip r:embed="rId3"/>
          <a:stretch>
            <a:fillRect/>
          </a:stretch>
        </p:blipFill>
        <p:spPr>
          <a:xfrm>
            <a:off x="2224584" y="2382246"/>
            <a:ext cx="6933063" cy="3691008"/>
          </a:xfrm>
          <a:prstGeom prst="rect">
            <a:avLst/>
          </a:prstGeom>
        </p:spPr>
      </p:pic>
    </p:spTree>
    <p:extLst>
      <p:ext uri="{BB962C8B-B14F-4D97-AF65-F5344CB8AC3E}">
        <p14:creationId xmlns:p14="http://schemas.microsoft.com/office/powerpoint/2010/main" val="3777730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2">
                    <a:lumMod val="75000"/>
                  </a:schemeClr>
                </a:solidFill>
                <a:latin typeface="Times New Roman" panose="02020603050405020304" pitchFamily="18" charset="0"/>
                <a:cs typeface="Times New Roman" panose="02020603050405020304" pitchFamily="18" charset="0"/>
              </a:rPr>
              <a:t>General conditions for wedge failure</a:t>
            </a:r>
          </a:p>
        </p:txBody>
      </p:sp>
      <p:sp>
        <p:nvSpPr>
          <p:cNvPr id="3" name="Content Placeholder 2"/>
          <p:cNvSpPr>
            <a:spLocks noGrp="1"/>
          </p:cNvSpPr>
          <p:nvPr>
            <p:ph idx="1"/>
          </p:nvPr>
        </p:nvSpPr>
        <p:spPr/>
        <p:txBody>
          <a:bodyPr>
            <a:normAutofit/>
          </a:bodyPr>
          <a:lstStyle/>
          <a:p>
            <a:r>
              <a:rPr lang="en-US" dirty="0">
                <a:solidFill>
                  <a:schemeClr val="bg1"/>
                </a:solidFill>
                <a:latin typeface="Times New Roman" panose="02020603050405020304" pitchFamily="18" charset="0"/>
                <a:cs typeface="Times New Roman" panose="02020603050405020304" pitchFamily="18" charset="0"/>
              </a:rPr>
              <a:t> The dip of the line of intersection must be greater than angle of internal friction.</a:t>
            </a:r>
          </a:p>
          <a:p>
            <a:r>
              <a:rPr lang="en-US" dirty="0">
                <a:solidFill>
                  <a:schemeClr val="bg1"/>
                </a:solidFill>
                <a:latin typeface="Times New Roman" panose="02020603050405020304" pitchFamily="18" charset="0"/>
                <a:cs typeface="Times New Roman" panose="02020603050405020304" pitchFamily="18" charset="0"/>
              </a:rPr>
              <a:t> The dip of the line of intersection is smaller than dip of slope face.</a:t>
            </a:r>
          </a:p>
          <a:p>
            <a:r>
              <a:rPr lang="en-US" dirty="0">
                <a:solidFill>
                  <a:schemeClr val="bg1"/>
                </a:solidFill>
                <a:latin typeface="Times New Roman" panose="02020603050405020304" pitchFamily="18" charset="0"/>
                <a:cs typeface="Times New Roman" panose="02020603050405020304" pitchFamily="18" charset="0"/>
              </a:rPr>
              <a:t> The two sets of discontinuities must intersect each other.</a:t>
            </a:r>
          </a:p>
          <a:p>
            <a:r>
              <a:rPr lang="en-US" dirty="0">
                <a:solidFill>
                  <a:schemeClr val="bg1"/>
                </a:solidFill>
                <a:latin typeface="Times New Roman" panose="02020603050405020304" pitchFamily="18" charset="0"/>
                <a:cs typeface="Times New Roman" panose="02020603050405020304" pitchFamily="18" charset="0"/>
              </a:rPr>
              <a:t> The sliding will take place along the dip of intersection of two discontinuities if the dip of the line of intersection daylights into the slope face and less than dip of the slope face.</a:t>
            </a:r>
          </a:p>
          <a:p>
            <a:pPr marL="0" indent="0">
              <a:buNone/>
            </a:pPr>
            <a:endParaRPr lang="en-US" dirty="0">
              <a:solidFill>
                <a:schemeClr val="bg1"/>
              </a:solidFill>
            </a:endParaRPr>
          </a:p>
        </p:txBody>
      </p:sp>
    </p:spTree>
    <p:extLst>
      <p:ext uri="{BB962C8B-B14F-4D97-AF65-F5344CB8AC3E}">
        <p14:creationId xmlns:p14="http://schemas.microsoft.com/office/powerpoint/2010/main" val="3485197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2">
                    <a:lumMod val="75000"/>
                  </a:schemeClr>
                </a:solidFill>
                <a:latin typeface="Times New Roman" panose="02020603050405020304" pitchFamily="18" charset="0"/>
                <a:cs typeface="Times New Roman" panose="02020603050405020304" pitchFamily="18" charset="0"/>
              </a:rPr>
              <a:t>CIRCULAR FAILURE</a:t>
            </a:r>
          </a:p>
        </p:txBody>
      </p:sp>
      <p:sp>
        <p:nvSpPr>
          <p:cNvPr id="3" name="Content Placeholder 2"/>
          <p:cNvSpPr>
            <a:spLocks noGrp="1"/>
          </p:cNvSpPr>
          <p:nvPr>
            <p:ph idx="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Closely fractured or highly weathered rock.</a:t>
            </a:r>
          </a:p>
          <a:p>
            <a:r>
              <a:rPr lang="en-US" dirty="0">
                <a:solidFill>
                  <a:schemeClr val="bg1"/>
                </a:solidFill>
                <a:latin typeface="Times New Roman" panose="02020603050405020304" pitchFamily="18" charset="0"/>
                <a:cs typeface="Times New Roman" panose="02020603050405020304" pitchFamily="18" charset="0"/>
              </a:rPr>
              <a:t>The slide surface is free to find the line of least resistance through the slope. </a:t>
            </a:r>
          </a:p>
          <a:p>
            <a:r>
              <a:rPr lang="en-US" dirty="0">
                <a:solidFill>
                  <a:schemeClr val="bg1"/>
                </a:solidFill>
                <a:latin typeface="Times New Roman" panose="02020603050405020304" pitchFamily="18" charset="0"/>
                <a:cs typeface="Times New Roman" panose="02020603050405020304" pitchFamily="18" charset="0"/>
              </a:rPr>
              <a:t>when the individual particles in a soil or rock mass are very small compared with the size of the slope.</a:t>
            </a:r>
          </a:p>
        </p:txBody>
      </p:sp>
    </p:spTree>
    <p:extLst>
      <p:ext uri="{BB962C8B-B14F-4D97-AF65-F5344CB8AC3E}">
        <p14:creationId xmlns:p14="http://schemas.microsoft.com/office/powerpoint/2010/main" val="4233368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456597" y="1392073"/>
            <a:ext cx="6537277" cy="4080680"/>
          </a:xfrm>
          <a:prstGeom prst="rect">
            <a:avLst/>
          </a:prstGeom>
        </p:spPr>
      </p:pic>
    </p:spTree>
    <p:extLst>
      <p:ext uri="{BB962C8B-B14F-4D97-AF65-F5344CB8AC3E}">
        <p14:creationId xmlns:p14="http://schemas.microsoft.com/office/powerpoint/2010/main" val="2138692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2">
                    <a:lumMod val="75000"/>
                  </a:schemeClr>
                </a:solidFill>
                <a:latin typeface="Times New Roman" panose="02020603050405020304" pitchFamily="18" charset="0"/>
                <a:cs typeface="Times New Roman" panose="02020603050405020304" pitchFamily="18" charset="0"/>
              </a:rPr>
              <a:t>TYPES</a:t>
            </a:r>
          </a:p>
        </p:txBody>
      </p:sp>
      <p:sp>
        <p:nvSpPr>
          <p:cNvPr id="3" name="Content Placeholder 2"/>
          <p:cNvSpPr>
            <a:spLocks noGrp="1"/>
          </p:cNvSpPr>
          <p:nvPr>
            <p:ph idx="1"/>
          </p:nvPr>
        </p:nvSpPr>
        <p:spPr/>
        <p:txBody>
          <a:bodyPr>
            <a:normAutofit/>
          </a:bodyPr>
          <a:lstStyle/>
          <a:p>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Slope failure</a:t>
            </a:r>
            <a:r>
              <a:rPr lang="en-US" dirty="0">
                <a:solidFill>
                  <a:schemeClr val="bg1"/>
                </a:solidFill>
                <a:latin typeface="Times New Roman" panose="02020603050405020304" pitchFamily="18" charset="0"/>
                <a:cs typeface="Times New Roman" panose="02020603050405020304" pitchFamily="18" charset="0"/>
              </a:rPr>
              <a:t>: In this type of failure, the arc of the rupture surface meets the slope above the toe of the slope. This happens when the slope angle is very high and the soil close to the toe posses the high strength.</a:t>
            </a:r>
          </a:p>
          <a:p>
            <a:r>
              <a:rPr lang="en-US" b="1" dirty="0">
                <a:solidFill>
                  <a:schemeClr val="bg1"/>
                </a:solidFill>
                <a:latin typeface="Times New Roman" panose="02020603050405020304" pitchFamily="18" charset="0"/>
                <a:cs typeface="Times New Roman" panose="02020603050405020304" pitchFamily="18" charset="0"/>
              </a:rPr>
              <a:t> Toe failure</a:t>
            </a:r>
            <a:r>
              <a:rPr lang="en-US" dirty="0">
                <a:solidFill>
                  <a:schemeClr val="bg1"/>
                </a:solidFill>
                <a:latin typeface="Times New Roman" panose="02020603050405020304" pitchFamily="18" charset="0"/>
                <a:cs typeface="Times New Roman" panose="02020603050405020304" pitchFamily="18" charset="0"/>
              </a:rPr>
              <a:t>: In this type of failure, the arc of the rupture surface meets the slope at the toe, at medium slope angle.</a:t>
            </a:r>
          </a:p>
          <a:p>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Base failure</a:t>
            </a:r>
            <a:r>
              <a:rPr lang="en-US" dirty="0">
                <a:solidFill>
                  <a:schemeClr val="bg1"/>
                </a:solidFill>
                <a:latin typeface="Times New Roman" panose="02020603050405020304" pitchFamily="18" charset="0"/>
                <a:cs typeface="Times New Roman" panose="02020603050405020304" pitchFamily="18" charset="0"/>
              </a:rPr>
              <a:t>: In this type of failure, the arc of the failure passes below the toe and in to base of the slope. This happens when the slope angle is low and the soil below the base is softer and more plastic than the soil above the base.</a:t>
            </a:r>
          </a:p>
        </p:txBody>
      </p:sp>
    </p:spTree>
    <p:extLst>
      <p:ext uri="{BB962C8B-B14F-4D97-AF65-F5344CB8AC3E}">
        <p14:creationId xmlns:p14="http://schemas.microsoft.com/office/powerpoint/2010/main" val="2993463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505524" y="2210937"/>
            <a:ext cx="2819048" cy="2238233"/>
          </a:xfrm>
          <a:prstGeom prst="rect">
            <a:avLst/>
          </a:prstGeom>
        </p:spPr>
      </p:pic>
      <p:pic>
        <p:nvPicPr>
          <p:cNvPr id="3" name="Picture 2"/>
          <p:cNvPicPr>
            <a:picLocks noChangeAspect="1"/>
          </p:cNvPicPr>
          <p:nvPr/>
        </p:nvPicPr>
        <p:blipFill>
          <a:blip r:embed="rId3"/>
          <a:stretch>
            <a:fillRect/>
          </a:stretch>
        </p:blipFill>
        <p:spPr>
          <a:xfrm>
            <a:off x="7505524" y="272955"/>
            <a:ext cx="2952381" cy="2489377"/>
          </a:xfrm>
          <a:prstGeom prst="rect">
            <a:avLst/>
          </a:prstGeom>
        </p:spPr>
      </p:pic>
      <p:pic>
        <p:nvPicPr>
          <p:cNvPr id="4" name="Picture 3"/>
          <p:cNvPicPr>
            <a:picLocks noChangeAspect="1"/>
          </p:cNvPicPr>
          <p:nvPr/>
        </p:nvPicPr>
        <p:blipFill>
          <a:blip r:embed="rId4"/>
          <a:stretch>
            <a:fillRect/>
          </a:stretch>
        </p:blipFill>
        <p:spPr>
          <a:xfrm>
            <a:off x="7644213" y="4544705"/>
            <a:ext cx="2990476" cy="2156346"/>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590255034"/>
              </p:ext>
            </p:extLst>
          </p:nvPr>
        </p:nvGraphicFramePr>
        <p:xfrm>
          <a:off x="2674961" y="1160060"/>
          <a:ext cx="2347415" cy="4817658"/>
        </p:xfrm>
        <a:graphic>
          <a:graphicData uri="http://schemas.openxmlformats.org/drawingml/2006/table">
            <a:tbl>
              <a:tblPr firstRow="1" bandRow="1">
                <a:tableStyleId>{5C22544A-7EE6-4342-B048-85BDC9FD1C3A}</a:tableStyleId>
              </a:tblPr>
              <a:tblGrid>
                <a:gridCol w="2347415">
                  <a:extLst>
                    <a:ext uri="{9D8B030D-6E8A-4147-A177-3AD203B41FA5}">
                      <a16:colId xmlns:a16="http://schemas.microsoft.com/office/drawing/2014/main" val="20000"/>
                    </a:ext>
                  </a:extLst>
                </a:gridCol>
              </a:tblGrid>
              <a:tr h="4817658">
                <a:tc>
                  <a:txBody>
                    <a:bodyPr/>
                    <a:lstStyle/>
                    <a:p>
                      <a:r>
                        <a:rPr lang="en-US" dirty="0">
                          <a:solidFill>
                            <a:schemeClr val="tx1"/>
                          </a:solidFill>
                        </a:rPr>
                        <a:t>SLOPE FAILURE</a:t>
                      </a:r>
                    </a:p>
                    <a:p>
                      <a:endParaRPr lang="en-US" dirty="0">
                        <a:solidFill>
                          <a:schemeClr val="tx1"/>
                        </a:solidFill>
                      </a:endParaRPr>
                    </a:p>
                    <a:p>
                      <a:endParaRPr lang="en-US" dirty="0">
                        <a:solidFill>
                          <a:schemeClr val="tx1"/>
                        </a:solidFill>
                      </a:endParaRPr>
                    </a:p>
                    <a:p>
                      <a:endParaRPr lang="en-US" dirty="0">
                        <a:solidFill>
                          <a:schemeClr val="tx1"/>
                        </a:solidFill>
                      </a:endParaRPr>
                    </a:p>
                    <a:p>
                      <a:endParaRPr lang="en-US" dirty="0">
                        <a:solidFill>
                          <a:schemeClr val="tx1"/>
                        </a:solidFill>
                      </a:endParaRPr>
                    </a:p>
                    <a:p>
                      <a:endParaRPr lang="en-US" dirty="0">
                        <a:solidFill>
                          <a:schemeClr val="tx1"/>
                        </a:solidFill>
                      </a:endParaRPr>
                    </a:p>
                    <a:p>
                      <a:endParaRPr lang="en-US" dirty="0">
                        <a:solidFill>
                          <a:schemeClr val="tx1"/>
                        </a:solidFill>
                      </a:endParaRPr>
                    </a:p>
                    <a:p>
                      <a:r>
                        <a:rPr lang="en-US" dirty="0">
                          <a:solidFill>
                            <a:schemeClr val="tx1"/>
                          </a:solidFill>
                        </a:rPr>
                        <a:t>TOE</a:t>
                      </a:r>
                      <a:r>
                        <a:rPr lang="en-US" baseline="0" dirty="0">
                          <a:solidFill>
                            <a:schemeClr val="tx1"/>
                          </a:solidFill>
                        </a:rPr>
                        <a:t> FAILURE</a:t>
                      </a:r>
                    </a:p>
                    <a:p>
                      <a:endParaRPr lang="en-US" baseline="0" dirty="0">
                        <a:solidFill>
                          <a:schemeClr val="tx1"/>
                        </a:solidFill>
                      </a:endParaRPr>
                    </a:p>
                    <a:p>
                      <a:endParaRPr lang="en-US" baseline="0" dirty="0">
                        <a:solidFill>
                          <a:schemeClr val="tx1"/>
                        </a:solidFill>
                      </a:endParaRPr>
                    </a:p>
                    <a:p>
                      <a:endParaRPr lang="en-US" baseline="0" dirty="0">
                        <a:solidFill>
                          <a:schemeClr val="tx1"/>
                        </a:solidFill>
                      </a:endParaRPr>
                    </a:p>
                    <a:p>
                      <a:endParaRPr lang="en-US" baseline="0" dirty="0">
                        <a:solidFill>
                          <a:schemeClr val="tx1"/>
                        </a:solidFill>
                      </a:endParaRPr>
                    </a:p>
                    <a:p>
                      <a:endParaRPr lang="en-US" baseline="0" dirty="0">
                        <a:solidFill>
                          <a:schemeClr val="tx1"/>
                        </a:solidFill>
                      </a:endParaRPr>
                    </a:p>
                    <a:p>
                      <a:endParaRPr lang="en-US" baseline="0" dirty="0">
                        <a:solidFill>
                          <a:schemeClr val="tx1"/>
                        </a:solidFill>
                      </a:endParaRPr>
                    </a:p>
                    <a:p>
                      <a:r>
                        <a:rPr lang="en-US" baseline="0" dirty="0">
                          <a:solidFill>
                            <a:schemeClr val="tx1"/>
                          </a:solidFill>
                        </a:rPr>
                        <a:t>BASE FAILURE</a:t>
                      </a:r>
                    </a:p>
                  </a:txBody>
                  <a:tcP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254491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2">
                    <a:lumMod val="75000"/>
                  </a:schemeClr>
                </a:solidFill>
                <a:latin typeface="Times New Roman" panose="02020603050405020304" pitchFamily="18" charset="0"/>
                <a:cs typeface="Times New Roman" panose="02020603050405020304" pitchFamily="18" charset="0"/>
              </a:rPr>
              <a:t>TOPPLING FAILURE</a:t>
            </a:r>
          </a:p>
        </p:txBody>
      </p:sp>
      <p:sp>
        <p:nvSpPr>
          <p:cNvPr id="3" name="Content Placeholder 2"/>
          <p:cNvSpPr>
            <a:spLocks noGrp="1"/>
          </p:cNvSpPr>
          <p:nvPr>
            <p:ph idx="1"/>
          </p:nvPr>
        </p:nvSpPr>
        <p:spPr/>
        <p:txBody>
          <a:bodyPr/>
          <a:lstStyle/>
          <a:p>
            <a:r>
              <a:rPr lang="en-US" dirty="0">
                <a:solidFill>
                  <a:schemeClr val="bg1"/>
                </a:solidFill>
                <a:latin typeface="Times New Roman" panose="02020603050405020304" pitchFamily="18" charset="0"/>
                <a:cs typeface="Times New Roman" panose="02020603050405020304" pitchFamily="18" charset="0"/>
              </a:rPr>
              <a:t>Toppling involves rotation of columns or blocks of rock about a fixed base</a:t>
            </a:r>
            <a:r>
              <a:rPr lang="en-US" dirty="0">
                <a:solidFill>
                  <a:schemeClr val="bg1"/>
                </a:solidFill>
              </a:rPr>
              <a:t>.</a:t>
            </a:r>
          </a:p>
        </p:txBody>
      </p:sp>
      <p:pic>
        <p:nvPicPr>
          <p:cNvPr id="4" name="Picture 3"/>
          <p:cNvPicPr>
            <a:picLocks noChangeAspect="1"/>
          </p:cNvPicPr>
          <p:nvPr/>
        </p:nvPicPr>
        <p:blipFill>
          <a:blip r:embed="rId3"/>
          <a:stretch>
            <a:fillRect/>
          </a:stretch>
        </p:blipFill>
        <p:spPr>
          <a:xfrm>
            <a:off x="3205823" y="2620370"/>
            <a:ext cx="4955538" cy="3919143"/>
          </a:xfrm>
          <a:prstGeom prst="rect">
            <a:avLst/>
          </a:prstGeom>
        </p:spPr>
      </p:pic>
    </p:spTree>
    <p:extLst>
      <p:ext uri="{BB962C8B-B14F-4D97-AF65-F5344CB8AC3E}">
        <p14:creationId xmlns:p14="http://schemas.microsoft.com/office/powerpoint/2010/main" val="2657333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2">
                    <a:lumMod val="75000"/>
                  </a:schemeClr>
                </a:solidFill>
                <a:latin typeface="Times New Roman" panose="02020603050405020304" pitchFamily="18" charset="0"/>
                <a:cs typeface="Times New Roman" panose="02020603050405020304" pitchFamily="18" charset="0"/>
              </a:rPr>
              <a:t>TYPES</a:t>
            </a:r>
          </a:p>
        </p:txBody>
      </p:sp>
      <p:sp>
        <p:nvSpPr>
          <p:cNvPr id="3" name="Content Placeholder 2"/>
          <p:cNvSpPr>
            <a:spLocks noGrp="1"/>
          </p:cNvSpPr>
          <p:nvPr>
            <p:ph idx="1"/>
          </p:nvPr>
        </p:nvSpPr>
        <p:spPr/>
        <p:txBody>
          <a:bodyPr>
            <a:normAutofit fontScale="92500"/>
          </a:bodyPr>
          <a:lstStyle/>
          <a:p>
            <a:pPr marL="0" indent="0">
              <a:buNone/>
            </a:pPr>
            <a:r>
              <a:rPr lang="en-US" b="1" dirty="0">
                <a:solidFill>
                  <a:srgbClr val="00B0F0"/>
                </a:solidFill>
                <a:latin typeface="Times New Roman" panose="02020603050405020304" pitchFamily="18" charset="0"/>
                <a:cs typeface="Times New Roman" panose="02020603050405020304" pitchFamily="18" charset="0"/>
              </a:rPr>
              <a:t>BLOCK TOPPLING(a</a:t>
            </a:r>
            <a:r>
              <a:rPr lang="en-US" dirty="0">
                <a:solidFill>
                  <a:srgbClr val="00B0F0"/>
                </a:solidFill>
                <a:latin typeface="Times New Roman" panose="02020603050405020304" pitchFamily="18" charset="0"/>
                <a:cs typeface="Times New Roman" panose="02020603050405020304" pitchFamily="18" charset="0"/>
              </a:rPr>
              <a:t>)</a:t>
            </a:r>
          </a:p>
          <a:p>
            <a:pPr marL="0" indent="0">
              <a:buNone/>
            </a:pPr>
            <a:r>
              <a:rPr lang="en-US" dirty="0">
                <a:solidFill>
                  <a:schemeClr val="bg1"/>
                </a:solidFill>
                <a:latin typeface="Times New Roman" panose="02020603050405020304" pitchFamily="18" charset="0"/>
                <a:cs typeface="Times New Roman" panose="02020603050405020304" pitchFamily="18" charset="0"/>
              </a:rPr>
              <a:t>when individual columns in a strong rock are formed by a set of discontinuities dipping steeply into the face. A second set of widely spaced orthogonal joints defines the column height. </a:t>
            </a:r>
          </a:p>
          <a:p>
            <a:pPr marL="0" indent="0">
              <a:buNone/>
            </a:pPr>
            <a:endParaRPr lang="en-US" dirty="0">
              <a:solidFill>
                <a:schemeClr val="bg1"/>
              </a:solidFill>
              <a:latin typeface="Times New Roman" panose="02020603050405020304" pitchFamily="18" charset="0"/>
              <a:cs typeface="Times New Roman" panose="02020603050405020304" pitchFamily="18" charset="0"/>
            </a:endParaRPr>
          </a:p>
          <a:p>
            <a:pPr marL="0" indent="0">
              <a:buNone/>
            </a:pPr>
            <a:r>
              <a:rPr lang="en-US" b="1" dirty="0">
                <a:solidFill>
                  <a:schemeClr val="accent2"/>
                </a:solidFill>
                <a:latin typeface="Times New Roman" panose="02020603050405020304" pitchFamily="18" charset="0"/>
                <a:cs typeface="Times New Roman" panose="02020603050405020304" pitchFamily="18" charset="0"/>
              </a:rPr>
              <a:t>FLEXURAL TOPPLING(b</a:t>
            </a:r>
            <a:r>
              <a:rPr lang="en-US" dirty="0">
                <a:solidFill>
                  <a:schemeClr val="accent2"/>
                </a:solidFill>
                <a:latin typeface="Times New Roman" panose="02020603050405020304" pitchFamily="18" charset="0"/>
                <a:cs typeface="Times New Roman" panose="02020603050405020304" pitchFamily="18" charset="0"/>
              </a:rPr>
              <a:t>)</a:t>
            </a:r>
          </a:p>
          <a:p>
            <a:pPr marL="0" indent="0">
              <a:buNone/>
            </a:pPr>
            <a:r>
              <a:rPr lang="en-US" dirty="0">
                <a:solidFill>
                  <a:schemeClr val="bg1"/>
                </a:solidFill>
                <a:latin typeface="Times New Roman" panose="02020603050405020304" pitchFamily="18" charset="0"/>
                <a:cs typeface="Times New Roman" panose="02020603050405020304" pitchFamily="18" charset="0"/>
              </a:rPr>
              <a:t>continuous columns of rock, separated by well developed, steeply dipping discontinuities, breaking in flexure as they bend forward. Typical geological conditions in which this type of failure may occur are thinly bedded shale and slate in which orthogonal jointing is not well developed.</a:t>
            </a:r>
          </a:p>
        </p:txBody>
      </p:sp>
    </p:spTree>
    <p:extLst>
      <p:ext uri="{BB962C8B-B14F-4D97-AF65-F5344CB8AC3E}">
        <p14:creationId xmlns:p14="http://schemas.microsoft.com/office/powerpoint/2010/main" val="264256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565695" y="527747"/>
            <a:ext cx="3800000" cy="2800000"/>
          </a:xfrm>
          <a:prstGeom prst="rect">
            <a:avLst/>
          </a:prstGeom>
        </p:spPr>
      </p:pic>
      <p:pic>
        <p:nvPicPr>
          <p:cNvPr id="4" name="Picture 3"/>
          <p:cNvPicPr>
            <a:picLocks noChangeAspect="1"/>
          </p:cNvPicPr>
          <p:nvPr/>
        </p:nvPicPr>
        <p:blipFill>
          <a:blip r:embed="rId4"/>
          <a:stretch>
            <a:fillRect/>
          </a:stretch>
        </p:blipFill>
        <p:spPr>
          <a:xfrm>
            <a:off x="6560252" y="670558"/>
            <a:ext cx="3657143" cy="2923809"/>
          </a:xfrm>
          <a:prstGeom prst="rect">
            <a:avLst/>
          </a:prstGeom>
        </p:spPr>
      </p:pic>
      <p:pic>
        <p:nvPicPr>
          <p:cNvPr id="5" name="Picture 4"/>
          <p:cNvPicPr>
            <a:picLocks noChangeAspect="1"/>
          </p:cNvPicPr>
          <p:nvPr/>
        </p:nvPicPr>
        <p:blipFill>
          <a:blip r:embed="rId5"/>
          <a:stretch>
            <a:fillRect/>
          </a:stretch>
        </p:blipFill>
        <p:spPr>
          <a:xfrm>
            <a:off x="2922156" y="3766783"/>
            <a:ext cx="5466667" cy="3091218"/>
          </a:xfrm>
          <a:prstGeom prst="rect">
            <a:avLst/>
          </a:prstGeom>
        </p:spPr>
      </p:pic>
    </p:spTree>
    <p:extLst>
      <p:ext uri="{BB962C8B-B14F-4D97-AF65-F5344CB8AC3E}">
        <p14:creationId xmlns:p14="http://schemas.microsoft.com/office/powerpoint/2010/main" val="4241949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b="1" dirty="0">
                <a:solidFill>
                  <a:srgbClr val="00B0F0"/>
                </a:solidFill>
                <a:latin typeface="Times New Roman" panose="02020603050405020304" pitchFamily="18" charset="0"/>
                <a:cs typeface="Times New Roman" panose="02020603050405020304" pitchFamily="18" charset="0"/>
              </a:rPr>
              <a:t>BLOCK-FLEXURAL TOPPLING(c</a:t>
            </a:r>
            <a:r>
              <a:rPr lang="en-US" dirty="0">
                <a:solidFill>
                  <a:srgbClr val="00B0F0"/>
                </a:solidFill>
                <a:latin typeface="Times New Roman" panose="02020603050405020304" pitchFamily="18" charset="0"/>
                <a:cs typeface="Times New Roman" panose="02020603050405020304" pitchFamily="18" charset="0"/>
              </a:rPr>
              <a:t>)</a:t>
            </a:r>
          </a:p>
          <a:p>
            <a:pPr marL="0" indent="0">
              <a:buNone/>
            </a:pPr>
            <a:r>
              <a:rPr lang="en-US" dirty="0">
                <a:solidFill>
                  <a:schemeClr val="bg1"/>
                </a:solidFill>
                <a:latin typeface="Times New Roman" panose="02020603050405020304" pitchFamily="18" charset="0"/>
                <a:cs typeface="Times New Roman" panose="02020603050405020304" pitchFamily="18" charset="0"/>
              </a:rPr>
              <a:t>It this long columns that are divided by numerous cross joints. </a:t>
            </a:r>
          </a:p>
          <a:p>
            <a:pPr marL="0" indent="0">
              <a:buNone/>
            </a:pPr>
            <a:r>
              <a:rPr lang="en-US" dirty="0">
                <a:solidFill>
                  <a:schemeClr val="bg1"/>
                </a:solidFill>
                <a:latin typeface="Times New Roman" panose="02020603050405020304" pitchFamily="18" charset="0"/>
                <a:cs typeface="Times New Roman" panose="02020603050405020304" pitchFamily="18" charset="0"/>
              </a:rPr>
              <a:t>Toppling of columns in this case results from accumulated displacements on the cross-joints. Because of the large number of small movements in this type of topple, there are fewer tension cracks than in flexural toppling, and fewer edge-to-face contacts and voids than in block toppling.</a:t>
            </a:r>
          </a:p>
        </p:txBody>
      </p:sp>
    </p:spTree>
    <p:extLst>
      <p:ext uri="{BB962C8B-B14F-4D97-AF65-F5344CB8AC3E}">
        <p14:creationId xmlns:p14="http://schemas.microsoft.com/office/powerpoint/2010/main" val="1410362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9143" y="1170532"/>
            <a:ext cx="10515600" cy="4351338"/>
          </a:xfrm>
        </p:spPr>
        <p:style>
          <a:lnRef idx="1">
            <a:schemeClr val="accent1"/>
          </a:lnRef>
          <a:fillRef idx="3">
            <a:schemeClr val="accent1"/>
          </a:fillRef>
          <a:effectRef idx="2">
            <a:schemeClr val="accent1"/>
          </a:effectRef>
          <a:fontRef idx="minor">
            <a:schemeClr val="lt1"/>
          </a:fontRef>
        </p:style>
        <p:txBody>
          <a:bodyPr>
            <a:normAutofit/>
          </a:bodyPr>
          <a:lstStyle/>
          <a:p>
            <a:pPr marL="0" indent="0">
              <a:buNone/>
            </a:pPr>
            <a:r>
              <a:rPr lang="en-US" sz="10000" b="1" dirty="0">
                <a:latin typeface="Times New Roman" panose="02020603050405020304" pitchFamily="18" charset="0"/>
                <a:cs typeface="Times New Roman" panose="02020603050405020304" pitchFamily="18" charset="0"/>
              </a:rPr>
              <a:t>    </a:t>
            </a:r>
          </a:p>
          <a:p>
            <a:pPr marL="0" indent="0">
              <a:buNone/>
            </a:pPr>
            <a:r>
              <a:rPr lang="en-US" sz="10000" b="1" dirty="0">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2483914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346</TotalTime>
  <Words>604</Words>
  <Application>Microsoft Office PowerPoint</Application>
  <PresentationFormat>Widescreen</PresentationFormat>
  <Paragraphs>55</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Mechanism Of Slope Failure</vt:lpstr>
      <vt:lpstr>TYPES OF FAILURE</vt:lpstr>
      <vt:lpstr>PLANE FAILURE</vt:lpstr>
      <vt:lpstr>PowerPoint Presentation</vt:lpstr>
      <vt:lpstr>WEDGE FAILURE</vt:lpstr>
      <vt:lpstr>General conditions for wedge failure</vt:lpstr>
      <vt:lpstr>CIRCULAR FAILURE</vt:lpstr>
      <vt:lpstr>PowerPoint Presentation</vt:lpstr>
      <vt:lpstr>TYPES</vt:lpstr>
      <vt:lpstr>PowerPoint Presentation</vt:lpstr>
      <vt:lpstr>TOPPLING FAILURE</vt:lpstr>
      <vt:lpstr>TYPES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Mechanism Of Slope Failure</dc:title>
  <dc:creator>GAGAN GUPTA</dc:creator>
  <cp:lastModifiedBy>Anthony Essel Prepeh</cp:lastModifiedBy>
  <cp:revision>34</cp:revision>
  <dcterms:created xsi:type="dcterms:W3CDTF">2017-04-17T13:52:59Z</dcterms:created>
  <dcterms:modified xsi:type="dcterms:W3CDTF">2026-08-08T11:31:48Z</dcterms:modified>
</cp:coreProperties>
</file>
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56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058645" y="2265652"/>
            <a:ext cx="6576108" cy="10610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0F172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rgbClr val="37415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0F172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rgbClr val="37415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0F172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47909" y="2208272"/>
            <a:ext cx="3741420" cy="3794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rgbClr val="15803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0F172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8487" y="1055207"/>
            <a:ext cx="9716425" cy="6385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0F172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8487" y="2466519"/>
            <a:ext cx="4303395" cy="3133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rgbClr val="37415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38.png"/><Relationship Id="rId5" Type="http://schemas.openxmlformats.org/officeDocument/2006/relationships/image" Target="../media/image35.png"/><Relationship Id="rId10" Type="http://schemas.openxmlformats.org/officeDocument/2006/relationships/image" Target="../media/image19.png"/><Relationship Id="rId4" Type="http://schemas.openxmlformats.org/officeDocument/2006/relationships/image" Target="../media/image34.png"/><Relationship Id="rId9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8.png"/><Relationship Id="rId7" Type="http://schemas.openxmlformats.org/officeDocument/2006/relationships/hyperlink" Target="http://www.decentlab.com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mages.squarespace-cdn.com/content/v1/5c80d350ab1a62362b81c9d1/1782130453075-HXDD3FHUZUSMC439V49Y/1775128257337.jpg?format=1000w" TargetMode="External"/><Relationship Id="rId5" Type="http://schemas.openxmlformats.org/officeDocument/2006/relationships/hyperlink" Target="http://www.kkday.com/" TargetMode="External"/><Relationship Id="rId4" Type="http://schemas.openxmlformats.org/officeDocument/2006/relationships/hyperlink" Target="https://image.kkday.com/v2/image/get/c_fill%2Cq_55%2Ct_webp%2Cw_960/s1.kkday.com/product_261463/20250327080921_btb8y/jp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C9DE1CB-B941-CA92-EBF0-9EE864F1FB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693400" cy="7562849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ctrTitle"/>
          </p:nvPr>
        </p:nvSpPr>
        <p:spPr>
          <a:xfrm>
            <a:off x="2058645" y="2265652"/>
            <a:ext cx="6576108" cy="74058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700" dirty="0">
                <a:solidFill>
                  <a:schemeClr val="bg1"/>
                </a:solidFill>
              </a:rPr>
              <a:t>Tailings Dam</a:t>
            </a:r>
            <a:r>
              <a:rPr sz="4700" spc="25" dirty="0">
                <a:solidFill>
                  <a:schemeClr val="bg1"/>
                </a:solidFill>
              </a:rPr>
              <a:t> </a:t>
            </a:r>
            <a:r>
              <a:rPr sz="4700" spc="-10" dirty="0">
                <a:solidFill>
                  <a:schemeClr val="bg1"/>
                </a:solidFill>
              </a:rPr>
              <a:t>Monitoring</a:t>
            </a:r>
            <a:endParaRPr sz="4700" dirty="0">
              <a:solidFill>
                <a:schemeClr val="bg1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14566" y="3771679"/>
            <a:ext cx="4459605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cs typeface="Times New Roman"/>
              </a:rPr>
              <a:t>Ensuring</a:t>
            </a:r>
            <a:r>
              <a:rPr sz="1550" spc="8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cs typeface="Times New Roman"/>
              </a:rPr>
              <a:t>Structural</a:t>
            </a:r>
            <a:r>
              <a:rPr sz="1550" spc="8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cs typeface="Times New Roman"/>
              </a:rPr>
              <a:t>Stability</a:t>
            </a:r>
            <a:r>
              <a:rPr sz="1550" spc="9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cs typeface="Times New Roman"/>
              </a:rPr>
              <a:t>and</a:t>
            </a:r>
            <a:r>
              <a:rPr sz="1550" spc="8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cs typeface="Times New Roman"/>
              </a:rPr>
              <a:t>Environmental</a:t>
            </a:r>
            <a:r>
              <a:rPr sz="1550" spc="9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cs typeface="Times New Roman"/>
              </a:rPr>
              <a:t>Safety</a:t>
            </a:r>
            <a:endParaRPr sz="1550" dirty="0">
              <a:solidFill>
                <a:schemeClr val="tx1">
                  <a:lumMod val="65000"/>
                  <a:lumOff val="35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026B00C8-579A-7E17-190D-AD210DE1676B}"/>
              </a:ext>
            </a:extLst>
          </p:cNvPr>
          <p:cNvSpPr/>
          <p:nvPr/>
        </p:nvSpPr>
        <p:spPr>
          <a:xfrm>
            <a:off x="457200" y="292373"/>
            <a:ext cx="561805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kern="0" spc="270" dirty="0">
                <a:solidFill>
                  <a:srgbClr val="7A8E9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ADVANCED ENGINEERING GEOLOGY — GED 452</a:t>
            </a:r>
            <a:endParaRPr lang="en-US" sz="1080" dirty="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351792B6-78DF-6FDE-8CF4-29FF85E7C938}"/>
              </a:ext>
            </a:extLst>
          </p:cNvPr>
          <p:cNvSpPr/>
          <p:nvPr/>
        </p:nvSpPr>
        <p:spPr>
          <a:xfrm>
            <a:off x="5013325" y="3095625"/>
            <a:ext cx="409575" cy="19050"/>
          </a:xfrm>
          <a:prstGeom prst="rect">
            <a:avLst/>
          </a:prstGeom>
          <a:solidFill>
            <a:srgbClr val="D4874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object 26">
            <a:extLst>
              <a:ext uri="{FF2B5EF4-FFF2-40B4-BE49-F238E27FC236}">
                <a16:creationId xmlns:a16="http://schemas.microsoft.com/office/drawing/2014/main" id="{FE0D59D6-308E-AEC3-DDEC-A9C22D3F9B75}"/>
              </a:ext>
            </a:extLst>
          </p:cNvPr>
          <p:cNvGrpSpPr/>
          <p:nvPr/>
        </p:nvGrpSpPr>
        <p:grpSpPr>
          <a:xfrm>
            <a:off x="774700" y="4238625"/>
            <a:ext cx="4519930" cy="760730"/>
            <a:chOff x="5425086" y="4255859"/>
            <a:chExt cx="4519930" cy="760730"/>
          </a:xfrm>
        </p:grpSpPr>
        <p:sp>
          <p:nvSpPr>
            <p:cNvPr id="61" name="object 27">
              <a:extLst>
                <a:ext uri="{FF2B5EF4-FFF2-40B4-BE49-F238E27FC236}">
                  <a16:creationId xmlns:a16="http://schemas.microsoft.com/office/drawing/2014/main" id="{7BEF6CFE-B637-0BD0-85FC-8285010ED704}"/>
                </a:ext>
              </a:extLst>
            </p:cNvPr>
            <p:cNvSpPr/>
            <p:nvPr/>
          </p:nvSpPr>
          <p:spPr>
            <a:xfrm>
              <a:off x="5429532" y="4260303"/>
              <a:ext cx="4511040" cy="751840"/>
            </a:xfrm>
            <a:custGeom>
              <a:avLst/>
              <a:gdLst/>
              <a:ahLst/>
              <a:cxnLst/>
              <a:rect l="l" t="t" r="r" b="b"/>
              <a:pathLst>
                <a:path w="4511040" h="751839">
                  <a:moveTo>
                    <a:pt x="4410452" y="0"/>
                  </a:moveTo>
                  <a:lnTo>
                    <a:pt x="100234" y="0"/>
                  </a:lnTo>
                  <a:lnTo>
                    <a:pt x="61218" y="7877"/>
                  </a:lnTo>
                  <a:lnTo>
                    <a:pt x="29358" y="29358"/>
                  </a:lnTo>
                  <a:lnTo>
                    <a:pt x="7876" y="61219"/>
                  </a:lnTo>
                  <a:lnTo>
                    <a:pt x="0" y="100236"/>
                  </a:lnTo>
                  <a:lnTo>
                    <a:pt x="0" y="651546"/>
                  </a:lnTo>
                  <a:lnTo>
                    <a:pt x="7876" y="690562"/>
                  </a:lnTo>
                  <a:lnTo>
                    <a:pt x="29358" y="722423"/>
                  </a:lnTo>
                  <a:lnTo>
                    <a:pt x="61218" y="743904"/>
                  </a:lnTo>
                  <a:lnTo>
                    <a:pt x="100234" y="751781"/>
                  </a:lnTo>
                  <a:lnTo>
                    <a:pt x="4410452" y="751781"/>
                  </a:lnTo>
                  <a:lnTo>
                    <a:pt x="4449468" y="743904"/>
                  </a:lnTo>
                  <a:lnTo>
                    <a:pt x="4481328" y="722423"/>
                  </a:lnTo>
                  <a:lnTo>
                    <a:pt x="4502809" y="690562"/>
                  </a:lnTo>
                  <a:lnTo>
                    <a:pt x="4510686" y="651546"/>
                  </a:lnTo>
                  <a:lnTo>
                    <a:pt x="4510686" y="100236"/>
                  </a:lnTo>
                  <a:lnTo>
                    <a:pt x="4503056" y="61876"/>
                  </a:lnTo>
                  <a:lnTo>
                    <a:pt x="4481329" y="29358"/>
                  </a:lnTo>
                  <a:lnTo>
                    <a:pt x="4448810" y="7630"/>
                  </a:lnTo>
                  <a:lnTo>
                    <a:pt x="4410452" y="0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28">
              <a:extLst>
                <a:ext uri="{FF2B5EF4-FFF2-40B4-BE49-F238E27FC236}">
                  <a16:creationId xmlns:a16="http://schemas.microsoft.com/office/drawing/2014/main" id="{8A6685F1-B4D6-2D5D-D1BC-EB7688A5B1CE}"/>
                </a:ext>
              </a:extLst>
            </p:cNvPr>
            <p:cNvSpPr/>
            <p:nvPr/>
          </p:nvSpPr>
          <p:spPr>
            <a:xfrm>
              <a:off x="5429531" y="4260304"/>
              <a:ext cx="4511040" cy="751840"/>
            </a:xfrm>
            <a:custGeom>
              <a:avLst/>
              <a:gdLst/>
              <a:ahLst/>
              <a:cxnLst/>
              <a:rect l="l" t="t" r="r" b="b"/>
              <a:pathLst>
                <a:path w="4511040" h="751839">
                  <a:moveTo>
                    <a:pt x="0" y="100235"/>
                  </a:moveTo>
                  <a:lnTo>
                    <a:pt x="7876" y="61219"/>
                  </a:lnTo>
                  <a:lnTo>
                    <a:pt x="29358" y="29358"/>
                  </a:lnTo>
                  <a:lnTo>
                    <a:pt x="61219" y="7876"/>
                  </a:lnTo>
                  <a:lnTo>
                    <a:pt x="100235" y="0"/>
                  </a:lnTo>
                  <a:lnTo>
                    <a:pt x="4410452" y="0"/>
                  </a:lnTo>
                  <a:lnTo>
                    <a:pt x="4448811" y="7629"/>
                  </a:lnTo>
                  <a:lnTo>
                    <a:pt x="4481329" y="29356"/>
                  </a:lnTo>
                  <a:lnTo>
                    <a:pt x="4503057" y="61875"/>
                  </a:lnTo>
                  <a:lnTo>
                    <a:pt x="4510687" y="100235"/>
                  </a:lnTo>
                  <a:lnTo>
                    <a:pt x="4510687" y="651545"/>
                  </a:lnTo>
                  <a:lnTo>
                    <a:pt x="4502810" y="690562"/>
                  </a:lnTo>
                  <a:lnTo>
                    <a:pt x="4481329" y="722423"/>
                  </a:lnTo>
                  <a:lnTo>
                    <a:pt x="4449468" y="743904"/>
                  </a:lnTo>
                  <a:lnTo>
                    <a:pt x="4410452" y="751781"/>
                  </a:lnTo>
                  <a:lnTo>
                    <a:pt x="100235" y="751781"/>
                  </a:lnTo>
                  <a:lnTo>
                    <a:pt x="61219" y="743904"/>
                  </a:lnTo>
                  <a:lnTo>
                    <a:pt x="29358" y="722423"/>
                  </a:lnTo>
                  <a:lnTo>
                    <a:pt x="7876" y="690562"/>
                  </a:lnTo>
                  <a:lnTo>
                    <a:pt x="0" y="651545"/>
                  </a:lnTo>
                  <a:lnTo>
                    <a:pt x="0" y="100235"/>
                  </a:lnTo>
                  <a:close/>
                </a:path>
              </a:pathLst>
            </a:custGeom>
            <a:ln w="8353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609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solidFill>
                  <a:schemeClr val="accent5">
                    <a:lumMod val="50000"/>
                  </a:schemeClr>
                </a:solidFill>
              </a:rPr>
              <a:t>Presentation</a:t>
            </a:r>
            <a:r>
              <a:rPr spc="-3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accent5">
                    <a:lumMod val="50000"/>
                  </a:schemeClr>
                </a:solidFill>
              </a:rPr>
              <a:t>Outline</a:t>
            </a:r>
          </a:p>
        </p:txBody>
      </p:sp>
      <p:sp>
        <p:nvSpPr>
          <p:cNvPr id="8" name="object 8"/>
          <p:cNvSpPr/>
          <p:nvPr/>
        </p:nvSpPr>
        <p:spPr>
          <a:xfrm>
            <a:off x="501187" y="1775249"/>
            <a:ext cx="3851275" cy="41910"/>
          </a:xfrm>
          <a:custGeom>
            <a:avLst/>
            <a:gdLst/>
            <a:ahLst/>
            <a:cxnLst/>
            <a:rect l="l" t="t" r="r" b="b"/>
            <a:pathLst>
              <a:path w="3851275" h="41910">
                <a:moveTo>
                  <a:pt x="3850791" y="0"/>
                </a:moveTo>
                <a:lnTo>
                  <a:pt x="0" y="0"/>
                </a:lnTo>
                <a:lnTo>
                  <a:pt x="0" y="41765"/>
                </a:lnTo>
                <a:lnTo>
                  <a:pt x="3850791" y="41765"/>
                </a:lnTo>
                <a:lnTo>
                  <a:pt x="3850791" y="0"/>
                </a:lnTo>
                <a:close/>
              </a:path>
            </a:pathLst>
          </a:custGeom>
          <a:solidFill>
            <a:srgbClr val="B4530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747336" y="2167577"/>
            <a:ext cx="4519930" cy="760730"/>
            <a:chOff x="747336" y="2167577"/>
            <a:chExt cx="4519930" cy="760730"/>
          </a:xfrm>
        </p:grpSpPr>
        <p:sp>
          <p:nvSpPr>
            <p:cNvPr id="10" name="object 10"/>
            <p:cNvSpPr/>
            <p:nvPr/>
          </p:nvSpPr>
          <p:spPr>
            <a:xfrm>
              <a:off x="751781" y="2172022"/>
              <a:ext cx="4511040" cy="751840"/>
            </a:xfrm>
            <a:custGeom>
              <a:avLst/>
              <a:gdLst/>
              <a:ahLst/>
              <a:cxnLst/>
              <a:rect l="l" t="t" r="r" b="b"/>
              <a:pathLst>
                <a:path w="4511040" h="751839">
                  <a:moveTo>
                    <a:pt x="4410452" y="0"/>
                  </a:moveTo>
                  <a:lnTo>
                    <a:pt x="100235" y="0"/>
                  </a:lnTo>
                  <a:lnTo>
                    <a:pt x="61219" y="7876"/>
                  </a:lnTo>
                  <a:lnTo>
                    <a:pt x="29358" y="29358"/>
                  </a:lnTo>
                  <a:lnTo>
                    <a:pt x="7876" y="61219"/>
                  </a:lnTo>
                  <a:lnTo>
                    <a:pt x="0" y="100236"/>
                  </a:lnTo>
                  <a:lnTo>
                    <a:pt x="0" y="651546"/>
                  </a:lnTo>
                  <a:lnTo>
                    <a:pt x="7876" y="690562"/>
                  </a:lnTo>
                  <a:lnTo>
                    <a:pt x="29358" y="722423"/>
                  </a:lnTo>
                  <a:lnTo>
                    <a:pt x="61219" y="743904"/>
                  </a:lnTo>
                  <a:lnTo>
                    <a:pt x="100235" y="751781"/>
                  </a:lnTo>
                  <a:lnTo>
                    <a:pt x="4410452" y="751781"/>
                  </a:lnTo>
                  <a:lnTo>
                    <a:pt x="4449468" y="743904"/>
                  </a:lnTo>
                  <a:lnTo>
                    <a:pt x="4481329" y="722423"/>
                  </a:lnTo>
                  <a:lnTo>
                    <a:pt x="4502810" y="690562"/>
                  </a:lnTo>
                  <a:lnTo>
                    <a:pt x="4510687" y="651546"/>
                  </a:lnTo>
                  <a:lnTo>
                    <a:pt x="4510687" y="100236"/>
                  </a:lnTo>
                  <a:lnTo>
                    <a:pt x="4503057" y="61876"/>
                  </a:lnTo>
                  <a:lnTo>
                    <a:pt x="4481329" y="29358"/>
                  </a:lnTo>
                  <a:lnTo>
                    <a:pt x="4448810" y="7630"/>
                  </a:lnTo>
                  <a:lnTo>
                    <a:pt x="4410452" y="0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51781" y="2172022"/>
              <a:ext cx="4511040" cy="751840"/>
            </a:xfrm>
            <a:custGeom>
              <a:avLst/>
              <a:gdLst/>
              <a:ahLst/>
              <a:cxnLst/>
              <a:rect l="l" t="t" r="r" b="b"/>
              <a:pathLst>
                <a:path w="4511040" h="751839">
                  <a:moveTo>
                    <a:pt x="0" y="100235"/>
                  </a:moveTo>
                  <a:lnTo>
                    <a:pt x="7876" y="61219"/>
                  </a:lnTo>
                  <a:lnTo>
                    <a:pt x="29358" y="29358"/>
                  </a:lnTo>
                  <a:lnTo>
                    <a:pt x="61219" y="7876"/>
                  </a:lnTo>
                  <a:lnTo>
                    <a:pt x="100235" y="0"/>
                  </a:lnTo>
                  <a:lnTo>
                    <a:pt x="4410452" y="0"/>
                  </a:lnTo>
                  <a:lnTo>
                    <a:pt x="4448811" y="7629"/>
                  </a:lnTo>
                  <a:lnTo>
                    <a:pt x="4481329" y="29358"/>
                  </a:lnTo>
                  <a:lnTo>
                    <a:pt x="4503057" y="61876"/>
                  </a:lnTo>
                  <a:lnTo>
                    <a:pt x="4510687" y="100235"/>
                  </a:lnTo>
                  <a:lnTo>
                    <a:pt x="4510687" y="651546"/>
                  </a:lnTo>
                  <a:lnTo>
                    <a:pt x="4502810" y="690562"/>
                  </a:lnTo>
                  <a:lnTo>
                    <a:pt x="4481329" y="722423"/>
                  </a:lnTo>
                  <a:lnTo>
                    <a:pt x="4449468" y="743904"/>
                  </a:lnTo>
                  <a:lnTo>
                    <a:pt x="4410452" y="751781"/>
                  </a:lnTo>
                  <a:lnTo>
                    <a:pt x="100235" y="751781"/>
                  </a:lnTo>
                  <a:lnTo>
                    <a:pt x="61219" y="743904"/>
                  </a:lnTo>
                  <a:lnTo>
                    <a:pt x="29358" y="722423"/>
                  </a:lnTo>
                  <a:lnTo>
                    <a:pt x="7876" y="690562"/>
                  </a:lnTo>
                  <a:lnTo>
                    <a:pt x="0" y="651546"/>
                  </a:lnTo>
                  <a:lnTo>
                    <a:pt x="0" y="100235"/>
                  </a:lnTo>
                  <a:close/>
                </a:path>
              </a:pathLst>
            </a:custGeom>
            <a:ln w="8353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177547" y="2361468"/>
            <a:ext cx="2117725" cy="2260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00" b="1" dirty="0">
                <a:solidFill>
                  <a:srgbClr val="0F172A"/>
                </a:solidFill>
                <a:latin typeface="Times New Roman"/>
                <a:cs typeface="Times New Roman"/>
              </a:rPr>
              <a:t>Introduction</a:t>
            </a:r>
            <a:r>
              <a:rPr sz="1300" b="1" spc="15" dirty="0">
                <a:solidFill>
                  <a:srgbClr val="0F172A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0F172A"/>
                </a:solidFill>
                <a:latin typeface="Times New Roman"/>
                <a:cs typeface="Times New Roman"/>
              </a:rPr>
              <a:t>to</a:t>
            </a:r>
            <a:r>
              <a:rPr sz="1300" b="1" spc="20" dirty="0">
                <a:solidFill>
                  <a:srgbClr val="0F172A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0F172A"/>
                </a:solidFill>
                <a:latin typeface="Times New Roman"/>
                <a:cs typeface="Times New Roman"/>
              </a:rPr>
              <a:t>Tailing</a:t>
            </a:r>
            <a:r>
              <a:rPr sz="1300" b="1" spc="20" dirty="0">
                <a:solidFill>
                  <a:srgbClr val="0F172A"/>
                </a:solidFill>
                <a:latin typeface="Times New Roman"/>
                <a:cs typeface="Times New Roman"/>
              </a:rPr>
              <a:t> </a:t>
            </a:r>
            <a:r>
              <a:rPr sz="1300" b="1" spc="-20" dirty="0">
                <a:solidFill>
                  <a:srgbClr val="0F172A"/>
                </a:solidFill>
                <a:latin typeface="Times New Roman"/>
                <a:cs typeface="Times New Roman"/>
              </a:rPr>
              <a:t>Dams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425086" y="2167577"/>
            <a:ext cx="4519930" cy="760730"/>
            <a:chOff x="5425086" y="2167577"/>
            <a:chExt cx="4519930" cy="760730"/>
          </a:xfrm>
        </p:grpSpPr>
        <p:sp>
          <p:nvSpPr>
            <p:cNvPr id="14" name="object 14"/>
            <p:cNvSpPr/>
            <p:nvPr/>
          </p:nvSpPr>
          <p:spPr>
            <a:xfrm>
              <a:off x="5429532" y="2172022"/>
              <a:ext cx="4511040" cy="751840"/>
            </a:xfrm>
            <a:custGeom>
              <a:avLst/>
              <a:gdLst/>
              <a:ahLst/>
              <a:cxnLst/>
              <a:rect l="l" t="t" r="r" b="b"/>
              <a:pathLst>
                <a:path w="4511040" h="751839">
                  <a:moveTo>
                    <a:pt x="4410452" y="0"/>
                  </a:moveTo>
                  <a:lnTo>
                    <a:pt x="100234" y="0"/>
                  </a:lnTo>
                  <a:lnTo>
                    <a:pt x="61218" y="7876"/>
                  </a:lnTo>
                  <a:lnTo>
                    <a:pt x="29358" y="29358"/>
                  </a:lnTo>
                  <a:lnTo>
                    <a:pt x="7876" y="61219"/>
                  </a:lnTo>
                  <a:lnTo>
                    <a:pt x="0" y="100236"/>
                  </a:lnTo>
                  <a:lnTo>
                    <a:pt x="0" y="651546"/>
                  </a:lnTo>
                  <a:lnTo>
                    <a:pt x="7876" y="690562"/>
                  </a:lnTo>
                  <a:lnTo>
                    <a:pt x="29358" y="722423"/>
                  </a:lnTo>
                  <a:lnTo>
                    <a:pt x="61218" y="743904"/>
                  </a:lnTo>
                  <a:lnTo>
                    <a:pt x="100234" y="751781"/>
                  </a:lnTo>
                  <a:lnTo>
                    <a:pt x="4410452" y="751781"/>
                  </a:lnTo>
                  <a:lnTo>
                    <a:pt x="4449468" y="743904"/>
                  </a:lnTo>
                  <a:lnTo>
                    <a:pt x="4481328" y="722423"/>
                  </a:lnTo>
                  <a:lnTo>
                    <a:pt x="4502809" y="690562"/>
                  </a:lnTo>
                  <a:lnTo>
                    <a:pt x="4510686" y="651546"/>
                  </a:lnTo>
                  <a:lnTo>
                    <a:pt x="4510686" y="100236"/>
                  </a:lnTo>
                  <a:lnTo>
                    <a:pt x="4503056" y="61876"/>
                  </a:lnTo>
                  <a:lnTo>
                    <a:pt x="4481329" y="29358"/>
                  </a:lnTo>
                  <a:lnTo>
                    <a:pt x="4448810" y="7630"/>
                  </a:lnTo>
                  <a:lnTo>
                    <a:pt x="4410452" y="0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429531" y="2172022"/>
              <a:ext cx="4511040" cy="751840"/>
            </a:xfrm>
            <a:custGeom>
              <a:avLst/>
              <a:gdLst/>
              <a:ahLst/>
              <a:cxnLst/>
              <a:rect l="l" t="t" r="r" b="b"/>
              <a:pathLst>
                <a:path w="4511040" h="751839">
                  <a:moveTo>
                    <a:pt x="0" y="100235"/>
                  </a:moveTo>
                  <a:lnTo>
                    <a:pt x="7876" y="61219"/>
                  </a:lnTo>
                  <a:lnTo>
                    <a:pt x="29358" y="29358"/>
                  </a:lnTo>
                  <a:lnTo>
                    <a:pt x="61219" y="7876"/>
                  </a:lnTo>
                  <a:lnTo>
                    <a:pt x="100235" y="0"/>
                  </a:lnTo>
                  <a:lnTo>
                    <a:pt x="4410452" y="0"/>
                  </a:lnTo>
                  <a:lnTo>
                    <a:pt x="4448811" y="7629"/>
                  </a:lnTo>
                  <a:lnTo>
                    <a:pt x="4481329" y="29358"/>
                  </a:lnTo>
                  <a:lnTo>
                    <a:pt x="4503057" y="61876"/>
                  </a:lnTo>
                  <a:lnTo>
                    <a:pt x="4510687" y="100235"/>
                  </a:lnTo>
                  <a:lnTo>
                    <a:pt x="4510687" y="651546"/>
                  </a:lnTo>
                  <a:lnTo>
                    <a:pt x="4502810" y="690562"/>
                  </a:lnTo>
                  <a:lnTo>
                    <a:pt x="4481329" y="722423"/>
                  </a:lnTo>
                  <a:lnTo>
                    <a:pt x="4449468" y="743904"/>
                  </a:lnTo>
                  <a:lnTo>
                    <a:pt x="4410452" y="751781"/>
                  </a:lnTo>
                  <a:lnTo>
                    <a:pt x="100235" y="751781"/>
                  </a:lnTo>
                  <a:lnTo>
                    <a:pt x="61219" y="743904"/>
                  </a:lnTo>
                  <a:lnTo>
                    <a:pt x="29358" y="722423"/>
                  </a:lnTo>
                  <a:lnTo>
                    <a:pt x="7876" y="690562"/>
                  </a:lnTo>
                  <a:lnTo>
                    <a:pt x="0" y="651546"/>
                  </a:lnTo>
                  <a:lnTo>
                    <a:pt x="0" y="100235"/>
                  </a:lnTo>
                  <a:close/>
                </a:path>
              </a:pathLst>
            </a:custGeom>
            <a:ln w="8353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806599" y="2361468"/>
            <a:ext cx="2215515" cy="2260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00" b="1" dirty="0">
                <a:solidFill>
                  <a:srgbClr val="0F172A"/>
                </a:solidFill>
                <a:latin typeface="Times New Roman"/>
                <a:cs typeface="Times New Roman"/>
              </a:rPr>
              <a:t>Standard</a:t>
            </a:r>
            <a:r>
              <a:rPr sz="1300" b="1" spc="5" dirty="0">
                <a:solidFill>
                  <a:srgbClr val="0F172A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0F172A"/>
                </a:solidFill>
                <a:latin typeface="Times New Roman"/>
                <a:cs typeface="Times New Roman"/>
              </a:rPr>
              <a:t>Monitoring</a:t>
            </a:r>
            <a:r>
              <a:rPr sz="1300" b="1" spc="10" dirty="0">
                <a:solidFill>
                  <a:srgbClr val="0F172A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0F172A"/>
                </a:solidFill>
                <a:latin typeface="Times New Roman"/>
                <a:cs typeface="Times New Roman"/>
              </a:rPr>
              <a:t>Methods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47336" y="3211718"/>
            <a:ext cx="4519930" cy="760730"/>
            <a:chOff x="747336" y="3211718"/>
            <a:chExt cx="4519930" cy="760730"/>
          </a:xfrm>
        </p:grpSpPr>
        <p:sp>
          <p:nvSpPr>
            <p:cNvPr id="18" name="object 18"/>
            <p:cNvSpPr/>
            <p:nvPr/>
          </p:nvSpPr>
          <p:spPr>
            <a:xfrm>
              <a:off x="751781" y="3216162"/>
              <a:ext cx="4511040" cy="751840"/>
            </a:xfrm>
            <a:custGeom>
              <a:avLst/>
              <a:gdLst/>
              <a:ahLst/>
              <a:cxnLst/>
              <a:rect l="l" t="t" r="r" b="b"/>
              <a:pathLst>
                <a:path w="4511040" h="751839">
                  <a:moveTo>
                    <a:pt x="4410452" y="0"/>
                  </a:moveTo>
                  <a:lnTo>
                    <a:pt x="100235" y="0"/>
                  </a:lnTo>
                  <a:lnTo>
                    <a:pt x="61219" y="7876"/>
                  </a:lnTo>
                  <a:lnTo>
                    <a:pt x="29358" y="29358"/>
                  </a:lnTo>
                  <a:lnTo>
                    <a:pt x="7876" y="61219"/>
                  </a:lnTo>
                  <a:lnTo>
                    <a:pt x="0" y="100236"/>
                  </a:lnTo>
                  <a:lnTo>
                    <a:pt x="0" y="651546"/>
                  </a:lnTo>
                  <a:lnTo>
                    <a:pt x="7876" y="690562"/>
                  </a:lnTo>
                  <a:lnTo>
                    <a:pt x="29358" y="722423"/>
                  </a:lnTo>
                  <a:lnTo>
                    <a:pt x="61219" y="743904"/>
                  </a:lnTo>
                  <a:lnTo>
                    <a:pt x="100235" y="751781"/>
                  </a:lnTo>
                  <a:lnTo>
                    <a:pt x="4410452" y="751781"/>
                  </a:lnTo>
                  <a:lnTo>
                    <a:pt x="4449468" y="743904"/>
                  </a:lnTo>
                  <a:lnTo>
                    <a:pt x="4481329" y="722423"/>
                  </a:lnTo>
                  <a:lnTo>
                    <a:pt x="4502810" y="690562"/>
                  </a:lnTo>
                  <a:lnTo>
                    <a:pt x="4510687" y="651546"/>
                  </a:lnTo>
                  <a:lnTo>
                    <a:pt x="4510687" y="100236"/>
                  </a:lnTo>
                  <a:lnTo>
                    <a:pt x="4503057" y="61876"/>
                  </a:lnTo>
                  <a:lnTo>
                    <a:pt x="4481329" y="29358"/>
                  </a:lnTo>
                  <a:lnTo>
                    <a:pt x="4448810" y="7630"/>
                  </a:lnTo>
                  <a:lnTo>
                    <a:pt x="4410452" y="0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51781" y="3216163"/>
              <a:ext cx="4511040" cy="751840"/>
            </a:xfrm>
            <a:custGeom>
              <a:avLst/>
              <a:gdLst/>
              <a:ahLst/>
              <a:cxnLst/>
              <a:rect l="l" t="t" r="r" b="b"/>
              <a:pathLst>
                <a:path w="4511040" h="751839">
                  <a:moveTo>
                    <a:pt x="0" y="100235"/>
                  </a:moveTo>
                  <a:lnTo>
                    <a:pt x="7876" y="61219"/>
                  </a:lnTo>
                  <a:lnTo>
                    <a:pt x="29358" y="29358"/>
                  </a:lnTo>
                  <a:lnTo>
                    <a:pt x="61219" y="7876"/>
                  </a:lnTo>
                  <a:lnTo>
                    <a:pt x="100235" y="0"/>
                  </a:lnTo>
                  <a:lnTo>
                    <a:pt x="4410452" y="0"/>
                  </a:lnTo>
                  <a:lnTo>
                    <a:pt x="4448811" y="7630"/>
                  </a:lnTo>
                  <a:lnTo>
                    <a:pt x="4481329" y="29358"/>
                  </a:lnTo>
                  <a:lnTo>
                    <a:pt x="4503057" y="61875"/>
                  </a:lnTo>
                  <a:lnTo>
                    <a:pt x="4510687" y="100235"/>
                  </a:lnTo>
                  <a:lnTo>
                    <a:pt x="4510687" y="651545"/>
                  </a:lnTo>
                  <a:lnTo>
                    <a:pt x="4502810" y="690562"/>
                  </a:lnTo>
                  <a:lnTo>
                    <a:pt x="4481329" y="722423"/>
                  </a:lnTo>
                  <a:lnTo>
                    <a:pt x="4449468" y="743904"/>
                  </a:lnTo>
                  <a:lnTo>
                    <a:pt x="4410452" y="751781"/>
                  </a:lnTo>
                  <a:lnTo>
                    <a:pt x="100235" y="751781"/>
                  </a:lnTo>
                  <a:lnTo>
                    <a:pt x="61219" y="743904"/>
                  </a:lnTo>
                  <a:lnTo>
                    <a:pt x="29358" y="722423"/>
                  </a:lnTo>
                  <a:lnTo>
                    <a:pt x="7876" y="690562"/>
                  </a:lnTo>
                  <a:lnTo>
                    <a:pt x="0" y="651545"/>
                  </a:lnTo>
                  <a:lnTo>
                    <a:pt x="0" y="100235"/>
                  </a:lnTo>
                  <a:close/>
                </a:path>
              </a:pathLst>
            </a:custGeom>
            <a:ln w="8353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210136" y="3405608"/>
            <a:ext cx="2052955" cy="2260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00" b="1" dirty="0">
                <a:solidFill>
                  <a:srgbClr val="0F172A"/>
                </a:solidFill>
                <a:latin typeface="Times New Roman"/>
                <a:cs typeface="Times New Roman"/>
              </a:rPr>
              <a:t>Monitoring</a:t>
            </a:r>
            <a:r>
              <a:rPr sz="1300" b="1" spc="20" dirty="0">
                <a:solidFill>
                  <a:srgbClr val="0F172A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0F172A"/>
                </a:solidFill>
                <a:latin typeface="Times New Roman"/>
                <a:cs typeface="Times New Roman"/>
              </a:rPr>
              <a:t>Instrumentation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425086" y="3211718"/>
            <a:ext cx="4519930" cy="760730"/>
            <a:chOff x="5425086" y="3211718"/>
            <a:chExt cx="4519930" cy="760730"/>
          </a:xfrm>
        </p:grpSpPr>
        <p:sp>
          <p:nvSpPr>
            <p:cNvPr id="22" name="object 22"/>
            <p:cNvSpPr/>
            <p:nvPr/>
          </p:nvSpPr>
          <p:spPr>
            <a:xfrm>
              <a:off x="5429532" y="3216162"/>
              <a:ext cx="4511040" cy="751840"/>
            </a:xfrm>
            <a:custGeom>
              <a:avLst/>
              <a:gdLst/>
              <a:ahLst/>
              <a:cxnLst/>
              <a:rect l="l" t="t" r="r" b="b"/>
              <a:pathLst>
                <a:path w="4511040" h="751839">
                  <a:moveTo>
                    <a:pt x="4410452" y="0"/>
                  </a:moveTo>
                  <a:lnTo>
                    <a:pt x="100234" y="0"/>
                  </a:lnTo>
                  <a:lnTo>
                    <a:pt x="61218" y="7876"/>
                  </a:lnTo>
                  <a:lnTo>
                    <a:pt x="29358" y="29358"/>
                  </a:lnTo>
                  <a:lnTo>
                    <a:pt x="7876" y="61219"/>
                  </a:lnTo>
                  <a:lnTo>
                    <a:pt x="0" y="100236"/>
                  </a:lnTo>
                  <a:lnTo>
                    <a:pt x="0" y="651546"/>
                  </a:lnTo>
                  <a:lnTo>
                    <a:pt x="7876" y="690562"/>
                  </a:lnTo>
                  <a:lnTo>
                    <a:pt x="29358" y="722423"/>
                  </a:lnTo>
                  <a:lnTo>
                    <a:pt x="61218" y="743904"/>
                  </a:lnTo>
                  <a:lnTo>
                    <a:pt x="100234" y="751781"/>
                  </a:lnTo>
                  <a:lnTo>
                    <a:pt x="4410452" y="751781"/>
                  </a:lnTo>
                  <a:lnTo>
                    <a:pt x="4449468" y="743904"/>
                  </a:lnTo>
                  <a:lnTo>
                    <a:pt x="4481328" y="722423"/>
                  </a:lnTo>
                  <a:lnTo>
                    <a:pt x="4502809" y="690562"/>
                  </a:lnTo>
                  <a:lnTo>
                    <a:pt x="4510686" y="651546"/>
                  </a:lnTo>
                  <a:lnTo>
                    <a:pt x="4510686" y="100236"/>
                  </a:lnTo>
                  <a:lnTo>
                    <a:pt x="4503056" y="61876"/>
                  </a:lnTo>
                  <a:lnTo>
                    <a:pt x="4481329" y="29358"/>
                  </a:lnTo>
                  <a:lnTo>
                    <a:pt x="4448810" y="7630"/>
                  </a:lnTo>
                  <a:lnTo>
                    <a:pt x="4410452" y="0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429531" y="3216163"/>
              <a:ext cx="4511040" cy="751840"/>
            </a:xfrm>
            <a:custGeom>
              <a:avLst/>
              <a:gdLst/>
              <a:ahLst/>
              <a:cxnLst/>
              <a:rect l="l" t="t" r="r" b="b"/>
              <a:pathLst>
                <a:path w="4511040" h="751839">
                  <a:moveTo>
                    <a:pt x="0" y="100235"/>
                  </a:moveTo>
                  <a:lnTo>
                    <a:pt x="7876" y="61219"/>
                  </a:lnTo>
                  <a:lnTo>
                    <a:pt x="29358" y="29358"/>
                  </a:lnTo>
                  <a:lnTo>
                    <a:pt x="61219" y="7876"/>
                  </a:lnTo>
                  <a:lnTo>
                    <a:pt x="100235" y="0"/>
                  </a:lnTo>
                  <a:lnTo>
                    <a:pt x="4410452" y="0"/>
                  </a:lnTo>
                  <a:lnTo>
                    <a:pt x="4448811" y="7630"/>
                  </a:lnTo>
                  <a:lnTo>
                    <a:pt x="4481329" y="29358"/>
                  </a:lnTo>
                  <a:lnTo>
                    <a:pt x="4503057" y="61875"/>
                  </a:lnTo>
                  <a:lnTo>
                    <a:pt x="4510687" y="100235"/>
                  </a:lnTo>
                  <a:lnTo>
                    <a:pt x="4510687" y="651545"/>
                  </a:lnTo>
                  <a:lnTo>
                    <a:pt x="4502810" y="690562"/>
                  </a:lnTo>
                  <a:lnTo>
                    <a:pt x="4481329" y="722423"/>
                  </a:lnTo>
                  <a:lnTo>
                    <a:pt x="4449468" y="743904"/>
                  </a:lnTo>
                  <a:lnTo>
                    <a:pt x="4410452" y="751781"/>
                  </a:lnTo>
                  <a:lnTo>
                    <a:pt x="100235" y="751781"/>
                  </a:lnTo>
                  <a:lnTo>
                    <a:pt x="61219" y="743904"/>
                  </a:lnTo>
                  <a:lnTo>
                    <a:pt x="29358" y="722423"/>
                  </a:lnTo>
                  <a:lnTo>
                    <a:pt x="7876" y="690562"/>
                  </a:lnTo>
                  <a:lnTo>
                    <a:pt x="0" y="651545"/>
                  </a:lnTo>
                  <a:lnTo>
                    <a:pt x="0" y="100235"/>
                  </a:lnTo>
                  <a:close/>
                </a:path>
              </a:pathLst>
            </a:custGeom>
            <a:ln w="8353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857663" y="3405608"/>
            <a:ext cx="2113915" cy="2260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00" b="1" dirty="0">
                <a:solidFill>
                  <a:srgbClr val="0F172A"/>
                </a:solidFill>
                <a:latin typeface="Times New Roman"/>
                <a:cs typeface="Times New Roman"/>
              </a:rPr>
              <a:t>Advantages</a:t>
            </a:r>
            <a:r>
              <a:rPr sz="1300" b="1" spc="30" dirty="0">
                <a:solidFill>
                  <a:srgbClr val="0F172A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0F172A"/>
                </a:solidFill>
                <a:latin typeface="Times New Roman"/>
                <a:cs typeface="Times New Roman"/>
              </a:rPr>
              <a:t>&amp;</a:t>
            </a:r>
            <a:r>
              <a:rPr sz="1300" b="1" spc="35" dirty="0">
                <a:solidFill>
                  <a:srgbClr val="0F172A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0F172A"/>
                </a:solidFill>
                <a:latin typeface="Times New Roman"/>
                <a:cs typeface="Times New Roman"/>
              </a:rPr>
              <a:t>Disadvantages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319363" y="4449749"/>
            <a:ext cx="1834514" cy="2260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00" b="1" dirty="0">
                <a:solidFill>
                  <a:srgbClr val="0F172A"/>
                </a:solidFill>
                <a:latin typeface="Times New Roman"/>
                <a:cs typeface="Times New Roman"/>
              </a:rPr>
              <a:t>Why</a:t>
            </a:r>
            <a:r>
              <a:rPr sz="1300" b="1" spc="20" dirty="0">
                <a:solidFill>
                  <a:srgbClr val="0F172A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0F172A"/>
                </a:solidFill>
                <a:latin typeface="Times New Roman"/>
                <a:cs typeface="Times New Roman"/>
              </a:rPr>
              <a:t>Monitoring</a:t>
            </a:r>
            <a:r>
              <a:rPr sz="1300" b="1" spc="25" dirty="0">
                <a:solidFill>
                  <a:srgbClr val="0F172A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0F172A"/>
                </a:solidFill>
                <a:latin typeface="Times New Roman"/>
                <a:cs typeface="Times New Roman"/>
              </a:rPr>
              <a:t>Matters</a:t>
            </a:r>
            <a:endParaRPr sz="1300" dirty="0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425086" y="4255859"/>
            <a:ext cx="4519930" cy="760730"/>
            <a:chOff x="5425086" y="4255859"/>
            <a:chExt cx="4519930" cy="760730"/>
          </a:xfrm>
        </p:grpSpPr>
        <p:sp>
          <p:nvSpPr>
            <p:cNvPr id="27" name="object 27"/>
            <p:cNvSpPr/>
            <p:nvPr/>
          </p:nvSpPr>
          <p:spPr>
            <a:xfrm>
              <a:off x="5429532" y="4260303"/>
              <a:ext cx="4511040" cy="751840"/>
            </a:xfrm>
            <a:custGeom>
              <a:avLst/>
              <a:gdLst/>
              <a:ahLst/>
              <a:cxnLst/>
              <a:rect l="l" t="t" r="r" b="b"/>
              <a:pathLst>
                <a:path w="4511040" h="751839">
                  <a:moveTo>
                    <a:pt x="4410452" y="0"/>
                  </a:moveTo>
                  <a:lnTo>
                    <a:pt x="100234" y="0"/>
                  </a:lnTo>
                  <a:lnTo>
                    <a:pt x="61218" y="7877"/>
                  </a:lnTo>
                  <a:lnTo>
                    <a:pt x="29358" y="29358"/>
                  </a:lnTo>
                  <a:lnTo>
                    <a:pt x="7876" y="61219"/>
                  </a:lnTo>
                  <a:lnTo>
                    <a:pt x="0" y="100236"/>
                  </a:lnTo>
                  <a:lnTo>
                    <a:pt x="0" y="651546"/>
                  </a:lnTo>
                  <a:lnTo>
                    <a:pt x="7876" y="690562"/>
                  </a:lnTo>
                  <a:lnTo>
                    <a:pt x="29358" y="722423"/>
                  </a:lnTo>
                  <a:lnTo>
                    <a:pt x="61218" y="743904"/>
                  </a:lnTo>
                  <a:lnTo>
                    <a:pt x="100234" y="751781"/>
                  </a:lnTo>
                  <a:lnTo>
                    <a:pt x="4410452" y="751781"/>
                  </a:lnTo>
                  <a:lnTo>
                    <a:pt x="4449468" y="743904"/>
                  </a:lnTo>
                  <a:lnTo>
                    <a:pt x="4481328" y="722423"/>
                  </a:lnTo>
                  <a:lnTo>
                    <a:pt x="4502809" y="690562"/>
                  </a:lnTo>
                  <a:lnTo>
                    <a:pt x="4510686" y="651546"/>
                  </a:lnTo>
                  <a:lnTo>
                    <a:pt x="4510686" y="100236"/>
                  </a:lnTo>
                  <a:lnTo>
                    <a:pt x="4503056" y="61876"/>
                  </a:lnTo>
                  <a:lnTo>
                    <a:pt x="4481329" y="29358"/>
                  </a:lnTo>
                  <a:lnTo>
                    <a:pt x="4448810" y="7630"/>
                  </a:lnTo>
                  <a:lnTo>
                    <a:pt x="4410452" y="0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429531" y="4260304"/>
              <a:ext cx="4511040" cy="751840"/>
            </a:xfrm>
            <a:custGeom>
              <a:avLst/>
              <a:gdLst/>
              <a:ahLst/>
              <a:cxnLst/>
              <a:rect l="l" t="t" r="r" b="b"/>
              <a:pathLst>
                <a:path w="4511040" h="751839">
                  <a:moveTo>
                    <a:pt x="0" y="100235"/>
                  </a:moveTo>
                  <a:lnTo>
                    <a:pt x="7876" y="61219"/>
                  </a:lnTo>
                  <a:lnTo>
                    <a:pt x="29358" y="29358"/>
                  </a:lnTo>
                  <a:lnTo>
                    <a:pt x="61219" y="7876"/>
                  </a:lnTo>
                  <a:lnTo>
                    <a:pt x="100235" y="0"/>
                  </a:lnTo>
                  <a:lnTo>
                    <a:pt x="4410452" y="0"/>
                  </a:lnTo>
                  <a:lnTo>
                    <a:pt x="4448811" y="7629"/>
                  </a:lnTo>
                  <a:lnTo>
                    <a:pt x="4481329" y="29356"/>
                  </a:lnTo>
                  <a:lnTo>
                    <a:pt x="4503057" y="61875"/>
                  </a:lnTo>
                  <a:lnTo>
                    <a:pt x="4510687" y="100235"/>
                  </a:lnTo>
                  <a:lnTo>
                    <a:pt x="4510687" y="651545"/>
                  </a:lnTo>
                  <a:lnTo>
                    <a:pt x="4502810" y="690562"/>
                  </a:lnTo>
                  <a:lnTo>
                    <a:pt x="4481329" y="722423"/>
                  </a:lnTo>
                  <a:lnTo>
                    <a:pt x="4449468" y="743904"/>
                  </a:lnTo>
                  <a:lnTo>
                    <a:pt x="4410452" y="751781"/>
                  </a:lnTo>
                  <a:lnTo>
                    <a:pt x="100235" y="751781"/>
                  </a:lnTo>
                  <a:lnTo>
                    <a:pt x="61219" y="743904"/>
                  </a:lnTo>
                  <a:lnTo>
                    <a:pt x="29358" y="722423"/>
                  </a:lnTo>
                  <a:lnTo>
                    <a:pt x="7876" y="690562"/>
                  </a:lnTo>
                  <a:lnTo>
                    <a:pt x="0" y="651545"/>
                  </a:lnTo>
                  <a:lnTo>
                    <a:pt x="0" y="100235"/>
                  </a:lnTo>
                  <a:close/>
                </a:path>
              </a:pathLst>
            </a:custGeom>
            <a:ln w="8353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899755" y="4449749"/>
            <a:ext cx="2028825" cy="2260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00" b="1" dirty="0">
                <a:solidFill>
                  <a:srgbClr val="0F172A"/>
                </a:solidFill>
                <a:latin typeface="Times New Roman"/>
                <a:cs typeface="Times New Roman"/>
              </a:rPr>
              <a:t>Core</a:t>
            </a:r>
            <a:r>
              <a:rPr sz="1300" b="1" spc="20" dirty="0">
                <a:solidFill>
                  <a:srgbClr val="0F172A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0F172A"/>
                </a:solidFill>
                <a:latin typeface="Times New Roman"/>
                <a:cs typeface="Times New Roman"/>
              </a:rPr>
              <a:t>Monitoring</a:t>
            </a:r>
            <a:r>
              <a:rPr sz="1300" b="1" spc="25" dirty="0">
                <a:solidFill>
                  <a:srgbClr val="0F172A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0F172A"/>
                </a:solidFill>
                <a:latin typeface="Times New Roman"/>
                <a:cs typeface="Times New Roman"/>
              </a:rPr>
              <a:t>Objectives</a:t>
            </a:r>
            <a:endParaRPr sz="1300" dirty="0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47336" y="5300000"/>
            <a:ext cx="4519930" cy="760730"/>
            <a:chOff x="747336" y="5300000"/>
            <a:chExt cx="4519930" cy="760730"/>
          </a:xfrm>
        </p:grpSpPr>
        <p:sp>
          <p:nvSpPr>
            <p:cNvPr id="31" name="object 31"/>
            <p:cNvSpPr/>
            <p:nvPr/>
          </p:nvSpPr>
          <p:spPr>
            <a:xfrm>
              <a:off x="751781" y="5304444"/>
              <a:ext cx="4511040" cy="751840"/>
            </a:xfrm>
            <a:custGeom>
              <a:avLst/>
              <a:gdLst/>
              <a:ahLst/>
              <a:cxnLst/>
              <a:rect l="l" t="t" r="r" b="b"/>
              <a:pathLst>
                <a:path w="4511040" h="751839">
                  <a:moveTo>
                    <a:pt x="4410452" y="0"/>
                  </a:moveTo>
                  <a:lnTo>
                    <a:pt x="100235" y="0"/>
                  </a:lnTo>
                  <a:lnTo>
                    <a:pt x="61219" y="7877"/>
                  </a:lnTo>
                  <a:lnTo>
                    <a:pt x="29358" y="29358"/>
                  </a:lnTo>
                  <a:lnTo>
                    <a:pt x="7876" y="61219"/>
                  </a:lnTo>
                  <a:lnTo>
                    <a:pt x="0" y="100236"/>
                  </a:lnTo>
                  <a:lnTo>
                    <a:pt x="0" y="651546"/>
                  </a:lnTo>
                  <a:lnTo>
                    <a:pt x="7876" y="690562"/>
                  </a:lnTo>
                  <a:lnTo>
                    <a:pt x="29358" y="722423"/>
                  </a:lnTo>
                  <a:lnTo>
                    <a:pt x="61219" y="743904"/>
                  </a:lnTo>
                  <a:lnTo>
                    <a:pt x="100235" y="751781"/>
                  </a:lnTo>
                  <a:lnTo>
                    <a:pt x="4410452" y="751781"/>
                  </a:lnTo>
                  <a:lnTo>
                    <a:pt x="4449468" y="743904"/>
                  </a:lnTo>
                  <a:lnTo>
                    <a:pt x="4481329" y="722423"/>
                  </a:lnTo>
                  <a:lnTo>
                    <a:pt x="4502810" y="690562"/>
                  </a:lnTo>
                  <a:lnTo>
                    <a:pt x="4510687" y="651546"/>
                  </a:lnTo>
                  <a:lnTo>
                    <a:pt x="4510687" y="100236"/>
                  </a:lnTo>
                  <a:lnTo>
                    <a:pt x="4503057" y="61876"/>
                  </a:lnTo>
                  <a:lnTo>
                    <a:pt x="4481329" y="29358"/>
                  </a:lnTo>
                  <a:lnTo>
                    <a:pt x="4448810" y="7630"/>
                  </a:lnTo>
                  <a:lnTo>
                    <a:pt x="4410452" y="0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51781" y="5304445"/>
              <a:ext cx="4511040" cy="751840"/>
            </a:xfrm>
            <a:custGeom>
              <a:avLst/>
              <a:gdLst/>
              <a:ahLst/>
              <a:cxnLst/>
              <a:rect l="l" t="t" r="r" b="b"/>
              <a:pathLst>
                <a:path w="4511040" h="751839">
                  <a:moveTo>
                    <a:pt x="0" y="100235"/>
                  </a:moveTo>
                  <a:lnTo>
                    <a:pt x="7876" y="61219"/>
                  </a:lnTo>
                  <a:lnTo>
                    <a:pt x="29358" y="29358"/>
                  </a:lnTo>
                  <a:lnTo>
                    <a:pt x="61219" y="7876"/>
                  </a:lnTo>
                  <a:lnTo>
                    <a:pt x="100235" y="0"/>
                  </a:lnTo>
                  <a:lnTo>
                    <a:pt x="4410452" y="0"/>
                  </a:lnTo>
                  <a:lnTo>
                    <a:pt x="4448811" y="7629"/>
                  </a:lnTo>
                  <a:lnTo>
                    <a:pt x="4481329" y="29356"/>
                  </a:lnTo>
                  <a:lnTo>
                    <a:pt x="4503057" y="61876"/>
                  </a:lnTo>
                  <a:lnTo>
                    <a:pt x="4510687" y="100235"/>
                  </a:lnTo>
                  <a:lnTo>
                    <a:pt x="4510687" y="651545"/>
                  </a:lnTo>
                  <a:lnTo>
                    <a:pt x="4502810" y="690562"/>
                  </a:lnTo>
                  <a:lnTo>
                    <a:pt x="4481329" y="722423"/>
                  </a:lnTo>
                  <a:lnTo>
                    <a:pt x="4449468" y="743904"/>
                  </a:lnTo>
                  <a:lnTo>
                    <a:pt x="4410452" y="751781"/>
                  </a:lnTo>
                  <a:lnTo>
                    <a:pt x="100235" y="751781"/>
                  </a:lnTo>
                  <a:lnTo>
                    <a:pt x="61219" y="743904"/>
                  </a:lnTo>
                  <a:lnTo>
                    <a:pt x="29358" y="722423"/>
                  </a:lnTo>
                  <a:lnTo>
                    <a:pt x="7876" y="690562"/>
                  </a:lnTo>
                  <a:lnTo>
                    <a:pt x="0" y="651545"/>
                  </a:lnTo>
                  <a:lnTo>
                    <a:pt x="0" y="100235"/>
                  </a:lnTo>
                  <a:close/>
                </a:path>
              </a:pathLst>
            </a:custGeom>
            <a:ln w="8353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070931" y="5493890"/>
            <a:ext cx="2331085" cy="2260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00" b="1" dirty="0">
                <a:solidFill>
                  <a:srgbClr val="0F172A"/>
                </a:solidFill>
                <a:latin typeface="Times New Roman"/>
                <a:cs typeface="Times New Roman"/>
              </a:rPr>
              <a:t>Failure</a:t>
            </a:r>
            <a:r>
              <a:rPr sz="1300" b="1" spc="20" dirty="0">
                <a:solidFill>
                  <a:srgbClr val="0F172A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0F172A"/>
                </a:solidFill>
                <a:latin typeface="Times New Roman"/>
                <a:cs typeface="Times New Roman"/>
              </a:rPr>
              <a:t>Modes</a:t>
            </a:r>
            <a:r>
              <a:rPr sz="1300" b="1" spc="25" dirty="0">
                <a:solidFill>
                  <a:srgbClr val="0F172A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0F172A"/>
                </a:solidFill>
                <a:latin typeface="Times New Roman"/>
                <a:cs typeface="Times New Roman"/>
              </a:rPr>
              <a:t>Guarded</a:t>
            </a:r>
            <a:r>
              <a:rPr sz="1300" b="1" spc="20" dirty="0">
                <a:solidFill>
                  <a:srgbClr val="0F172A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0F172A"/>
                </a:solidFill>
                <a:latin typeface="Times New Roman"/>
                <a:cs typeface="Times New Roman"/>
              </a:rPr>
              <a:t>Against</a:t>
            </a:r>
            <a:endParaRPr sz="1300" dirty="0">
              <a:latin typeface="Times New Roman"/>
              <a:cs typeface="Times New Roman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425086" y="5300000"/>
            <a:ext cx="4519930" cy="760730"/>
            <a:chOff x="5425086" y="5300000"/>
            <a:chExt cx="4519930" cy="760730"/>
          </a:xfrm>
        </p:grpSpPr>
        <p:sp>
          <p:nvSpPr>
            <p:cNvPr id="35" name="object 35"/>
            <p:cNvSpPr/>
            <p:nvPr/>
          </p:nvSpPr>
          <p:spPr>
            <a:xfrm>
              <a:off x="5429532" y="5304444"/>
              <a:ext cx="4511040" cy="751840"/>
            </a:xfrm>
            <a:custGeom>
              <a:avLst/>
              <a:gdLst/>
              <a:ahLst/>
              <a:cxnLst/>
              <a:rect l="l" t="t" r="r" b="b"/>
              <a:pathLst>
                <a:path w="4511040" h="751839">
                  <a:moveTo>
                    <a:pt x="4410452" y="0"/>
                  </a:moveTo>
                  <a:lnTo>
                    <a:pt x="100234" y="0"/>
                  </a:lnTo>
                  <a:lnTo>
                    <a:pt x="61218" y="7877"/>
                  </a:lnTo>
                  <a:lnTo>
                    <a:pt x="29358" y="29358"/>
                  </a:lnTo>
                  <a:lnTo>
                    <a:pt x="7876" y="61219"/>
                  </a:lnTo>
                  <a:lnTo>
                    <a:pt x="0" y="100236"/>
                  </a:lnTo>
                  <a:lnTo>
                    <a:pt x="0" y="651546"/>
                  </a:lnTo>
                  <a:lnTo>
                    <a:pt x="7876" y="690562"/>
                  </a:lnTo>
                  <a:lnTo>
                    <a:pt x="29358" y="722423"/>
                  </a:lnTo>
                  <a:lnTo>
                    <a:pt x="61218" y="743904"/>
                  </a:lnTo>
                  <a:lnTo>
                    <a:pt x="100234" y="751781"/>
                  </a:lnTo>
                  <a:lnTo>
                    <a:pt x="4410452" y="751781"/>
                  </a:lnTo>
                  <a:lnTo>
                    <a:pt x="4449468" y="743904"/>
                  </a:lnTo>
                  <a:lnTo>
                    <a:pt x="4481328" y="722423"/>
                  </a:lnTo>
                  <a:lnTo>
                    <a:pt x="4502809" y="690562"/>
                  </a:lnTo>
                  <a:lnTo>
                    <a:pt x="4510686" y="651546"/>
                  </a:lnTo>
                  <a:lnTo>
                    <a:pt x="4510686" y="100236"/>
                  </a:lnTo>
                  <a:lnTo>
                    <a:pt x="4503056" y="61876"/>
                  </a:lnTo>
                  <a:lnTo>
                    <a:pt x="4481329" y="29358"/>
                  </a:lnTo>
                  <a:lnTo>
                    <a:pt x="4448810" y="7630"/>
                  </a:lnTo>
                  <a:lnTo>
                    <a:pt x="4410452" y="0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429531" y="5304445"/>
              <a:ext cx="4511040" cy="751840"/>
            </a:xfrm>
            <a:custGeom>
              <a:avLst/>
              <a:gdLst/>
              <a:ahLst/>
              <a:cxnLst/>
              <a:rect l="l" t="t" r="r" b="b"/>
              <a:pathLst>
                <a:path w="4511040" h="751839">
                  <a:moveTo>
                    <a:pt x="0" y="100235"/>
                  </a:moveTo>
                  <a:lnTo>
                    <a:pt x="7876" y="61219"/>
                  </a:lnTo>
                  <a:lnTo>
                    <a:pt x="29358" y="29358"/>
                  </a:lnTo>
                  <a:lnTo>
                    <a:pt x="61219" y="7876"/>
                  </a:lnTo>
                  <a:lnTo>
                    <a:pt x="100235" y="0"/>
                  </a:lnTo>
                  <a:lnTo>
                    <a:pt x="4410452" y="0"/>
                  </a:lnTo>
                  <a:lnTo>
                    <a:pt x="4448811" y="7629"/>
                  </a:lnTo>
                  <a:lnTo>
                    <a:pt x="4481329" y="29356"/>
                  </a:lnTo>
                  <a:lnTo>
                    <a:pt x="4503057" y="61876"/>
                  </a:lnTo>
                  <a:lnTo>
                    <a:pt x="4510687" y="100235"/>
                  </a:lnTo>
                  <a:lnTo>
                    <a:pt x="4510687" y="651545"/>
                  </a:lnTo>
                  <a:lnTo>
                    <a:pt x="4502810" y="690562"/>
                  </a:lnTo>
                  <a:lnTo>
                    <a:pt x="4481329" y="722423"/>
                  </a:lnTo>
                  <a:lnTo>
                    <a:pt x="4449468" y="743904"/>
                  </a:lnTo>
                  <a:lnTo>
                    <a:pt x="4410452" y="751781"/>
                  </a:lnTo>
                  <a:lnTo>
                    <a:pt x="100235" y="751781"/>
                  </a:lnTo>
                  <a:lnTo>
                    <a:pt x="61219" y="743904"/>
                  </a:lnTo>
                  <a:lnTo>
                    <a:pt x="29358" y="722423"/>
                  </a:lnTo>
                  <a:lnTo>
                    <a:pt x="7876" y="690562"/>
                  </a:lnTo>
                  <a:lnTo>
                    <a:pt x="0" y="651545"/>
                  </a:lnTo>
                  <a:lnTo>
                    <a:pt x="0" y="100235"/>
                  </a:lnTo>
                  <a:close/>
                </a:path>
              </a:pathLst>
            </a:custGeom>
            <a:ln w="8353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7502665" y="5493890"/>
            <a:ext cx="823594" cy="2260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00" b="1" spc="-10" dirty="0">
                <a:solidFill>
                  <a:srgbClr val="0F172A"/>
                </a:solidFill>
                <a:latin typeface="Times New Roman"/>
                <a:cs typeface="Times New Roman"/>
              </a:rPr>
              <a:t>Conclusion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751781" y="2405910"/>
            <a:ext cx="4511040" cy="518159"/>
            <a:chOff x="751781" y="2405910"/>
            <a:chExt cx="4511040" cy="518159"/>
          </a:xfrm>
        </p:grpSpPr>
        <p:sp>
          <p:nvSpPr>
            <p:cNvPr id="39" name="object 39"/>
            <p:cNvSpPr/>
            <p:nvPr/>
          </p:nvSpPr>
          <p:spPr>
            <a:xfrm>
              <a:off x="751781" y="2915450"/>
              <a:ext cx="4511040" cy="8890"/>
            </a:xfrm>
            <a:custGeom>
              <a:avLst/>
              <a:gdLst/>
              <a:ahLst/>
              <a:cxnLst/>
              <a:rect l="l" t="t" r="r" b="b"/>
              <a:pathLst>
                <a:path w="4511040" h="8889">
                  <a:moveTo>
                    <a:pt x="4510688" y="0"/>
                  </a:moveTo>
                  <a:lnTo>
                    <a:pt x="0" y="0"/>
                  </a:lnTo>
                  <a:lnTo>
                    <a:pt x="0" y="8353"/>
                  </a:lnTo>
                  <a:lnTo>
                    <a:pt x="4510688" y="8353"/>
                  </a:lnTo>
                  <a:lnTo>
                    <a:pt x="4510688" y="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0728" y="2405910"/>
              <a:ext cx="133649" cy="284006"/>
            </a:xfrm>
            <a:prstGeom prst="rect">
              <a:avLst/>
            </a:prstGeom>
          </p:spPr>
        </p:pic>
      </p:grpSp>
      <p:grpSp>
        <p:nvGrpSpPr>
          <p:cNvPr id="41" name="object 41"/>
          <p:cNvGrpSpPr/>
          <p:nvPr/>
        </p:nvGrpSpPr>
        <p:grpSpPr>
          <a:xfrm>
            <a:off x="5429531" y="2405910"/>
            <a:ext cx="4511040" cy="518159"/>
            <a:chOff x="5429531" y="2405910"/>
            <a:chExt cx="4511040" cy="518159"/>
          </a:xfrm>
        </p:grpSpPr>
        <p:sp>
          <p:nvSpPr>
            <p:cNvPr id="42" name="object 42"/>
            <p:cNvSpPr/>
            <p:nvPr/>
          </p:nvSpPr>
          <p:spPr>
            <a:xfrm>
              <a:off x="5429531" y="2915450"/>
              <a:ext cx="4511040" cy="8890"/>
            </a:xfrm>
            <a:custGeom>
              <a:avLst/>
              <a:gdLst/>
              <a:ahLst/>
              <a:cxnLst/>
              <a:rect l="l" t="t" r="r" b="b"/>
              <a:pathLst>
                <a:path w="4511040" h="8889">
                  <a:moveTo>
                    <a:pt x="4510688" y="0"/>
                  </a:moveTo>
                  <a:lnTo>
                    <a:pt x="0" y="0"/>
                  </a:lnTo>
                  <a:lnTo>
                    <a:pt x="0" y="8353"/>
                  </a:lnTo>
                  <a:lnTo>
                    <a:pt x="4510688" y="8353"/>
                  </a:lnTo>
                  <a:lnTo>
                    <a:pt x="4510688" y="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88478" y="2405910"/>
              <a:ext cx="167062" cy="284006"/>
            </a:xfrm>
            <a:prstGeom prst="rect">
              <a:avLst/>
            </a:prstGeom>
          </p:spPr>
        </p:pic>
      </p:grpSp>
      <p:grpSp>
        <p:nvGrpSpPr>
          <p:cNvPr id="44" name="object 44"/>
          <p:cNvGrpSpPr/>
          <p:nvPr/>
        </p:nvGrpSpPr>
        <p:grpSpPr>
          <a:xfrm>
            <a:off x="751781" y="3450051"/>
            <a:ext cx="4511040" cy="518159"/>
            <a:chOff x="751781" y="3450051"/>
            <a:chExt cx="4511040" cy="518159"/>
          </a:xfrm>
        </p:grpSpPr>
        <p:sp>
          <p:nvSpPr>
            <p:cNvPr id="45" name="object 45"/>
            <p:cNvSpPr/>
            <p:nvPr/>
          </p:nvSpPr>
          <p:spPr>
            <a:xfrm>
              <a:off x="751781" y="3959591"/>
              <a:ext cx="4511040" cy="8890"/>
            </a:xfrm>
            <a:custGeom>
              <a:avLst/>
              <a:gdLst/>
              <a:ahLst/>
              <a:cxnLst/>
              <a:rect l="l" t="t" r="r" b="b"/>
              <a:pathLst>
                <a:path w="4511040" h="8889">
                  <a:moveTo>
                    <a:pt x="4510688" y="0"/>
                  </a:moveTo>
                  <a:lnTo>
                    <a:pt x="0" y="0"/>
                  </a:lnTo>
                  <a:lnTo>
                    <a:pt x="0" y="8353"/>
                  </a:lnTo>
                  <a:lnTo>
                    <a:pt x="4510688" y="8353"/>
                  </a:lnTo>
                  <a:lnTo>
                    <a:pt x="4510688" y="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0728" y="3450051"/>
              <a:ext cx="167062" cy="284006"/>
            </a:xfrm>
            <a:prstGeom prst="rect">
              <a:avLst/>
            </a:prstGeom>
          </p:spPr>
        </p:pic>
      </p:grpSp>
      <p:grpSp>
        <p:nvGrpSpPr>
          <p:cNvPr id="47" name="object 47"/>
          <p:cNvGrpSpPr/>
          <p:nvPr/>
        </p:nvGrpSpPr>
        <p:grpSpPr>
          <a:xfrm>
            <a:off x="5429531" y="3450051"/>
            <a:ext cx="4511040" cy="518159"/>
            <a:chOff x="5429531" y="3450051"/>
            <a:chExt cx="4511040" cy="518159"/>
          </a:xfrm>
        </p:grpSpPr>
        <p:sp>
          <p:nvSpPr>
            <p:cNvPr id="48" name="object 48"/>
            <p:cNvSpPr/>
            <p:nvPr/>
          </p:nvSpPr>
          <p:spPr>
            <a:xfrm>
              <a:off x="5429531" y="3959591"/>
              <a:ext cx="4511040" cy="8890"/>
            </a:xfrm>
            <a:custGeom>
              <a:avLst/>
              <a:gdLst/>
              <a:ahLst/>
              <a:cxnLst/>
              <a:rect l="l" t="t" r="r" b="b"/>
              <a:pathLst>
                <a:path w="4511040" h="8889">
                  <a:moveTo>
                    <a:pt x="4510688" y="0"/>
                  </a:moveTo>
                  <a:lnTo>
                    <a:pt x="0" y="0"/>
                  </a:lnTo>
                  <a:lnTo>
                    <a:pt x="0" y="8353"/>
                  </a:lnTo>
                  <a:lnTo>
                    <a:pt x="4510688" y="8353"/>
                  </a:lnTo>
                  <a:lnTo>
                    <a:pt x="4510688" y="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88478" y="3450051"/>
              <a:ext cx="200474" cy="284006"/>
            </a:xfrm>
            <a:prstGeom prst="rect">
              <a:avLst/>
            </a:prstGeom>
          </p:spPr>
        </p:pic>
      </p:grpSp>
      <p:grpSp>
        <p:nvGrpSpPr>
          <p:cNvPr id="50" name="object 50"/>
          <p:cNvGrpSpPr/>
          <p:nvPr/>
        </p:nvGrpSpPr>
        <p:grpSpPr>
          <a:xfrm>
            <a:off x="751776" y="4494191"/>
            <a:ext cx="4511040" cy="1562382"/>
            <a:chOff x="751776" y="4494191"/>
            <a:chExt cx="4511040" cy="1562382"/>
          </a:xfrm>
        </p:grpSpPr>
        <p:sp>
          <p:nvSpPr>
            <p:cNvPr id="51" name="object 51"/>
            <p:cNvSpPr/>
            <p:nvPr/>
          </p:nvSpPr>
          <p:spPr>
            <a:xfrm>
              <a:off x="751776" y="5003743"/>
              <a:ext cx="4511040" cy="1052830"/>
            </a:xfrm>
            <a:custGeom>
              <a:avLst/>
              <a:gdLst/>
              <a:ahLst/>
              <a:cxnLst/>
              <a:rect l="l" t="t" r="r" b="b"/>
              <a:pathLst>
                <a:path w="4511040" h="1052829">
                  <a:moveTo>
                    <a:pt x="4510684" y="1044130"/>
                  </a:moveTo>
                  <a:lnTo>
                    <a:pt x="0" y="1044130"/>
                  </a:lnTo>
                  <a:lnTo>
                    <a:pt x="0" y="1052487"/>
                  </a:lnTo>
                  <a:lnTo>
                    <a:pt x="4510684" y="1052487"/>
                  </a:lnTo>
                  <a:lnTo>
                    <a:pt x="4510684" y="1044130"/>
                  </a:lnTo>
                  <a:close/>
                </a:path>
                <a:path w="4511040" h="1052829">
                  <a:moveTo>
                    <a:pt x="4510684" y="0"/>
                  </a:moveTo>
                  <a:lnTo>
                    <a:pt x="0" y="0"/>
                  </a:lnTo>
                  <a:lnTo>
                    <a:pt x="0" y="8343"/>
                  </a:lnTo>
                  <a:lnTo>
                    <a:pt x="4510684" y="8343"/>
                  </a:lnTo>
                  <a:lnTo>
                    <a:pt x="4510684" y="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10728" y="4494191"/>
              <a:ext cx="167062" cy="284006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10728" y="5538332"/>
              <a:ext cx="167062" cy="284006"/>
            </a:xfrm>
            <a:prstGeom prst="rect">
              <a:avLst/>
            </a:prstGeom>
          </p:spPr>
        </p:pic>
      </p:grpSp>
      <p:grpSp>
        <p:nvGrpSpPr>
          <p:cNvPr id="54" name="object 54"/>
          <p:cNvGrpSpPr/>
          <p:nvPr/>
        </p:nvGrpSpPr>
        <p:grpSpPr>
          <a:xfrm>
            <a:off x="5429531" y="4494191"/>
            <a:ext cx="4511040" cy="518159"/>
            <a:chOff x="5429531" y="4494191"/>
            <a:chExt cx="4511040" cy="518159"/>
          </a:xfrm>
        </p:grpSpPr>
        <p:sp>
          <p:nvSpPr>
            <p:cNvPr id="55" name="object 55"/>
            <p:cNvSpPr/>
            <p:nvPr/>
          </p:nvSpPr>
          <p:spPr>
            <a:xfrm>
              <a:off x="5429531" y="5003732"/>
              <a:ext cx="4511040" cy="8890"/>
            </a:xfrm>
            <a:custGeom>
              <a:avLst/>
              <a:gdLst/>
              <a:ahLst/>
              <a:cxnLst/>
              <a:rect l="l" t="t" r="r" b="b"/>
              <a:pathLst>
                <a:path w="4511040" h="8889">
                  <a:moveTo>
                    <a:pt x="4510688" y="0"/>
                  </a:moveTo>
                  <a:lnTo>
                    <a:pt x="0" y="0"/>
                  </a:lnTo>
                  <a:lnTo>
                    <a:pt x="0" y="8353"/>
                  </a:lnTo>
                  <a:lnTo>
                    <a:pt x="4510688" y="8353"/>
                  </a:lnTo>
                  <a:lnTo>
                    <a:pt x="4510688" y="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88478" y="4494191"/>
              <a:ext cx="175415" cy="284006"/>
            </a:xfrm>
            <a:prstGeom prst="rect">
              <a:avLst/>
            </a:prstGeom>
          </p:spPr>
        </p:pic>
      </p:grpSp>
      <p:grpSp>
        <p:nvGrpSpPr>
          <p:cNvPr id="57" name="object 57"/>
          <p:cNvGrpSpPr/>
          <p:nvPr/>
        </p:nvGrpSpPr>
        <p:grpSpPr>
          <a:xfrm>
            <a:off x="5429531" y="5538332"/>
            <a:ext cx="4511040" cy="518159"/>
            <a:chOff x="5429531" y="5538332"/>
            <a:chExt cx="4511040" cy="518159"/>
          </a:xfrm>
        </p:grpSpPr>
        <p:sp>
          <p:nvSpPr>
            <p:cNvPr id="58" name="object 58"/>
            <p:cNvSpPr/>
            <p:nvPr/>
          </p:nvSpPr>
          <p:spPr>
            <a:xfrm>
              <a:off x="5429531" y="6047872"/>
              <a:ext cx="4511040" cy="8890"/>
            </a:xfrm>
            <a:custGeom>
              <a:avLst/>
              <a:gdLst/>
              <a:ahLst/>
              <a:cxnLst/>
              <a:rect l="l" t="t" r="r" b="b"/>
              <a:pathLst>
                <a:path w="4511040" h="8889">
                  <a:moveTo>
                    <a:pt x="4510688" y="0"/>
                  </a:moveTo>
                  <a:lnTo>
                    <a:pt x="0" y="0"/>
                  </a:lnTo>
                  <a:lnTo>
                    <a:pt x="0" y="8353"/>
                  </a:lnTo>
                  <a:lnTo>
                    <a:pt x="4510688" y="8353"/>
                  </a:lnTo>
                  <a:lnTo>
                    <a:pt x="4510688" y="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88478" y="5538332"/>
              <a:ext cx="167062" cy="28400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609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solidFill>
                  <a:schemeClr val="accent5">
                    <a:lumMod val="75000"/>
                  </a:schemeClr>
                </a:solidFill>
              </a:rPr>
              <a:t>Introduction</a:t>
            </a:r>
            <a:r>
              <a:rPr spc="-2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dirty="0">
                <a:solidFill>
                  <a:schemeClr val="accent5">
                    <a:lumMod val="75000"/>
                  </a:schemeClr>
                </a:solidFill>
              </a:rPr>
              <a:t>to</a:t>
            </a:r>
            <a:r>
              <a:rPr spc="-15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dirty="0">
                <a:solidFill>
                  <a:schemeClr val="accent5">
                    <a:lumMod val="75000"/>
                  </a:schemeClr>
                </a:solidFill>
              </a:rPr>
              <a:t>Tailings</a:t>
            </a:r>
            <a:r>
              <a:rPr spc="-15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spc="-20" dirty="0">
                <a:solidFill>
                  <a:schemeClr val="accent5">
                    <a:lumMod val="75000"/>
                  </a:schemeClr>
                </a:solidFill>
              </a:rPr>
              <a:t>Dams</a:t>
            </a:r>
          </a:p>
        </p:txBody>
      </p:sp>
      <p:sp>
        <p:nvSpPr>
          <p:cNvPr id="7" name="object 7"/>
          <p:cNvSpPr/>
          <p:nvPr/>
        </p:nvSpPr>
        <p:spPr>
          <a:xfrm>
            <a:off x="501187" y="1775249"/>
            <a:ext cx="5480050" cy="41910"/>
          </a:xfrm>
          <a:custGeom>
            <a:avLst/>
            <a:gdLst/>
            <a:ahLst/>
            <a:cxnLst/>
            <a:rect l="l" t="t" r="r" b="b"/>
            <a:pathLst>
              <a:path w="5480050" h="41910">
                <a:moveTo>
                  <a:pt x="5479649" y="0"/>
                </a:moveTo>
                <a:lnTo>
                  <a:pt x="0" y="0"/>
                </a:lnTo>
                <a:lnTo>
                  <a:pt x="0" y="41765"/>
                </a:lnTo>
                <a:lnTo>
                  <a:pt x="5479649" y="41765"/>
                </a:lnTo>
                <a:lnTo>
                  <a:pt x="5479649" y="0"/>
                </a:lnTo>
                <a:close/>
              </a:path>
            </a:pathLst>
          </a:custGeom>
          <a:solidFill>
            <a:srgbClr val="B453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05431" y="2409825"/>
            <a:ext cx="4377055" cy="383124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96215" indent="-183515">
              <a:lnSpc>
                <a:spcPct val="100000"/>
              </a:lnSpc>
              <a:spcBef>
                <a:spcPts val="114"/>
              </a:spcBef>
              <a:buChar char="•"/>
              <a:tabLst>
                <a:tab pos="196215" algn="l"/>
              </a:tabLst>
            </a:pPr>
            <a:r>
              <a:rPr sz="1600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1600" spc="1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1"/>
                </a:solidFill>
                <a:latin typeface="Times New Roman"/>
                <a:cs typeface="Times New Roman"/>
              </a:rPr>
              <a:t>specialized</a:t>
            </a:r>
            <a:r>
              <a:rPr sz="1600" spc="2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Times New Roman"/>
                <a:cs typeface="Times New Roman"/>
              </a:rPr>
              <a:t>earth-</a:t>
            </a:r>
            <a:r>
              <a:rPr sz="1600" dirty="0">
                <a:solidFill>
                  <a:schemeClr val="bg1"/>
                </a:solidFill>
                <a:latin typeface="Times New Roman"/>
                <a:cs typeface="Times New Roman"/>
              </a:rPr>
              <a:t>fill</a:t>
            </a:r>
            <a:r>
              <a:rPr sz="1600" spc="2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1"/>
                </a:solidFill>
                <a:latin typeface="Times New Roman"/>
                <a:cs typeface="Times New Roman"/>
              </a:rPr>
              <a:t>embankment</a:t>
            </a:r>
            <a:r>
              <a:rPr sz="1600" spc="2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1"/>
                </a:solidFill>
                <a:latin typeface="Times New Roman"/>
                <a:cs typeface="Times New Roman"/>
              </a:rPr>
              <a:t>dam</a:t>
            </a:r>
            <a:r>
              <a:rPr sz="1600" spc="1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1"/>
                </a:solidFill>
                <a:latin typeface="Times New Roman"/>
                <a:cs typeface="Times New Roman"/>
              </a:rPr>
              <a:t>built</a:t>
            </a:r>
            <a:r>
              <a:rPr sz="1600" spc="2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1"/>
                </a:solidFill>
                <a:latin typeface="Times New Roman"/>
                <a:cs typeface="Times New Roman"/>
              </a:rPr>
              <a:t>to</a:t>
            </a:r>
            <a:r>
              <a:rPr sz="1600" spc="2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1"/>
                </a:solidFill>
                <a:latin typeface="Times New Roman"/>
                <a:cs typeface="Times New Roman"/>
              </a:rPr>
              <a:t>store</a:t>
            </a:r>
            <a:r>
              <a:rPr sz="1600" spc="2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chemeClr val="bg1"/>
                </a:solidFill>
                <a:latin typeface="Times New Roman"/>
                <a:cs typeface="Times New Roman"/>
              </a:rPr>
              <a:t>the</a:t>
            </a:r>
            <a:endParaRPr sz="16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196215">
              <a:lnSpc>
                <a:spcPct val="100000"/>
              </a:lnSpc>
              <a:spcBef>
                <a:spcPts val="965"/>
              </a:spcBef>
            </a:pPr>
            <a:r>
              <a:rPr sz="1600" dirty="0">
                <a:solidFill>
                  <a:schemeClr val="bg1"/>
                </a:solidFill>
                <a:latin typeface="Times New Roman"/>
                <a:cs typeface="Times New Roman"/>
              </a:rPr>
              <a:t>leftover</a:t>
            </a:r>
            <a:r>
              <a:rPr sz="1600" spc="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1"/>
                </a:solidFill>
                <a:latin typeface="Times New Roman"/>
                <a:cs typeface="Times New Roman"/>
              </a:rPr>
              <a:t>materials</a:t>
            </a:r>
            <a:r>
              <a:rPr sz="1600" spc="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1"/>
                </a:solidFill>
                <a:latin typeface="Times New Roman"/>
                <a:cs typeface="Times New Roman"/>
              </a:rPr>
              <a:t>(tailings)</a:t>
            </a:r>
            <a:r>
              <a:rPr sz="1600" spc="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1"/>
                </a:solidFill>
                <a:latin typeface="Times New Roman"/>
                <a:cs typeface="Times New Roman"/>
              </a:rPr>
              <a:t>and</a:t>
            </a:r>
            <a:r>
              <a:rPr sz="1600" spc="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1"/>
                </a:solidFill>
                <a:latin typeface="Times New Roman"/>
                <a:cs typeface="Times New Roman"/>
              </a:rPr>
              <a:t>water</a:t>
            </a:r>
            <a:r>
              <a:rPr sz="1600" spc="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1"/>
                </a:solidFill>
                <a:latin typeface="Times New Roman"/>
                <a:cs typeface="Times New Roman"/>
              </a:rPr>
              <a:t>from</a:t>
            </a:r>
            <a:r>
              <a:rPr sz="1600" spc="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1"/>
                </a:solidFill>
                <a:latin typeface="Times New Roman"/>
                <a:cs typeface="Times New Roman"/>
              </a:rPr>
              <a:t>mining</a:t>
            </a:r>
            <a:r>
              <a:rPr sz="1600" spc="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Times New Roman"/>
                <a:cs typeface="Times New Roman"/>
              </a:rPr>
              <a:t>operation.</a:t>
            </a:r>
            <a:endParaRPr sz="16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16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196215" marR="332740" indent="-184150">
              <a:lnSpc>
                <a:spcPct val="161900"/>
              </a:lnSpc>
              <a:buChar char="•"/>
              <a:tabLst>
                <a:tab pos="196215" algn="l"/>
              </a:tabLst>
            </a:pPr>
            <a:r>
              <a:rPr sz="1600" dirty="0">
                <a:solidFill>
                  <a:schemeClr val="bg1"/>
                </a:solidFill>
                <a:latin typeface="Times New Roman"/>
                <a:cs typeface="Times New Roman"/>
              </a:rPr>
              <a:t>The</a:t>
            </a:r>
            <a:r>
              <a:rPr sz="1600" spc="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1"/>
                </a:solidFill>
                <a:latin typeface="Times New Roman"/>
                <a:cs typeface="Times New Roman"/>
              </a:rPr>
              <a:t>primary</a:t>
            </a:r>
            <a:r>
              <a:rPr sz="1600" spc="1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1"/>
                </a:solidFill>
                <a:latin typeface="Times New Roman"/>
                <a:cs typeface="Times New Roman"/>
              </a:rPr>
              <a:t>purpose</a:t>
            </a:r>
            <a:r>
              <a:rPr sz="1600" spc="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1"/>
                </a:solidFill>
                <a:latin typeface="Times New Roman"/>
                <a:cs typeface="Times New Roman"/>
              </a:rPr>
              <a:t>of</a:t>
            </a:r>
            <a:r>
              <a:rPr sz="1600" spc="1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1"/>
                </a:solidFill>
                <a:latin typeface="Times New Roman"/>
                <a:cs typeface="Times New Roman"/>
              </a:rPr>
              <a:t>monitoring</a:t>
            </a:r>
            <a:r>
              <a:rPr sz="1600" spc="1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1"/>
                </a:solidFill>
                <a:latin typeface="Times New Roman"/>
                <a:cs typeface="Times New Roman"/>
              </a:rPr>
              <a:t>is</a:t>
            </a:r>
            <a:r>
              <a:rPr sz="1600" spc="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1"/>
                </a:solidFill>
                <a:latin typeface="Times New Roman"/>
                <a:cs typeface="Times New Roman"/>
              </a:rPr>
              <a:t>to</a:t>
            </a:r>
            <a:r>
              <a:rPr sz="1600" spc="1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1"/>
                </a:solidFill>
                <a:latin typeface="Times New Roman"/>
                <a:cs typeface="Times New Roman"/>
              </a:rPr>
              <a:t>ensure</a:t>
            </a:r>
            <a:r>
              <a:rPr sz="1600" spc="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Times New Roman"/>
                <a:cs typeface="Times New Roman"/>
              </a:rPr>
              <a:t>structural </a:t>
            </a:r>
            <a:r>
              <a:rPr sz="1600" dirty="0">
                <a:solidFill>
                  <a:schemeClr val="bg1"/>
                </a:solidFill>
                <a:latin typeface="Times New Roman"/>
                <a:cs typeface="Times New Roman"/>
              </a:rPr>
              <a:t>stability</a:t>
            </a:r>
            <a:r>
              <a:rPr sz="1600" spc="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1"/>
                </a:solidFill>
                <a:latin typeface="Times New Roman"/>
                <a:cs typeface="Times New Roman"/>
              </a:rPr>
              <a:t>and</a:t>
            </a:r>
            <a:r>
              <a:rPr sz="1600" spc="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1"/>
                </a:solidFill>
                <a:latin typeface="Times New Roman"/>
                <a:cs typeface="Times New Roman"/>
              </a:rPr>
              <a:t>prevent</a:t>
            </a:r>
            <a:r>
              <a:rPr sz="1600" spc="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1"/>
                </a:solidFill>
                <a:latin typeface="Times New Roman"/>
                <a:cs typeface="Times New Roman"/>
              </a:rPr>
              <a:t>catastrophic</a:t>
            </a:r>
            <a:r>
              <a:rPr sz="1600" spc="1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Times New Roman"/>
                <a:cs typeface="Times New Roman"/>
              </a:rPr>
              <a:t>breaches.</a:t>
            </a:r>
            <a:endParaRPr sz="16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196215" marR="5080" indent="-184150">
              <a:lnSpc>
                <a:spcPct val="161900"/>
              </a:lnSpc>
              <a:spcBef>
                <a:spcPts val="145"/>
              </a:spcBef>
              <a:buChar char="•"/>
              <a:tabLst>
                <a:tab pos="196215" algn="l"/>
              </a:tabLst>
            </a:pPr>
            <a:r>
              <a:rPr sz="1600" dirty="0">
                <a:solidFill>
                  <a:schemeClr val="bg1"/>
                </a:solidFill>
                <a:latin typeface="Times New Roman"/>
                <a:cs typeface="Times New Roman"/>
              </a:rPr>
              <a:t>Constant</a:t>
            </a:r>
            <a:r>
              <a:rPr sz="1600" spc="2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1"/>
                </a:solidFill>
                <a:latin typeface="Times New Roman"/>
                <a:cs typeface="Times New Roman"/>
              </a:rPr>
              <a:t>oversight</a:t>
            </a:r>
            <a:r>
              <a:rPr sz="1600" spc="2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1"/>
                </a:solidFill>
                <a:latin typeface="Times New Roman"/>
                <a:cs typeface="Times New Roman"/>
              </a:rPr>
              <a:t>ensures</a:t>
            </a:r>
            <a:r>
              <a:rPr sz="1600" spc="2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1"/>
                </a:solidFill>
                <a:latin typeface="Times New Roman"/>
                <a:cs typeface="Times New Roman"/>
              </a:rPr>
              <a:t>that</a:t>
            </a:r>
            <a:r>
              <a:rPr sz="1600" spc="2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1"/>
                </a:solidFill>
                <a:latin typeface="Times New Roman"/>
                <a:cs typeface="Times New Roman"/>
              </a:rPr>
              <a:t>contaminated</a:t>
            </a:r>
            <a:r>
              <a:rPr sz="1600" spc="2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1"/>
                </a:solidFill>
                <a:latin typeface="Times New Roman"/>
                <a:cs typeface="Times New Roman"/>
              </a:rPr>
              <a:t>water</a:t>
            </a:r>
            <a:r>
              <a:rPr sz="1600" spc="2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1"/>
                </a:solidFill>
                <a:latin typeface="Times New Roman"/>
                <a:cs typeface="Times New Roman"/>
              </a:rPr>
              <a:t>and</a:t>
            </a:r>
            <a:r>
              <a:rPr sz="1600" spc="2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Times New Roman"/>
                <a:cs typeface="Times New Roman"/>
              </a:rPr>
              <a:t>heavy </a:t>
            </a:r>
            <a:r>
              <a:rPr sz="1600" dirty="0">
                <a:solidFill>
                  <a:schemeClr val="bg1"/>
                </a:solidFill>
                <a:latin typeface="Times New Roman"/>
                <a:cs typeface="Times New Roman"/>
              </a:rPr>
              <a:t>metals</a:t>
            </a:r>
            <a:r>
              <a:rPr sz="1600" spc="1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1"/>
                </a:solidFill>
                <a:latin typeface="Times New Roman"/>
                <a:cs typeface="Times New Roman"/>
              </a:rPr>
              <a:t>do</a:t>
            </a:r>
            <a:r>
              <a:rPr sz="1600" spc="2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1"/>
                </a:solidFill>
                <a:latin typeface="Times New Roman"/>
                <a:cs typeface="Times New Roman"/>
              </a:rPr>
              <a:t>not</a:t>
            </a:r>
            <a:r>
              <a:rPr sz="1600" spc="1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1"/>
                </a:solidFill>
                <a:latin typeface="Times New Roman"/>
                <a:cs typeface="Times New Roman"/>
              </a:rPr>
              <a:t>escape</a:t>
            </a:r>
            <a:r>
              <a:rPr sz="1600" spc="2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1"/>
                </a:solidFill>
                <a:latin typeface="Times New Roman"/>
                <a:cs typeface="Times New Roman"/>
              </a:rPr>
              <a:t>into</a:t>
            </a:r>
            <a:r>
              <a:rPr sz="1600" spc="2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1"/>
                </a:solidFill>
                <a:latin typeface="Times New Roman"/>
                <a:cs typeface="Times New Roman"/>
              </a:rPr>
              <a:t>the</a:t>
            </a:r>
            <a:r>
              <a:rPr sz="1600" spc="1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chemeClr val="bg1"/>
                </a:solidFill>
                <a:latin typeface="Times New Roman"/>
                <a:cs typeface="Times New Roman"/>
              </a:rPr>
              <a:t>surrounding</a:t>
            </a:r>
            <a:r>
              <a:rPr sz="1600" spc="2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Times New Roman"/>
                <a:cs typeface="Times New Roman"/>
              </a:rPr>
              <a:t>ecosystem.</a:t>
            </a:r>
            <a:endParaRPr sz="160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54828" y="2506147"/>
            <a:ext cx="4635985" cy="3341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object 3">
            <a:extLst>
              <a:ext uri="{FF2B5EF4-FFF2-40B4-BE49-F238E27FC236}">
                <a16:creationId xmlns:a16="http://schemas.microsoft.com/office/drawing/2014/main" id="{36C1945E-0352-3FB2-23F3-24BE7162B85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42057" y="2627268"/>
            <a:ext cx="3062855" cy="3099009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1187" y="2627268"/>
            <a:ext cx="3062855" cy="309900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4636" y="2627268"/>
            <a:ext cx="3062855" cy="3099009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609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solidFill>
                  <a:schemeClr val="accent5">
                    <a:lumMod val="75000"/>
                  </a:schemeClr>
                </a:solidFill>
              </a:rPr>
              <a:t>Standard</a:t>
            </a:r>
            <a:r>
              <a:rPr spc="-25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dirty="0">
                <a:solidFill>
                  <a:schemeClr val="accent5">
                    <a:lumMod val="75000"/>
                  </a:schemeClr>
                </a:solidFill>
              </a:rPr>
              <a:t>Monitoring</a:t>
            </a:r>
            <a:r>
              <a:rPr spc="-10" dirty="0">
                <a:solidFill>
                  <a:schemeClr val="accent5">
                    <a:lumMod val="75000"/>
                  </a:schemeClr>
                </a:solidFill>
              </a:rPr>
              <a:t> Methods</a:t>
            </a:r>
          </a:p>
        </p:txBody>
      </p:sp>
      <p:sp>
        <p:nvSpPr>
          <p:cNvPr id="9" name="object 9"/>
          <p:cNvSpPr/>
          <p:nvPr/>
        </p:nvSpPr>
        <p:spPr>
          <a:xfrm>
            <a:off x="501187" y="1775249"/>
            <a:ext cx="5530215" cy="41910"/>
          </a:xfrm>
          <a:custGeom>
            <a:avLst/>
            <a:gdLst/>
            <a:ahLst/>
            <a:cxnLst/>
            <a:rect l="l" t="t" r="r" b="b"/>
            <a:pathLst>
              <a:path w="5530215" h="41910">
                <a:moveTo>
                  <a:pt x="5529769" y="0"/>
                </a:moveTo>
                <a:lnTo>
                  <a:pt x="0" y="0"/>
                </a:lnTo>
                <a:lnTo>
                  <a:pt x="0" y="41765"/>
                </a:lnTo>
                <a:lnTo>
                  <a:pt x="5529769" y="41765"/>
                </a:lnTo>
                <a:lnTo>
                  <a:pt x="5529769" y="0"/>
                </a:lnTo>
                <a:close/>
              </a:path>
            </a:pathLst>
          </a:custGeom>
          <a:solidFill>
            <a:srgbClr val="B4530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1656659" y="2969746"/>
            <a:ext cx="751840" cy="751840"/>
            <a:chOff x="1656659" y="2969746"/>
            <a:chExt cx="751840" cy="75184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56659" y="2969746"/>
              <a:ext cx="751781" cy="75178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36251" y="3170221"/>
              <a:ext cx="392596" cy="350831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813284" y="3867872"/>
            <a:ext cx="2437130" cy="13874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1E293B"/>
                </a:solidFill>
                <a:latin typeface="Times New Roman"/>
                <a:cs typeface="Times New Roman"/>
              </a:rPr>
              <a:t>Visual</a:t>
            </a:r>
            <a:r>
              <a:rPr sz="1550" b="1" spc="65" dirty="0">
                <a:solidFill>
                  <a:srgbClr val="1E293B"/>
                </a:solidFill>
                <a:latin typeface="Times New Roman"/>
                <a:cs typeface="Times New Roman"/>
              </a:rPr>
              <a:t> </a:t>
            </a:r>
            <a:r>
              <a:rPr sz="1550" b="1" spc="-10" dirty="0">
                <a:solidFill>
                  <a:srgbClr val="1E293B"/>
                </a:solidFill>
                <a:latin typeface="Times New Roman"/>
                <a:cs typeface="Times New Roman"/>
              </a:rPr>
              <a:t>Inspections</a:t>
            </a:r>
            <a:endParaRPr sz="1550">
              <a:latin typeface="Times New Roman"/>
              <a:cs typeface="Times New Roman"/>
            </a:endParaRPr>
          </a:p>
          <a:p>
            <a:pPr marL="12065" marR="5080" indent="-635" algn="ctr">
              <a:lnSpc>
                <a:spcPct val="154400"/>
              </a:lnSpc>
              <a:spcBef>
                <a:spcPts val="305"/>
              </a:spcBef>
            </a:pP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Engineers</a:t>
            </a:r>
            <a:r>
              <a:rPr sz="1150" spc="5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physically</a:t>
            </a:r>
            <a:r>
              <a:rPr sz="1150" spc="5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walk</a:t>
            </a:r>
            <a:r>
              <a:rPr sz="1150" spc="5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the</a:t>
            </a:r>
            <a:r>
              <a:rPr sz="1150" spc="5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spc="-20" dirty="0">
                <a:solidFill>
                  <a:srgbClr val="374151"/>
                </a:solidFill>
                <a:latin typeface="Times New Roman"/>
                <a:cs typeface="Times New Roman"/>
              </a:rPr>
              <a:t>site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looking</a:t>
            </a:r>
            <a:r>
              <a:rPr sz="1150" spc="4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for</a:t>
            </a:r>
            <a:r>
              <a:rPr sz="1150" spc="4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early</a:t>
            </a:r>
            <a:r>
              <a:rPr sz="1150" spc="5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warning</a:t>
            </a:r>
            <a:r>
              <a:rPr sz="1150" spc="4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signs</a:t>
            </a:r>
            <a:r>
              <a:rPr sz="1150" spc="5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spc="-20" dirty="0">
                <a:solidFill>
                  <a:srgbClr val="374151"/>
                </a:solidFill>
                <a:latin typeface="Times New Roman"/>
                <a:cs typeface="Times New Roman"/>
              </a:rPr>
              <a:t>like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cracks,</a:t>
            </a:r>
            <a:r>
              <a:rPr sz="1150" spc="5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bulging</a:t>
            </a:r>
            <a:r>
              <a:rPr sz="1150" spc="5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walls</a:t>
            </a:r>
            <a:r>
              <a:rPr sz="1150" spc="5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or</a:t>
            </a:r>
            <a:r>
              <a:rPr sz="1150" spc="5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unexpected</a:t>
            </a:r>
            <a:r>
              <a:rPr sz="1150" spc="5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spc="-25" dirty="0">
                <a:solidFill>
                  <a:srgbClr val="374151"/>
                </a:solidFill>
                <a:latin typeface="Times New Roman"/>
                <a:cs typeface="Times New Roman"/>
              </a:rPr>
              <a:t>wet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spots</a:t>
            </a:r>
            <a:r>
              <a:rPr sz="1150" spc="3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on</a:t>
            </a:r>
            <a:r>
              <a:rPr sz="1150" spc="3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the</a:t>
            </a:r>
            <a:r>
              <a:rPr sz="1150" spc="3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dam</a:t>
            </a:r>
            <a:r>
              <a:rPr sz="1150" spc="3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374151"/>
                </a:solidFill>
                <a:latin typeface="Times New Roman"/>
                <a:cs typeface="Times New Roman"/>
              </a:rPr>
              <a:t>embankment.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970109" y="2969746"/>
            <a:ext cx="751840" cy="751840"/>
            <a:chOff x="4970109" y="2969746"/>
            <a:chExt cx="751840" cy="751840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70109" y="2969746"/>
              <a:ext cx="751781" cy="75178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12350" y="3170221"/>
              <a:ext cx="267299" cy="350831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4070460" y="3867872"/>
            <a:ext cx="2549525" cy="13874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1E293B"/>
                </a:solidFill>
                <a:latin typeface="Times New Roman"/>
                <a:cs typeface="Times New Roman"/>
              </a:rPr>
              <a:t>Groundwater</a:t>
            </a:r>
            <a:r>
              <a:rPr sz="1550" b="1" spc="90" dirty="0">
                <a:solidFill>
                  <a:srgbClr val="1E293B"/>
                </a:solidFill>
                <a:latin typeface="Times New Roman"/>
                <a:cs typeface="Times New Roman"/>
              </a:rPr>
              <a:t> </a:t>
            </a:r>
            <a:r>
              <a:rPr sz="1550" b="1" spc="-10" dirty="0">
                <a:solidFill>
                  <a:srgbClr val="1E293B"/>
                </a:solidFill>
                <a:latin typeface="Times New Roman"/>
                <a:cs typeface="Times New Roman"/>
              </a:rPr>
              <a:t>Logging</a:t>
            </a:r>
            <a:endParaRPr sz="1550">
              <a:latin typeface="Times New Roman"/>
              <a:cs typeface="Times New Roman"/>
            </a:endParaRPr>
          </a:p>
          <a:p>
            <a:pPr marL="12700" marR="5080" indent="-635" algn="ctr">
              <a:lnSpc>
                <a:spcPct val="154400"/>
              </a:lnSpc>
              <a:spcBef>
                <a:spcPts val="305"/>
              </a:spcBef>
            </a:pP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Utilizing</a:t>
            </a:r>
            <a:r>
              <a:rPr sz="1150" spc="4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boreholes</a:t>
            </a:r>
            <a:r>
              <a:rPr sz="1150" spc="4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around</a:t>
            </a:r>
            <a:r>
              <a:rPr sz="1150" spc="4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the</a:t>
            </a:r>
            <a:r>
              <a:rPr sz="1150" spc="4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site</a:t>
            </a:r>
            <a:r>
              <a:rPr sz="1150" spc="4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spc="-25" dirty="0">
                <a:solidFill>
                  <a:srgbClr val="374151"/>
                </a:solidFill>
                <a:latin typeface="Times New Roman"/>
                <a:cs typeface="Times New Roman"/>
              </a:rPr>
              <a:t>to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perform</a:t>
            </a:r>
            <a:r>
              <a:rPr sz="1150" spc="6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regular</a:t>
            </a:r>
            <a:r>
              <a:rPr sz="1150" spc="6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water</a:t>
            </a:r>
            <a:r>
              <a:rPr sz="1150" spc="6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sampling,</a:t>
            </a:r>
            <a:r>
              <a:rPr sz="1150" spc="6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374151"/>
                </a:solidFill>
                <a:latin typeface="Times New Roman"/>
                <a:cs typeface="Times New Roman"/>
              </a:rPr>
              <a:t>checking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if</a:t>
            </a:r>
            <a:r>
              <a:rPr sz="1150" spc="4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contaminated</a:t>
            </a:r>
            <a:r>
              <a:rPr sz="1150" spc="4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seepage</a:t>
            </a:r>
            <a:r>
              <a:rPr sz="1150" spc="4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is</a:t>
            </a:r>
            <a:r>
              <a:rPr sz="1150" spc="4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reaching</a:t>
            </a:r>
            <a:r>
              <a:rPr sz="1150" spc="4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spc="-20" dirty="0">
                <a:solidFill>
                  <a:srgbClr val="374151"/>
                </a:solidFill>
                <a:latin typeface="Times New Roman"/>
                <a:cs typeface="Times New Roman"/>
              </a:rPr>
              <a:t>local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groundwater</a:t>
            </a:r>
            <a:r>
              <a:rPr sz="1150" spc="9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374151"/>
                </a:solidFill>
                <a:latin typeface="Times New Roman"/>
                <a:cs typeface="Times New Roman"/>
              </a:rPr>
              <a:t>networks.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283558" y="2969746"/>
            <a:ext cx="751840" cy="751840"/>
            <a:chOff x="8283558" y="2969746"/>
            <a:chExt cx="751840" cy="751840"/>
          </a:xfrm>
        </p:grpSpPr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283558" y="2969746"/>
              <a:ext cx="751781" cy="75178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484034" y="3170221"/>
              <a:ext cx="350831" cy="350831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7379725" y="3867872"/>
            <a:ext cx="2557780" cy="13874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1E293B"/>
                </a:solidFill>
                <a:latin typeface="Times New Roman"/>
                <a:cs typeface="Times New Roman"/>
              </a:rPr>
              <a:t>Physical</a:t>
            </a:r>
            <a:r>
              <a:rPr sz="1550" b="1" spc="80" dirty="0">
                <a:solidFill>
                  <a:srgbClr val="1E293B"/>
                </a:solidFill>
                <a:latin typeface="Times New Roman"/>
                <a:cs typeface="Times New Roman"/>
              </a:rPr>
              <a:t> </a:t>
            </a:r>
            <a:r>
              <a:rPr sz="1550" b="1" spc="-10" dirty="0">
                <a:solidFill>
                  <a:srgbClr val="1E293B"/>
                </a:solidFill>
                <a:latin typeface="Times New Roman"/>
                <a:cs typeface="Times New Roman"/>
              </a:rPr>
              <a:t>Surveying</a:t>
            </a:r>
            <a:endParaRPr sz="1550">
              <a:latin typeface="Times New Roman"/>
              <a:cs typeface="Times New Roman"/>
            </a:endParaRPr>
          </a:p>
          <a:p>
            <a:pPr marL="12065" marR="5080" algn="ctr">
              <a:lnSpc>
                <a:spcPct val="154400"/>
              </a:lnSpc>
              <a:spcBef>
                <a:spcPts val="305"/>
              </a:spcBef>
            </a:pP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Using</a:t>
            </a:r>
            <a:r>
              <a:rPr sz="1150" spc="4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piezometers</a:t>
            </a:r>
            <a:r>
              <a:rPr sz="1150" spc="4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to</a:t>
            </a:r>
            <a:r>
              <a:rPr sz="1150" spc="5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check</a:t>
            </a:r>
            <a:r>
              <a:rPr sz="1150" spc="4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internal</a:t>
            </a:r>
            <a:r>
              <a:rPr sz="1150" spc="5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spc="-20" dirty="0">
                <a:solidFill>
                  <a:srgbClr val="374151"/>
                </a:solidFill>
                <a:latin typeface="Times New Roman"/>
                <a:cs typeface="Times New Roman"/>
              </a:rPr>
              <a:t>water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pressure,</a:t>
            </a:r>
            <a:r>
              <a:rPr sz="1150" spc="6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and</a:t>
            </a:r>
            <a:r>
              <a:rPr sz="1150" spc="6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survey</a:t>
            </a:r>
            <a:r>
              <a:rPr sz="1150" spc="6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monuments</a:t>
            </a:r>
            <a:r>
              <a:rPr sz="1150" spc="7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spc="-25" dirty="0">
                <a:solidFill>
                  <a:srgbClr val="374151"/>
                </a:solidFill>
                <a:latin typeface="Times New Roman"/>
                <a:cs typeface="Times New Roman"/>
              </a:rPr>
              <a:t>to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measure</a:t>
            </a:r>
            <a:r>
              <a:rPr sz="1150" spc="3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if</a:t>
            </a:r>
            <a:r>
              <a:rPr sz="1150" spc="3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the</a:t>
            </a:r>
            <a:r>
              <a:rPr sz="1150" spc="3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dam</a:t>
            </a:r>
            <a:r>
              <a:rPr sz="1150" spc="3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structure</a:t>
            </a:r>
            <a:r>
              <a:rPr sz="1150" spc="3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is</a:t>
            </a:r>
            <a:r>
              <a:rPr sz="1150" spc="3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374151"/>
                </a:solidFill>
                <a:latin typeface="Times New Roman"/>
                <a:cs typeface="Times New Roman"/>
              </a:rPr>
              <a:t>physically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shifting</a:t>
            </a:r>
            <a:r>
              <a:rPr sz="1150" spc="4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over</a:t>
            </a:r>
            <a:r>
              <a:rPr sz="1150" spc="4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spc="-20" dirty="0">
                <a:solidFill>
                  <a:srgbClr val="374151"/>
                </a:solidFill>
                <a:latin typeface="Times New Roman"/>
                <a:cs typeface="Times New Roman"/>
              </a:rPr>
              <a:t>time.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object 3">
            <a:extLst>
              <a:ext uri="{FF2B5EF4-FFF2-40B4-BE49-F238E27FC236}">
                <a16:creationId xmlns:a16="http://schemas.microsoft.com/office/drawing/2014/main" id="{55CA90FB-34C1-346F-71EB-50B162FD8B2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19732" y="2714625"/>
            <a:ext cx="3062855" cy="2873475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1187" y="2740034"/>
            <a:ext cx="3062855" cy="28734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4636" y="2740034"/>
            <a:ext cx="3062855" cy="2873475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609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solidFill>
                  <a:schemeClr val="accent5">
                    <a:lumMod val="75000"/>
                  </a:schemeClr>
                </a:solidFill>
              </a:rPr>
              <a:t>Key</a:t>
            </a:r>
            <a:r>
              <a:rPr spc="-25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dirty="0">
                <a:solidFill>
                  <a:schemeClr val="accent5">
                    <a:lumMod val="75000"/>
                  </a:schemeClr>
                </a:solidFill>
              </a:rPr>
              <a:t>Monitoring</a:t>
            </a:r>
            <a:r>
              <a:rPr spc="-15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spc="-10" dirty="0">
                <a:solidFill>
                  <a:schemeClr val="accent5">
                    <a:lumMod val="75000"/>
                  </a:schemeClr>
                </a:solidFill>
              </a:rPr>
              <a:t>Instrumentation</a:t>
            </a:r>
          </a:p>
        </p:txBody>
      </p:sp>
      <p:sp>
        <p:nvSpPr>
          <p:cNvPr id="9" name="object 9"/>
          <p:cNvSpPr/>
          <p:nvPr/>
        </p:nvSpPr>
        <p:spPr>
          <a:xfrm>
            <a:off x="501187" y="1775249"/>
            <a:ext cx="5939155" cy="41910"/>
          </a:xfrm>
          <a:custGeom>
            <a:avLst/>
            <a:gdLst/>
            <a:ahLst/>
            <a:cxnLst/>
            <a:rect l="l" t="t" r="r" b="b"/>
            <a:pathLst>
              <a:path w="5939155" h="41910">
                <a:moveTo>
                  <a:pt x="5939072" y="0"/>
                </a:moveTo>
                <a:lnTo>
                  <a:pt x="0" y="0"/>
                </a:lnTo>
                <a:lnTo>
                  <a:pt x="0" y="41765"/>
                </a:lnTo>
                <a:lnTo>
                  <a:pt x="5939072" y="41765"/>
                </a:lnTo>
                <a:lnTo>
                  <a:pt x="5939072" y="0"/>
                </a:lnTo>
                <a:close/>
              </a:path>
            </a:pathLst>
          </a:custGeom>
          <a:solidFill>
            <a:srgbClr val="B4530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1656659" y="3082513"/>
            <a:ext cx="751840" cy="751840"/>
            <a:chOff x="1656659" y="3082513"/>
            <a:chExt cx="751840" cy="75184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56659" y="3082513"/>
              <a:ext cx="751781" cy="75178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36251" y="3282988"/>
              <a:ext cx="392596" cy="350831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877890" y="3980638"/>
            <a:ext cx="2308225" cy="13874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b="1" spc="-10" dirty="0">
                <a:solidFill>
                  <a:srgbClr val="1E293B"/>
                </a:solidFill>
                <a:latin typeface="Times New Roman"/>
                <a:cs typeface="Times New Roman"/>
              </a:rPr>
              <a:t>Piezometers</a:t>
            </a:r>
            <a:endParaRPr sz="1550">
              <a:latin typeface="Times New Roman"/>
              <a:cs typeface="Times New Roman"/>
            </a:endParaRPr>
          </a:p>
          <a:p>
            <a:pPr marL="12065" marR="5080" indent="-635" algn="ctr">
              <a:lnSpc>
                <a:spcPct val="154400"/>
              </a:lnSpc>
              <a:spcBef>
                <a:spcPts val="305"/>
              </a:spcBef>
            </a:pP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Installed</a:t>
            </a:r>
            <a:r>
              <a:rPr sz="1150" spc="4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deep</a:t>
            </a:r>
            <a:r>
              <a:rPr sz="1150" spc="5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within</a:t>
            </a:r>
            <a:r>
              <a:rPr sz="1150" spc="5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the</a:t>
            </a:r>
            <a:r>
              <a:rPr sz="1150" spc="4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earth-</a:t>
            </a:r>
            <a:r>
              <a:rPr sz="1150" spc="-20" dirty="0">
                <a:solidFill>
                  <a:srgbClr val="374151"/>
                </a:solidFill>
                <a:latin typeface="Times New Roman"/>
                <a:cs typeface="Times New Roman"/>
              </a:rPr>
              <a:t>fill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embankment</a:t>
            </a:r>
            <a:r>
              <a:rPr sz="1150" spc="6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to</a:t>
            </a:r>
            <a:r>
              <a:rPr sz="1150" spc="7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continuously</a:t>
            </a:r>
            <a:r>
              <a:rPr sz="1150" spc="7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374151"/>
                </a:solidFill>
                <a:latin typeface="Times New Roman"/>
                <a:cs typeface="Times New Roman"/>
              </a:rPr>
              <a:t>measure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internal</a:t>
            </a:r>
            <a:r>
              <a:rPr sz="1150" spc="5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pore</a:t>
            </a:r>
            <a:r>
              <a:rPr sz="1150" spc="5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water</a:t>
            </a:r>
            <a:r>
              <a:rPr sz="1150" spc="5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pressure</a:t>
            </a:r>
            <a:r>
              <a:rPr sz="1150" spc="5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and</a:t>
            </a:r>
            <a:r>
              <a:rPr sz="1150" spc="5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spc="-20" dirty="0">
                <a:solidFill>
                  <a:srgbClr val="374151"/>
                </a:solidFill>
                <a:latin typeface="Times New Roman"/>
                <a:cs typeface="Times New Roman"/>
              </a:rPr>
              <a:t>soil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saturation</a:t>
            </a:r>
            <a:r>
              <a:rPr sz="1150" spc="6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374151"/>
                </a:solidFill>
                <a:latin typeface="Times New Roman"/>
                <a:cs typeface="Times New Roman"/>
              </a:rPr>
              <a:t>levels.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970109" y="3082513"/>
            <a:ext cx="751840" cy="751840"/>
            <a:chOff x="4970109" y="3082513"/>
            <a:chExt cx="751840" cy="751840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70109" y="3082513"/>
              <a:ext cx="751781" cy="75178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12350" y="3282988"/>
              <a:ext cx="267299" cy="350831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4072405" y="3980638"/>
            <a:ext cx="2546350" cy="13874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1E293B"/>
                </a:solidFill>
                <a:latin typeface="Times New Roman"/>
                <a:cs typeface="Times New Roman"/>
              </a:rPr>
              <a:t>Survey</a:t>
            </a:r>
            <a:r>
              <a:rPr sz="1550" b="1" spc="40" dirty="0">
                <a:solidFill>
                  <a:srgbClr val="1E293B"/>
                </a:solidFill>
                <a:latin typeface="Times New Roman"/>
                <a:cs typeface="Times New Roman"/>
              </a:rPr>
              <a:t> </a:t>
            </a:r>
            <a:r>
              <a:rPr sz="1550" b="1" spc="-10" dirty="0">
                <a:solidFill>
                  <a:srgbClr val="1E293B"/>
                </a:solidFill>
                <a:latin typeface="Times New Roman"/>
                <a:cs typeface="Times New Roman"/>
              </a:rPr>
              <a:t>Monuments</a:t>
            </a:r>
            <a:endParaRPr sz="1550">
              <a:latin typeface="Times New Roman"/>
              <a:cs typeface="Times New Roman"/>
            </a:endParaRPr>
          </a:p>
          <a:p>
            <a:pPr marL="12065" marR="5080" algn="ctr">
              <a:lnSpc>
                <a:spcPct val="154400"/>
              </a:lnSpc>
              <a:spcBef>
                <a:spcPts val="305"/>
              </a:spcBef>
            </a:pP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Fixed,</a:t>
            </a:r>
            <a:r>
              <a:rPr sz="1150" spc="5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physical</a:t>
            </a:r>
            <a:r>
              <a:rPr sz="1150" spc="5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markers</a:t>
            </a:r>
            <a:r>
              <a:rPr sz="1150" spc="5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anchored</a:t>
            </a:r>
            <a:r>
              <a:rPr sz="1150" spc="5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into</a:t>
            </a:r>
            <a:r>
              <a:rPr sz="1150" spc="5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spc="-25" dirty="0">
                <a:solidFill>
                  <a:srgbClr val="374151"/>
                </a:solidFill>
                <a:latin typeface="Times New Roman"/>
                <a:cs typeface="Times New Roman"/>
              </a:rPr>
              <a:t>the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dam</a:t>
            </a:r>
            <a:r>
              <a:rPr sz="1150" spc="4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surface</a:t>
            </a:r>
            <a:r>
              <a:rPr sz="1150" spc="4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used</a:t>
            </a:r>
            <a:r>
              <a:rPr sz="1150" spc="4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by</a:t>
            </a:r>
            <a:r>
              <a:rPr sz="1150" spc="4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surveyors</a:t>
            </a:r>
            <a:r>
              <a:rPr sz="1150" spc="4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to</a:t>
            </a:r>
            <a:r>
              <a:rPr sz="1150" spc="4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374151"/>
                </a:solidFill>
                <a:latin typeface="Times New Roman"/>
                <a:cs typeface="Times New Roman"/>
              </a:rPr>
              <a:t>detect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millimeter-level</a:t>
            </a:r>
            <a:r>
              <a:rPr sz="1150" spc="5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structural</a:t>
            </a:r>
            <a:r>
              <a:rPr sz="1150" spc="6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shifting</a:t>
            </a:r>
            <a:r>
              <a:rPr sz="1150" spc="5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spc="-25" dirty="0">
                <a:solidFill>
                  <a:srgbClr val="374151"/>
                </a:solidFill>
                <a:latin typeface="Times New Roman"/>
                <a:cs typeface="Times New Roman"/>
              </a:rPr>
              <a:t>or </a:t>
            </a:r>
            <a:r>
              <a:rPr sz="1150" spc="-10" dirty="0">
                <a:solidFill>
                  <a:srgbClr val="374151"/>
                </a:solidFill>
                <a:latin typeface="Times New Roman"/>
                <a:cs typeface="Times New Roman"/>
              </a:rPr>
              <a:t>slumping.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283558" y="3082513"/>
            <a:ext cx="751840" cy="751840"/>
            <a:chOff x="8283558" y="3082513"/>
            <a:chExt cx="751840" cy="751840"/>
          </a:xfrm>
        </p:grpSpPr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283558" y="3082513"/>
              <a:ext cx="751781" cy="75178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484034" y="3282988"/>
              <a:ext cx="350831" cy="350831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7386039" y="3980638"/>
            <a:ext cx="2544445" cy="13874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1E293B"/>
                </a:solidFill>
                <a:latin typeface="Times New Roman"/>
                <a:cs typeface="Times New Roman"/>
              </a:rPr>
              <a:t>Monitoring</a:t>
            </a:r>
            <a:r>
              <a:rPr sz="1550" b="1" spc="105" dirty="0">
                <a:solidFill>
                  <a:srgbClr val="1E293B"/>
                </a:solidFill>
                <a:latin typeface="Times New Roman"/>
                <a:cs typeface="Times New Roman"/>
              </a:rPr>
              <a:t> </a:t>
            </a:r>
            <a:r>
              <a:rPr sz="1550" b="1" spc="-10" dirty="0">
                <a:solidFill>
                  <a:srgbClr val="1E293B"/>
                </a:solidFill>
                <a:latin typeface="Times New Roman"/>
                <a:cs typeface="Times New Roman"/>
              </a:rPr>
              <a:t>Boreholes</a:t>
            </a:r>
            <a:endParaRPr sz="1550">
              <a:latin typeface="Times New Roman"/>
              <a:cs typeface="Times New Roman"/>
            </a:endParaRPr>
          </a:p>
          <a:p>
            <a:pPr marL="12065" marR="5080" algn="ctr">
              <a:lnSpc>
                <a:spcPct val="154400"/>
              </a:lnSpc>
              <a:spcBef>
                <a:spcPts val="305"/>
              </a:spcBef>
            </a:pP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Drilled</a:t>
            </a:r>
            <a:r>
              <a:rPr sz="1150" spc="4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around</a:t>
            </a:r>
            <a:r>
              <a:rPr sz="1150" spc="4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the</a:t>
            </a:r>
            <a:r>
              <a:rPr sz="1150" spc="4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facility</a:t>
            </a:r>
            <a:r>
              <a:rPr sz="1150" spc="4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perimeter</a:t>
            </a:r>
            <a:r>
              <a:rPr sz="1150" spc="4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spc="-25" dirty="0">
                <a:solidFill>
                  <a:srgbClr val="374151"/>
                </a:solidFill>
                <a:latin typeface="Times New Roman"/>
                <a:cs typeface="Times New Roman"/>
              </a:rPr>
              <a:t>to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take</a:t>
            </a:r>
            <a:r>
              <a:rPr sz="1150" spc="4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regular</a:t>
            </a:r>
            <a:r>
              <a:rPr sz="1150" spc="4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water</a:t>
            </a:r>
            <a:r>
              <a:rPr sz="1150" spc="4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quality</a:t>
            </a:r>
            <a:r>
              <a:rPr sz="1150" spc="4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samples</a:t>
            </a:r>
            <a:r>
              <a:rPr sz="1150" spc="4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spc="-25" dirty="0">
                <a:solidFill>
                  <a:srgbClr val="374151"/>
                </a:solidFill>
                <a:latin typeface="Times New Roman"/>
                <a:cs typeface="Times New Roman"/>
              </a:rPr>
              <a:t>and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monitor</a:t>
            </a:r>
            <a:r>
              <a:rPr sz="1150" spc="3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the</a:t>
            </a:r>
            <a:r>
              <a:rPr sz="1150" spc="3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local</a:t>
            </a:r>
            <a:r>
              <a:rPr sz="1150" spc="4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water</a:t>
            </a:r>
            <a:r>
              <a:rPr sz="1150" spc="3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table</a:t>
            </a:r>
            <a:r>
              <a:rPr sz="1150" spc="4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for</a:t>
            </a:r>
            <a:r>
              <a:rPr sz="1150" spc="3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374151"/>
                </a:solidFill>
                <a:latin typeface="Times New Roman"/>
                <a:cs typeface="Times New Roman"/>
              </a:rPr>
              <a:t>chemical leaks.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object 2">
            <a:extLst>
              <a:ext uri="{FF2B5EF4-FFF2-40B4-BE49-F238E27FC236}">
                <a16:creationId xmlns:a16="http://schemas.microsoft.com/office/drawing/2014/main" id="{1CD7A685-3EB3-9E1E-B4BC-0F13EB0C7FD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83894" y="1875486"/>
            <a:ext cx="4635985" cy="4602571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1187" y="1875487"/>
            <a:ext cx="4635985" cy="4602571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488487" y="1055207"/>
            <a:ext cx="9716425" cy="43729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solidFill>
                  <a:schemeClr val="accent5">
                    <a:lumMod val="75000"/>
                  </a:schemeClr>
                </a:solidFill>
              </a:rPr>
              <a:t>Standard</a:t>
            </a:r>
            <a:r>
              <a:rPr spc="-25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dirty="0">
                <a:solidFill>
                  <a:schemeClr val="accent5">
                    <a:lumMod val="75000"/>
                  </a:schemeClr>
                </a:solidFill>
              </a:rPr>
              <a:t>Monitoring</a:t>
            </a:r>
            <a:r>
              <a:rPr spc="-10" dirty="0">
                <a:solidFill>
                  <a:schemeClr val="accent5">
                    <a:lumMod val="75000"/>
                  </a:schemeClr>
                </a:solidFill>
              </a:rPr>
              <a:t> Assessment</a:t>
            </a:r>
          </a:p>
        </p:txBody>
      </p:sp>
      <p:sp>
        <p:nvSpPr>
          <p:cNvPr id="8" name="object 8"/>
          <p:cNvSpPr/>
          <p:nvPr/>
        </p:nvSpPr>
        <p:spPr>
          <a:xfrm>
            <a:off x="501187" y="1583127"/>
            <a:ext cx="6131560" cy="41910"/>
          </a:xfrm>
          <a:custGeom>
            <a:avLst/>
            <a:gdLst/>
            <a:ahLst/>
            <a:cxnLst/>
            <a:rect l="l" t="t" r="r" b="b"/>
            <a:pathLst>
              <a:path w="6131559" h="41909">
                <a:moveTo>
                  <a:pt x="6131194" y="0"/>
                </a:moveTo>
                <a:lnTo>
                  <a:pt x="0" y="0"/>
                </a:lnTo>
                <a:lnTo>
                  <a:pt x="0" y="41765"/>
                </a:lnTo>
                <a:lnTo>
                  <a:pt x="6131194" y="41765"/>
                </a:lnTo>
                <a:lnTo>
                  <a:pt x="6131194" y="0"/>
                </a:lnTo>
                <a:close/>
              </a:path>
            </a:pathLst>
          </a:custGeom>
          <a:solidFill>
            <a:srgbClr val="B453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43665" y="2610562"/>
            <a:ext cx="3951604" cy="17145"/>
          </a:xfrm>
          <a:custGeom>
            <a:avLst/>
            <a:gdLst/>
            <a:ahLst/>
            <a:cxnLst/>
            <a:rect l="l" t="t" r="r" b="b"/>
            <a:pathLst>
              <a:path w="3951604" h="17144">
                <a:moveTo>
                  <a:pt x="3951028" y="0"/>
                </a:moveTo>
                <a:lnTo>
                  <a:pt x="0" y="0"/>
                </a:lnTo>
                <a:lnTo>
                  <a:pt x="0" y="16706"/>
                </a:lnTo>
                <a:lnTo>
                  <a:pt x="3951028" y="16706"/>
                </a:lnTo>
                <a:lnTo>
                  <a:pt x="3951028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897305" y="2610562"/>
            <a:ext cx="3951604" cy="17145"/>
          </a:xfrm>
          <a:custGeom>
            <a:avLst/>
            <a:gdLst/>
            <a:ahLst/>
            <a:cxnLst/>
            <a:rect l="l" t="t" r="r" b="b"/>
            <a:pathLst>
              <a:path w="3951604" h="17144">
                <a:moveTo>
                  <a:pt x="3951028" y="0"/>
                </a:moveTo>
                <a:lnTo>
                  <a:pt x="0" y="0"/>
                </a:lnTo>
                <a:lnTo>
                  <a:pt x="0" y="16706"/>
                </a:lnTo>
                <a:lnTo>
                  <a:pt x="3951028" y="16706"/>
                </a:lnTo>
                <a:lnTo>
                  <a:pt x="3951028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3665" y="2217965"/>
            <a:ext cx="267299" cy="267299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8829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Advantages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pc="-10" dirty="0"/>
          </a:p>
          <a:p>
            <a:pPr marL="196215" indent="-183515">
              <a:lnSpc>
                <a:spcPct val="100000"/>
              </a:lnSpc>
              <a:buChar char="•"/>
              <a:tabLst>
                <a:tab pos="196215" algn="l"/>
              </a:tabLst>
            </a:pPr>
            <a:r>
              <a:rPr sz="1300" b="0" dirty="0">
                <a:solidFill>
                  <a:srgbClr val="374151"/>
                </a:solidFill>
                <a:latin typeface="Times New Roman"/>
                <a:cs typeface="Times New Roman"/>
              </a:rPr>
              <a:t>Proven</a:t>
            </a:r>
            <a:r>
              <a:rPr sz="1300" b="0" spc="2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b="0" dirty="0">
                <a:solidFill>
                  <a:srgbClr val="374151"/>
                </a:solidFill>
                <a:latin typeface="Times New Roman"/>
                <a:cs typeface="Times New Roman"/>
              </a:rPr>
              <a:t>and</a:t>
            </a:r>
            <a:r>
              <a:rPr sz="1300" b="0" spc="2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b="0" dirty="0">
                <a:solidFill>
                  <a:srgbClr val="374151"/>
                </a:solidFill>
                <a:latin typeface="Times New Roman"/>
                <a:cs typeface="Times New Roman"/>
              </a:rPr>
              <a:t>well-established</a:t>
            </a:r>
            <a:r>
              <a:rPr sz="1300" b="0" spc="2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b="0" dirty="0">
                <a:solidFill>
                  <a:srgbClr val="374151"/>
                </a:solidFill>
                <a:latin typeface="Times New Roman"/>
                <a:cs typeface="Times New Roman"/>
              </a:rPr>
              <a:t>industry</a:t>
            </a:r>
            <a:r>
              <a:rPr sz="1300" b="0" spc="2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b="0" spc="-10" dirty="0">
                <a:solidFill>
                  <a:srgbClr val="374151"/>
                </a:solidFill>
                <a:latin typeface="Times New Roman"/>
                <a:cs typeface="Times New Roman"/>
              </a:rPr>
              <a:t>standard.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374151"/>
              </a:buClr>
              <a:buFont typeface="Times New Roman"/>
              <a:buChar char="•"/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45"/>
              </a:spcBef>
              <a:buClr>
                <a:srgbClr val="374151"/>
              </a:buClr>
              <a:buFont typeface="Times New Roman"/>
              <a:buChar char="•"/>
            </a:pPr>
            <a:endParaRPr sz="1300">
              <a:latin typeface="Times New Roman"/>
              <a:cs typeface="Times New Roman"/>
            </a:endParaRPr>
          </a:p>
          <a:p>
            <a:pPr marL="196215" indent="-183515">
              <a:lnSpc>
                <a:spcPct val="100000"/>
              </a:lnSpc>
              <a:buChar char="•"/>
              <a:tabLst>
                <a:tab pos="196215" algn="l"/>
              </a:tabLst>
            </a:pPr>
            <a:r>
              <a:rPr sz="1300" b="0" dirty="0">
                <a:solidFill>
                  <a:srgbClr val="374151"/>
                </a:solidFill>
                <a:latin typeface="Times New Roman"/>
                <a:cs typeface="Times New Roman"/>
              </a:rPr>
              <a:t>High</a:t>
            </a:r>
            <a:r>
              <a:rPr sz="1300" b="0" spc="1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b="0" dirty="0">
                <a:solidFill>
                  <a:srgbClr val="374151"/>
                </a:solidFill>
                <a:latin typeface="Times New Roman"/>
                <a:cs typeface="Times New Roman"/>
              </a:rPr>
              <a:t>point</a:t>
            </a:r>
            <a:r>
              <a:rPr sz="1300" b="0" spc="1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b="0" dirty="0">
                <a:solidFill>
                  <a:srgbClr val="374151"/>
                </a:solidFill>
                <a:latin typeface="Times New Roman"/>
                <a:cs typeface="Times New Roman"/>
              </a:rPr>
              <a:t>specific</a:t>
            </a:r>
            <a:r>
              <a:rPr sz="1300" b="0" spc="1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b="0" dirty="0">
                <a:solidFill>
                  <a:srgbClr val="374151"/>
                </a:solidFill>
                <a:latin typeface="Times New Roman"/>
                <a:cs typeface="Times New Roman"/>
              </a:rPr>
              <a:t>accuracy</a:t>
            </a:r>
            <a:r>
              <a:rPr sz="1300" b="0" spc="1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b="0" dirty="0">
                <a:solidFill>
                  <a:srgbClr val="374151"/>
                </a:solidFill>
                <a:latin typeface="Times New Roman"/>
                <a:cs typeface="Times New Roman"/>
              </a:rPr>
              <a:t>for</a:t>
            </a:r>
            <a:r>
              <a:rPr sz="1300" b="0" spc="1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b="0" dirty="0">
                <a:solidFill>
                  <a:srgbClr val="374151"/>
                </a:solidFill>
                <a:latin typeface="Times New Roman"/>
                <a:cs typeface="Times New Roman"/>
              </a:rPr>
              <a:t>key</a:t>
            </a:r>
            <a:r>
              <a:rPr sz="1300" b="0" spc="1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b="0" dirty="0">
                <a:solidFill>
                  <a:srgbClr val="374151"/>
                </a:solidFill>
                <a:latin typeface="Times New Roman"/>
                <a:cs typeface="Times New Roman"/>
              </a:rPr>
              <a:t>structural</a:t>
            </a:r>
            <a:r>
              <a:rPr sz="1300" b="0" spc="1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b="0" spc="-10" dirty="0">
                <a:solidFill>
                  <a:srgbClr val="374151"/>
                </a:solidFill>
                <a:latin typeface="Times New Roman"/>
                <a:cs typeface="Times New Roman"/>
              </a:rPr>
              <a:t>areas.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75"/>
              </a:spcBef>
              <a:buClr>
                <a:srgbClr val="374151"/>
              </a:buClr>
              <a:buFont typeface="Times New Roman"/>
              <a:buChar char="•"/>
            </a:pPr>
            <a:endParaRPr sz="1300">
              <a:latin typeface="Times New Roman"/>
              <a:cs typeface="Times New Roman"/>
            </a:endParaRPr>
          </a:p>
          <a:p>
            <a:pPr marL="196215" marR="208915" indent="-184150">
              <a:lnSpc>
                <a:spcPct val="161900"/>
              </a:lnSpc>
              <a:buChar char="•"/>
              <a:tabLst>
                <a:tab pos="196215" algn="l"/>
              </a:tabLst>
            </a:pPr>
            <a:r>
              <a:rPr sz="1300" b="0" dirty="0">
                <a:solidFill>
                  <a:srgbClr val="374151"/>
                </a:solidFill>
                <a:latin typeface="Times New Roman"/>
                <a:cs typeface="Times New Roman"/>
              </a:rPr>
              <a:t>Direct</a:t>
            </a:r>
            <a:r>
              <a:rPr sz="1300" b="0" spc="1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b="0" dirty="0">
                <a:solidFill>
                  <a:srgbClr val="374151"/>
                </a:solidFill>
                <a:latin typeface="Times New Roman"/>
                <a:cs typeface="Times New Roman"/>
              </a:rPr>
              <a:t>physical</a:t>
            </a:r>
            <a:r>
              <a:rPr sz="1300" b="0" spc="1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b="0" dirty="0">
                <a:solidFill>
                  <a:srgbClr val="374151"/>
                </a:solidFill>
                <a:latin typeface="Times New Roman"/>
                <a:cs typeface="Times New Roman"/>
              </a:rPr>
              <a:t>measurement</a:t>
            </a:r>
            <a:r>
              <a:rPr sz="1300" b="0" spc="2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b="0" dirty="0">
                <a:solidFill>
                  <a:srgbClr val="374151"/>
                </a:solidFill>
                <a:latin typeface="Times New Roman"/>
                <a:cs typeface="Times New Roman"/>
              </a:rPr>
              <a:t>confirms</a:t>
            </a:r>
            <a:r>
              <a:rPr sz="1300" b="0" spc="1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b="0" spc="-10" dirty="0">
                <a:solidFill>
                  <a:srgbClr val="374151"/>
                </a:solidFill>
                <a:latin typeface="Times New Roman"/>
                <a:cs typeface="Times New Roman"/>
              </a:rPr>
              <a:t>theoretical models.</a:t>
            </a:r>
            <a:endParaRPr sz="1300">
              <a:latin typeface="Times New Roman"/>
              <a:cs typeface="Times New Roman"/>
            </a:endParaRPr>
          </a:p>
          <a:p>
            <a:pPr marL="196215" marR="64769" indent="-184150">
              <a:lnSpc>
                <a:spcPct val="161900"/>
              </a:lnSpc>
              <a:spcBef>
                <a:spcPts val="145"/>
              </a:spcBef>
              <a:buChar char="•"/>
              <a:tabLst>
                <a:tab pos="196215" algn="l"/>
              </a:tabLst>
            </a:pPr>
            <a:r>
              <a:rPr sz="1300" b="0" dirty="0">
                <a:solidFill>
                  <a:srgbClr val="374151"/>
                </a:solidFill>
                <a:latin typeface="Times New Roman"/>
                <a:cs typeface="Times New Roman"/>
              </a:rPr>
              <a:t>Establishes</a:t>
            </a:r>
            <a:r>
              <a:rPr sz="1300" b="0" spc="2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b="0" dirty="0">
                <a:solidFill>
                  <a:srgbClr val="374151"/>
                </a:solidFill>
                <a:latin typeface="Times New Roman"/>
                <a:cs typeface="Times New Roman"/>
              </a:rPr>
              <a:t>fundamental</a:t>
            </a:r>
            <a:r>
              <a:rPr sz="1300" b="0" spc="2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b="0" dirty="0">
                <a:solidFill>
                  <a:srgbClr val="374151"/>
                </a:solidFill>
                <a:latin typeface="Times New Roman"/>
                <a:cs typeface="Times New Roman"/>
              </a:rPr>
              <a:t>baseline</a:t>
            </a:r>
            <a:r>
              <a:rPr sz="1300" b="0" spc="2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b="0" dirty="0">
                <a:solidFill>
                  <a:srgbClr val="374151"/>
                </a:solidFill>
                <a:latin typeface="Times New Roman"/>
                <a:cs typeface="Times New Roman"/>
              </a:rPr>
              <a:t>data</a:t>
            </a:r>
            <a:r>
              <a:rPr sz="1300" b="0" spc="2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b="0" dirty="0">
                <a:solidFill>
                  <a:srgbClr val="374151"/>
                </a:solidFill>
                <a:latin typeface="Times New Roman"/>
                <a:cs typeface="Times New Roman"/>
              </a:rPr>
              <a:t>for</a:t>
            </a:r>
            <a:r>
              <a:rPr sz="1300" b="0" spc="2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b="0" spc="-10" dirty="0">
                <a:solidFill>
                  <a:srgbClr val="374151"/>
                </a:solidFill>
                <a:latin typeface="Times New Roman"/>
                <a:cs typeface="Times New Roman"/>
              </a:rPr>
              <a:t>long-</a:t>
            </a:r>
            <a:r>
              <a:rPr sz="1300" b="0" spc="-20" dirty="0">
                <a:solidFill>
                  <a:srgbClr val="374151"/>
                </a:solidFill>
                <a:latin typeface="Times New Roman"/>
                <a:cs typeface="Times New Roman"/>
              </a:rPr>
              <a:t>term </a:t>
            </a:r>
            <a:r>
              <a:rPr sz="1300" b="0" spc="-10" dirty="0">
                <a:solidFill>
                  <a:srgbClr val="374151"/>
                </a:solidFill>
                <a:latin typeface="Times New Roman"/>
                <a:cs typeface="Times New Roman"/>
              </a:rPr>
              <a:t>study.</a:t>
            </a:r>
            <a:endParaRPr sz="1300">
              <a:latin typeface="Times New Roman"/>
              <a:cs typeface="Times New Roman"/>
            </a:endParaRPr>
          </a:p>
          <a:p>
            <a:pPr marL="196215" marR="200025" indent="-184150">
              <a:lnSpc>
                <a:spcPct val="161900"/>
              </a:lnSpc>
              <a:spcBef>
                <a:spcPts val="145"/>
              </a:spcBef>
              <a:buChar char="•"/>
              <a:tabLst>
                <a:tab pos="196215" algn="l"/>
              </a:tabLst>
            </a:pPr>
            <a:r>
              <a:rPr sz="1300" b="0" dirty="0">
                <a:solidFill>
                  <a:srgbClr val="374151"/>
                </a:solidFill>
                <a:latin typeface="Times New Roman"/>
                <a:cs typeface="Times New Roman"/>
              </a:rPr>
              <a:t>Relatively</a:t>
            </a:r>
            <a:r>
              <a:rPr sz="1300" b="0" spc="1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b="0" dirty="0">
                <a:solidFill>
                  <a:srgbClr val="374151"/>
                </a:solidFill>
                <a:latin typeface="Times New Roman"/>
                <a:cs typeface="Times New Roman"/>
              </a:rPr>
              <a:t>low</a:t>
            </a:r>
            <a:r>
              <a:rPr sz="1300" b="0" spc="1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b="0" dirty="0">
                <a:solidFill>
                  <a:srgbClr val="374151"/>
                </a:solidFill>
                <a:latin typeface="Times New Roman"/>
                <a:cs typeface="Times New Roman"/>
              </a:rPr>
              <a:t>initial</a:t>
            </a:r>
            <a:r>
              <a:rPr sz="1300" b="0" spc="1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b="0" dirty="0">
                <a:solidFill>
                  <a:srgbClr val="374151"/>
                </a:solidFill>
                <a:latin typeface="Times New Roman"/>
                <a:cs typeface="Times New Roman"/>
              </a:rPr>
              <a:t>equipment</a:t>
            </a:r>
            <a:r>
              <a:rPr sz="1300" b="0" spc="1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b="0" dirty="0">
                <a:solidFill>
                  <a:srgbClr val="374151"/>
                </a:solidFill>
                <a:latin typeface="Times New Roman"/>
                <a:cs typeface="Times New Roman"/>
              </a:rPr>
              <a:t>cost</a:t>
            </a:r>
            <a:r>
              <a:rPr sz="1300" b="0" spc="1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b="0" dirty="0">
                <a:solidFill>
                  <a:srgbClr val="374151"/>
                </a:solidFill>
                <a:latin typeface="Times New Roman"/>
                <a:cs typeface="Times New Roman"/>
              </a:rPr>
              <a:t>compared</a:t>
            </a:r>
            <a:r>
              <a:rPr sz="1300" b="0" spc="1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b="0" spc="-25" dirty="0">
                <a:solidFill>
                  <a:srgbClr val="374151"/>
                </a:solidFill>
                <a:latin typeface="Times New Roman"/>
                <a:cs typeface="Times New Roman"/>
              </a:rPr>
              <a:t>to </a:t>
            </a:r>
            <a:r>
              <a:rPr sz="1300" b="0" spc="-10" dirty="0">
                <a:solidFill>
                  <a:srgbClr val="374151"/>
                </a:solidFill>
                <a:latin typeface="Times New Roman"/>
                <a:cs typeface="Times New Roman"/>
              </a:rPr>
              <a:t>sensors.</a:t>
            </a:r>
            <a:endParaRPr sz="1300">
              <a:latin typeface="Times New Roman"/>
              <a:cs typeface="Times New Roman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97305" y="2217965"/>
            <a:ext cx="267299" cy="26729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001549" y="2208272"/>
            <a:ext cx="3779520" cy="31349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88290">
              <a:lnSpc>
                <a:spcPct val="100000"/>
              </a:lnSpc>
              <a:spcBef>
                <a:spcPts val="110"/>
              </a:spcBef>
            </a:pPr>
            <a:r>
              <a:rPr sz="1700" b="1" spc="-10" dirty="0">
                <a:solidFill>
                  <a:srgbClr val="B91C1C"/>
                </a:solidFill>
                <a:latin typeface="Times New Roman"/>
                <a:cs typeface="Times New Roman"/>
              </a:rPr>
              <a:t>Disadvantages</a:t>
            </a:r>
            <a:endParaRPr sz="1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196215" indent="-183515">
              <a:lnSpc>
                <a:spcPct val="100000"/>
              </a:lnSpc>
              <a:buChar char="•"/>
              <a:tabLst>
                <a:tab pos="196215" algn="l"/>
              </a:tabLst>
            </a:pPr>
            <a:r>
              <a:rPr sz="1300" dirty="0">
                <a:solidFill>
                  <a:srgbClr val="374151"/>
                </a:solidFill>
                <a:latin typeface="Times New Roman"/>
                <a:cs typeface="Times New Roman"/>
              </a:rPr>
              <a:t>Highly</a:t>
            </a:r>
            <a:r>
              <a:rPr sz="1300" spc="1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74151"/>
                </a:solidFill>
                <a:latin typeface="Times New Roman"/>
                <a:cs typeface="Times New Roman"/>
              </a:rPr>
              <a:t>labor</a:t>
            </a:r>
            <a:r>
              <a:rPr sz="1300" spc="1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74151"/>
                </a:solidFill>
                <a:latin typeface="Times New Roman"/>
                <a:cs typeface="Times New Roman"/>
              </a:rPr>
              <a:t>intensive</a:t>
            </a:r>
            <a:r>
              <a:rPr sz="1300" spc="1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74151"/>
                </a:solidFill>
                <a:latin typeface="Times New Roman"/>
                <a:cs typeface="Times New Roman"/>
              </a:rPr>
              <a:t>process</a:t>
            </a:r>
            <a:r>
              <a:rPr sz="1300" spc="1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74151"/>
                </a:solidFill>
                <a:latin typeface="Times New Roman"/>
                <a:cs typeface="Times New Roman"/>
              </a:rPr>
              <a:t>requiring</a:t>
            </a:r>
            <a:r>
              <a:rPr sz="1300" spc="1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74151"/>
                </a:solidFill>
                <a:latin typeface="Times New Roman"/>
                <a:cs typeface="Times New Roman"/>
              </a:rPr>
              <a:t>field</a:t>
            </a:r>
            <a:r>
              <a:rPr sz="1300" spc="1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374151"/>
                </a:solidFill>
                <a:latin typeface="Times New Roman"/>
                <a:cs typeface="Times New Roman"/>
              </a:rPr>
              <a:t>teams.</a:t>
            </a: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75"/>
              </a:spcBef>
              <a:buClr>
                <a:srgbClr val="374151"/>
              </a:buClr>
              <a:buFont typeface="Times New Roman"/>
              <a:buChar char="•"/>
            </a:pPr>
            <a:endParaRPr sz="1300" dirty="0">
              <a:latin typeface="Times New Roman"/>
              <a:cs typeface="Times New Roman"/>
            </a:endParaRPr>
          </a:p>
          <a:p>
            <a:pPr marL="196215" marR="5080" indent="-184150">
              <a:lnSpc>
                <a:spcPct val="161900"/>
              </a:lnSpc>
              <a:buChar char="•"/>
              <a:tabLst>
                <a:tab pos="196215" algn="l"/>
              </a:tabLst>
            </a:pPr>
            <a:r>
              <a:rPr sz="1300" dirty="0">
                <a:solidFill>
                  <a:srgbClr val="374151"/>
                </a:solidFill>
                <a:latin typeface="Times New Roman"/>
                <a:cs typeface="Times New Roman"/>
              </a:rPr>
              <a:t>Provides</a:t>
            </a:r>
            <a:r>
              <a:rPr sz="1300" spc="1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74151"/>
                </a:solidFill>
                <a:latin typeface="Times New Roman"/>
                <a:cs typeface="Times New Roman"/>
              </a:rPr>
              <a:t>point</a:t>
            </a:r>
            <a:r>
              <a:rPr sz="1300" spc="1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74151"/>
                </a:solidFill>
                <a:latin typeface="Times New Roman"/>
                <a:cs typeface="Times New Roman"/>
              </a:rPr>
              <a:t>specific</a:t>
            </a:r>
            <a:r>
              <a:rPr sz="1300" spc="1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74151"/>
                </a:solidFill>
                <a:latin typeface="Times New Roman"/>
                <a:cs typeface="Times New Roman"/>
              </a:rPr>
              <a:t>data,</a:t>
            </a:r>
            <a:r>
              <a:rPr sz="1300" spc="1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74151"/>
                </a:solidFill>
                <a:latin typeface="Times New Roman"/>
                <a:cs typeface="Times New Roman"/>
              </a:rPr>
              <a:t>which</a:t>
            </a:r>
            <a:r>
              <a:rPr sz="1300" spc="1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74151"/>
                </a:solidFill>
                <a:latin typeface="Times New Roman"/>
                <a:cs typeface="Times New Roman"/>
              </a:rPr>
              <a:t>may</a:t>
            </a:r>
            <a:r>
              <a:rPr sz="1300" spc="1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74151"/>
                </a:solidFill>
                <a:latin typeface="Times New Roman"/>
                <a:cs typeface="Times New Roman"/>
              </a:rPr>
              <a:t>miss</a:t>
            </a:r>
            <a:r>
              <a:rPr sz="1300" spc="1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374151"/>
                </a:solidFill>
                <a:latin typeface="Times New Roman"/>
                <a:cs typeface="Times New Roman"/>
              </a:rPr>
              <a:t>broader issues.</a:t>
            </a:r>
            <a:endParaRPr sz="1300" dirty="0">
              <a:latin typeface="Times New Roman"/>
              <a:cs typeface="Times New Roman"/>
            </a:endParaRPr>
          </a:p>
          <a:p>
            <a:pPr marL="196215" indent="-183515">
              <a:lnSpc>
                <a:spcPct val="100000"/>
              </a:lnSpc>
              <a:spcBef>
                <a:spcPts val="1110"/>
              </a:spcBef>
              <a:buChar char="•"/>
              <a:tabLst>
                <a:tab pos="196215" algn="l"/>
              </a:tabLst>
            </a:pPr>
            <a:r>
              <a:rPr sz="1300" dirty="0">
                <a:solidFill>
                  <a:srgbClr val="374151"/>
                </a:solidFill>
                <a:latin typeface="Times New Roman"/>
                <a:cs typeface="Times New Roman"/>
              </a:rPr>
              <a:t>Susceptible</a:t>
            </a:r>
            <a:r>
              <a:rPr sz="1300" spc="1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74151"/>
                </a:solidFill>
                <a:latin typeface="Times New Roman"/>
                <a:cs typeface="Times New Roman"/>
              </a:rPr>
              <a:t>to</a:t>
            </a:r>
            <a:r>
              <a:rPr sz="1300" spc="1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74151"/>
                </a:solidFill>
                <a:latin typeface="Times New Roman"/>
                <a:cs typeface="Times New Roman"/>
              </a:rPr>
              <a:t>human</a:t>
            </a:r>
            <a:r>
              <a:rPr sz="1300" spc="1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74151"/>
                </a:solidFill>
                <a:latin typeface="Times New Roman"/>
                <a:cs typeface="Times New Roman"/>
              </a:rPr>
              <a:t>error</a:t>
            </a:r>
            <a:r>
              <a:rPr sz="1300" spc="1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74151"/>
                </a:solidFill>
                <a:latin typeface="Times New Roman"/>
                <a:cs typeface="Times New Roman"/>
              </a:rPr>
              <a:t>during</a:t>
            </a:r>
            <a:r>
              <a:rPr sz="1300" spc="1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74151"/>
                </a:solidFill>
                <a:latin typeface="Times New Roman"/>
                <a:cs typeface="Times New Roman"/>
              </a:rPr>
              <a:t>manual</a:t>
            </a:r>
            <a:r>
              <a:rPr sz="1300" spc="1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374151"/>
                </a:solidFill>
                <a:latin typeface="Times New Roman"/>
                <a:cs typeface="Times New Roman"/>
              </a:rPr>
              <a:t>readings.</a:t>
            </a: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75"/>
              </a:spcBef>
              <a:buClr>
                <a:srgbClr val="374151"/>
              </a:buClr>
              <a:buFont typeface="Times New Roman"/>
              <a:buChar char="•"/>
            </a:pPr>
            <a:endParaRPr sz="1300" dirty="0">
              <a:latin typeface="Times New Roman"/>
              <a:cs typeface="Times New Roman"/>
            </a:endParaRPr>
          </a:p>
          <a:p>
            <a:pPr marL="196215" marR="22860" indent="-184150">
              <a:lnSpc>
                <a:spcPct val="161900"/>
              </a:lnSpc>
              <a:buChar char="•"/>
              <a:tabLst>
                <a:tab pos="196215" algn="l"/>
              </a:tabLst>
            </a:pPr>
            <a:r>
              <a:rPr sz="1300" dirty="0">
                <a:solidFill>
                  <a:srgbClr val="374151"/>
                </a:solidFill>
                <a:latin typeface="Times New Roman"/>
                <a:cs typeface="Times New Roman"/>
              </a:rPr>
              <a:t>Can</a:t>
            </a:r>
            <a:r>
              <a:rPr sz="1300" spc="1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74151"/>
                </a:solidFill>
                <a:latin typeface="Times New Roman"/>
                <a:cs typeface="Times New Roman"/>
              </a:rPr>
              <a:t>result</a:t>
            </a:r>
            <a:r>
              <a:rPr sz="1300" spc="1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74151"/>
                </a:solidFill>
                <a:latin typeface="Times New Roman"/>
                <a:cs typeface="Times New Roman"/>
              </a:rPr>
              <a:t>in</a:t>
            </a:r>
            <a:r>
              <a:rPr sz="1300" spc="1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74151"/>
                </a:solidFill>
                <a:latin typeface="Times New Roman"/>
                <a:cs typeface="Times New Roman"/>
              </a:rPr>
              <a:t>a</a:t>
            </a:r>
            <a:r>
              <a:rPr sz="1300" spc="1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74151"/>
                </a:solidFill>
                <a:latin typeface="Times New Roman"/>
                <a:cs typeface="Times New Roman"/>
              </a:rPr>
              <a:t>delayed</a:t>
            </a:r>
            <a:r>
              <a:rPr sz="1300" spc="1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74151"/>
                </a:solidFill>
                <a:latin typeface="Times New Roman"/>
                <a:cs typeface="Times New Roman"/>
              </a:rPr>
              <a:t>warning</a:t>
            </a:r>
            <a:r>
              <a:rPr sz="1300" spc="1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74151"/>
                </a:solidFill>
                <a:latin typeface="Times New Roman"/>
                <a:cs typeface="Times New Roman"/>
              </a:rPr>
              <a:t>signal</a:t>
            </a:r>
            <a:r>
              <a:rPr sz="1300" spc="1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74151"/>
                </a:solidFill>
                <a:latin typeface="Times New Roman"/>
                <a:cs typeface="Times New Roman"/>
              </a:rPr>
              <a:t>during</a:t>
            </a:r>
            <a:r>
              <a:rPr sz="1300" spc="1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374151"/>
                </a:solidFill>
                <a:latin typeface="Times New Roman"/>
                <a:cs typeface="Times New Roman"/>
              </a:rPr>
              <a:t>sudden events.</a:t>
            </a:r>
            <a:endParaRPr sz="13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609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solidFill>
                  <a:schemeClr val="accent5">
                    <a:lumMod val="75000"/>
                  </a:schemeClr>
                </a:solidFill>
              </a:rPr>
              <a:t>Why</a:t>
            </a:r>
            <a:r>
              <a:rPr spc="-2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dirty="0">
                <a:solidFill>
                  <a:schemeClr val="accent5">
                    <a:lumMod val="75000"/>
                  </a:schemeClr>
                </a:solidFill>
              </a:rPr>
              <a:t>Monitoring</a:t>
            </a:r>
            <a:r>
              <a:rPr spc="-10" dirty="0">
                <a:solidFill>
                  <a:schemeClr val="accent5">
                    <a:lumMod val="75000"/>
                  </a:schemeClr>
                </a:solidFill>
              </a:rPr>
              <a:t> Matters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70500" y="772874"/>
            <a:ext cx="5095406" cy="601424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chemeClr val="bg1"/>
                </a:solidFill>
              </a:rPr>
              <a:t>Tailings</a:t>
            </a:r>
            <a:r>
              <a:rPr spc="-4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storage</a:t>
            </a:r>
            <a:r>
              <a:rPr spc="-4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facilities</a:t>
            </a:r>
            <a:r>
              <a:rPr spc="-4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rank</a:t>
            </a:r>
            <a:r>
              <a:rPr spc="-4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among</a:t>
            </a:r>
            <a:r>
              <a:rPr spc="-4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the</a:t>
            </a:r>
            <a:r>
              <a:rPr spc="-4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highest</a:t>
            </a: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dirty="0">
                <a:solidFill>
                  <a:schemeClr val="bg1"/>
                </a:solidFill>
              </a:rPr>
              <a:t>consequence</a:t>
            </a:r>
            <a:r>
              <a:rPr spc="-3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structures</a:t>
            </a:r>
            <a:r>
              <a:rPr spc="-3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in</a:t>
            </a:r>
            <a:r>
              <a:rPr spc="-3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mining</a:t>
            </a:r>
            <a:r>
              <a:rPr spc="-3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operations.</a:t>
            </a:r>
          </a:p>
          <a:p>
            <a:pPr marL="12700" marR="5080">
              <a:lnSpc>
                <a:spcPct val="159700"/>
              </a:lnSpc>
              <a:spcBef>
                <a:spcPts val="715"/>
              </a:spcBef>
            </a:pPr>
            <a:r>
              <a:rPr dirty="0">
                <a:solidFill>
                  <a:schemeClr val="bg1"/>
                </a:solidFill>
              </a:rPr>
              <a:t>Unlike</a:t>
            </a:r>
            <a:r>
              <a:rPr spc="-3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water</a:t>
            </a:r>
            <a:r>
              <a:rPr spc="-2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dams,</a:t>
            </a:r>
            <a:r>
              <a:rPr spc="-3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they</a:t>
            </a:r>
            <a:r>
              <a:rPr spc="-2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are</a:t>
            </a:r>
            <a:r>
              <a:rPr spc="-3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raised</a:t>
            </a:r>
            <a:r>
              <a:rPr spc="-2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in</a:t>
            </a:r>
            <a:r>
              <a:rPr spc="-3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stages</a:t>
            </a:r>
            <a:r>
              <a:rPr spc="-2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over</a:t>
            </a:r>
            <a:r>
              <a:rPr spc="-3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decades, </a:t>
            </a:r>
            <a:r>
              <a:rPr dirty="0">
                <a:solidFill>
                  <a:schemeClr val="bg1"/>
                </a:solidFill>
              </a:rPr>
              <a:t>often</a:t>
            </a:r>
            <a:r>
              <a:rPr spc="-5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while</a:t>
            </a:r>
            <a:r>
              <a:rPr spc="-4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operating,</a:t>
            </a:r>
            <a:r>
              <a:rPr spc="-5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meaning</a:t>
            </a:r>
            <a:r>
              <a:rPr spc="-4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risk</a:t>
            </a:r>
            <a:r>
              <a:rPr spc="-4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conditions</a:t>
            </a:r>
            <a:r>
              <a:rPr spc="-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evolve </a:t>
            </a:r>
            <a:r>
              <a:rPr dirty="0">
                <a:solidFill>
                  <a:schemeClr val="bg1"/>
                </a:solidFill>
              </a:rPr>
              <a:t>continuously</a:t>
            </a:r>
            <a:r>
              <a:rPr spc="-4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and</a:t>
            </a:r>
            <a:r>
              <a:rPr spc="-4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monitoring</a:t>
            </a:r>
            <a:r>
              <a:rPr spc="-4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must</a:t>
            </a:r>
            <a:r>
              <a:rPr spc="-4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keep</a:t>
            </a:r>
            <a:r>
              <a:rPr spc="-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pace.</a:t>
            </a: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pc="-10" dirty="0">
              <a:solidFill>
                <a:schemeClr val="bg1"/>
              </a:solidFill>
            </a:endParaRPr>
          </a:p>
          <a:p>
            <a:pPr marL="12700" marR="376555">
              <a:lnSpc>
                <a:spcPct val="159700"/>
              </a:lnSpc>
            </a:pPr>
            <a:r>
              <a:rPr dirty="0">
                <a:solidFill>
                  <a:schemeClr val="bg1"/>
                </a:solidFill>
              </a:rPr>
              <a:t>A</a:t>
            </a:r>
            <a:r>
              <a:rPr spc="-4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failure</a:t>
            </a:r>
            <a:r>
              <a:rPr spc="-4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releases</a:t>
            </a:r>
            <a:r>
              <a:rPr spc="-4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stored</a:t>
            </a:r>
            <a:r>
              <a:rPr spc="-4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tailings</a:t>
            </a:r>
            <a:r>
              <a:rPr spc="-4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and</a:t>
            </a:r>
            <a:r>
              <a:rPr spc="-4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process</a:t>
            </a:r>
            <a:r>
              <a:rPr spc="-4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water </a:t>
            </a:r>
            <a:r>
              <a:rPr dirty="0">
                <a:solidFill>
                  <a:schemeClr val="bg1"/>
                </a:solidFill>
              </a:rPr>
              <a:t>downstream,</a:t>
            </a:r>
            <a:r>
              <a:rPr spc="-7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impacting</a:t>
            </a:r>
            <a:r>
              <a:rPr spc="-7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communities,</a:t>
            </a:r>
            <a:r>
              <a:rPr spc="-7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waterways</a:t>
            </a:r>
            <a:r>
              <a:rPr spc="-75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and </a:t>
            </a:r>
            <a:r>
              <a:rPr dirty="0">
                <a:solidFill>
                  <a:schemeClr val="bg1"/>
                </a:solidFill>
              </a:rPr>
              <a:t>ecosystems</a:t>
            </a:r>
            <a:r>
              <a:rPr spc="-3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often</a:t>
            </a:r>
            <a:r>
              <a:rPr spc="-3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irreversibly.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9FE4391-033F-DD4F-AE7B-B07C9143E57D}"/>
              </a:ext>
            </a:extLst>
          </p:cNvPr>
          <p:cNvCxnSpPr/>
          <p:nvPr/>
        </p:nvCxnSpPr>
        <p:spPr>
          <a:xfrm>
            <a:off x="927100" y="1876425"/>
            <a:ext cx="28956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1187" y="2618916"/>
            <a:ext cx="3062855" cy="311571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14636" y="2618916"/>
            <a:ext cx="3062855" cy="311571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18567" y="2531867"/>
            <a:ext cx="3062855" cy="3115715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609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solidFill>
                  <a:schemeClr val="accent5">
                    <a:lumMod val="75000"/>
                  </a:schemeClr>
                </a:solidFill>
              </a:rPr>
              <a:t>Core</a:t>
            </a:r>
            <a:r>
              <a:rPr spc="-25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dirty="0">
                <a:solidFill>
                  <a:schemeClr val="accent5">
                    <a:lumMod val="75000"/>
                  </a:schemeClr>
                </a:solidFill>
              </a:rPr>
              <a:t>Monitoring</a:t>
            </a:r>
            <a:r>
              <a:rPr spc="-10" dirty="0">
                <a:solidFill>
                  <a:schemeClr val="accent5">
                    <a:lumMod val="75000"/>
                  </a:schemeClr>
                </a:solidFill>
              </a:rPr>
              <a:t> Objectives</a:t>
            </a:r>
          </a:p>
        </p:txBody>
      </p:sp>
      <p:sp>
        <p:nvSpPr>
          <p:cNvPr id="9" name="object 9"/>
          <p:cNvSpPr/>
          <p:nvPr/>
        </p:nvSpPr>
        <p:spPr>
          <a:xfrm>
            <a:off x="501187" y="1775249"/>
            <a:ext cx="5037455" cy="41910"/>
          </a:xfrm>
          <a:custGeom>
            <a:avLst/>
            <a:gdLst/>
            <a:ahLst/>
            <a:cxnLst/>
            <a:rect l="l" t="t" r="r" b="b"/>
            <a:pathLst>
              <a:path w="5037455" h="41910">
                <a:moveTo>
                  <a:pt x="5036934" y="0"/>
                </a:moveTo>
                <a:lnTo>
                  <a:pt x="0" y="0"/>
                </a:lnTo>
                <a:lnTo>
                  <a:pt x="0" y="41765"/>
                </a:lnTo>
                <a:lnTo>
                  <a:pt x="5036934" y="41765"/>
                </a:lnTo>
                <a:lnTo>
                  <a:pt x="5036934" y="0"/>
                </a:lnTo>
                <a:close/>
              </a:path>
            </a:pathLst>
          </a:custGeom>
          <a:solidFill>
            <a:srgbClr val="B4530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1656659" y="2961393"/>
            <a:ext cx="751840" cy="751840"/>
            <a:chOff x="1656659" y="2961393"/>
            <a:chExt cx="751840" cy="75184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56659" y="2961393"/>
              <a:ext cx="751781" cy="75178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8900" y="3161868"/>
              <a:ext cx="267299" cy="350831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855975" y="3859517"/>
            <a:ext cx="235267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1E293B"/>
                </a:solidFill>
                <a:latin typeface="Times New Roman"/>
                <a:cs typeface="Times New Roman"/>
              </a:rPr>
              <a:t>Verify</a:t>
            </a:r>
            <a:r>
              <a:rPr sz="1550" b="1" spc="45" dirty="0">
                <a:solidFill>
                  <a:srgbClr val="1E293B"/>
                </a:solidFill>
                <a:latin typeface="Times New Roman"/>
                <a:cs typeface="Times New Roman"/>
              </a:rPr>
              <a:t> </a:t>
            </a:r>
            <a:r>
              <a:rPr sz="1550" b="1" dirty="0">
                <a:solidFill>
                  <a:srgbClr val="1E293B"/>
                </a:solidFill>
                <a:latin typeface="Times New Roman"/>
                <a:cs typeface="Times New Roman"/>
              </a:rPr>
              <a:t>Design</a:t>
            </a:r>
            <a:r>
              <a:rPr sz="1550" b="1" spc="50" dirty="0">
                <a:solidFill>
                  <a:srgbClr val="1E293B"/>
                </a:solidFill>
                <a:latin typeface="Times New Roman"/>
                <a:cs typeface="Times New Roman"/>
              </a:rPr>
              <a:t> </a:t>
            </a:r>
            <a:r>
              <a:rPr sz="1550" b="1" spc="-10" dirty="0">
                <a:solidFill>
                  <a:srgbClr val="1E293B"/>
                </a:solidFill>
                <a:latin typeface="Times New Roman"/>
                <a:cs typeface="Times New Roman"/>
              </a:rPr>
              <a:t>Assumptions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5336" y="4381088"/>
            <a:ext cx="2332990" cy="11080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54400"/>
              </a:lnSpc>
              <a:spcBef>
                <a:spcPts val="90"/>
              </a:spcBef>
            </a:pP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Confirm</a:t>
            </a:r>
            <a:r>
              <a:rPr sz="1150" spc="5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that</a:t>
            </a:r>
            <a:r>
              <a:rPr sz="1150" spc="6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pore</a:t>
            </a:r>
            <a:r>
              <a:rPr sz="1150" spc="6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pressures,</a:t>
            </a:r>
            <a:r>
              <a:rPr sz="1150" spc="6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374151"/>
                </a:solidFill>
                <a:latin typeface="Times New Roman"/>
                <a:cs typeface="Times New Roman"/>
              </a:rPr>
              <a:t>seepage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rates</a:t>
            </a:r>
            <a:r>
              <a:rPr sz="1150" spc="4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and</a:t>
            </a:r>
            <a:r>
              <a:rPr sz="1150" spc="5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deformation</a:t>
            </a:r>
            <a:r>
              <a:rPr sz="1150" spc="5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remain</a:t>
            </a:r>
            <a:r>
              <a:rPr sz="1150" spc="5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374151"/>
                </a:solidFill>
                <a:latin typeface="Times New Roman"/>
                <a:cs typeface="Times New Roman"/>
              </a:rPr>
              <a:t>strictly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within</a:t>
            </a:r>
            <a:r>
              <a:rPr sz="1150" spc="3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the</a:t>
            </a:r>
            <a:r>
              <a:rPr sz="1150" spc="4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ranges</a:t>
            </a:r>
            <a:r>
              <a:rPr sz="1150" spc="4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the</a:t>
            </a:r>
            <a:r>
              <a:rPr sz="1150" spc="4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design</a:t>
            </a:r>
            <a:r>
              <a:rPr sz="1150" spc="4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374151"/>
                </a:solidFill>
                <a:latin typeface="Times New Roman"/>
                <a:cs typeface="Times New Roman"/>
              </a:rPr>
              <a:t>originally anticipated.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970109" y="2961393"/>
            <a:ext cx="751840" cy="751840"/>
            <a:chOff x="4970109" y="2961393"/>
            <a:chExt cx="751840" cy="751840"/>
          </a:xfrm>
        </p:grpSpPr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70109" y="2961393"/>
              <a:ext cx="751781" cy="75178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70584" y="3161868"/>
              <a:ext cx="350831" cy="350831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4222871" y="3859517"/>
            <a:ext cx="2244725" cy="13874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1E293B"/>
                </a:solidFill>
                <a:latin typeface="Times New Roman"/>
                <a:cs typeface="Times New Roman"/>
              </a:rPr>
              <a:t>Detect</a:t>
            </a:r>
            <a:r>
              <a:rPr sz="1550" b="1" spc="40" dirty="0">
                <a:solidFill>
                  <a:srgbClr val="1E293B"/>
                </a:solidFill>
                <a:latin typeface="Times New Roman"/>
                <a:cs typeface="Times New Roman"/>
              </a:rPr>
              <a:t> </a:t>
            </a:r>
            <a:r>
              <a:rPr sz="1550" b="1" dirty="0">
                <a:solidFill>
                  <a:srgbClr val="1E293B"/>
                </a:solidFill>
                <a:latin typeface="Times New Roman"/>
                <a:cs typeface="Times New Roman"/>
              </a:rPr>
              <a:t>Early</a:t>
            </a:r>
            <a:r>
              <a:rPr sz="1550" b="1" spc="40" dirty="0">
                <a:solidFill>
                  <a:srgbClr val="1E293B"/>
                </a:solidFill>
                <a:latin typeface="Times New Roman"/>
                <a:cs typeface="Times New Roman"/>
              </a:rPr>
              <a:t> </a:t>
            </a:r>
            <a:r>
              <a:rPr sz="1550" b="1" spc="-10" dirty="0">
                <a:solidFill>
                  <a:srgbClr val="1E293B"/>
                </a:solidFill>
                <a:latin typeface="Times New Roman"/>
                <a:cs typeface="Times New Roman"/>
              </a:rPr>
              <a:t>Warnings</a:t>
            </a:r>
            <a:endParaRPr sz="1550">
              <a:latin typeface="Times New Roman"/>
              <a:cs typeface="Times New Roman"/>
            </a:endParaRPr>
          </a:p>
          <a:p>
            <a:pPr marL="12700" marR="5080" algn="ctr">
              <a:lnSpc>
                <a:spcPct val="154400"/>
              </a:lnSpc>
              <a:spcBef>
                <a:spcPts val="305"/>
              </a:spcBef>
            </a:pP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Identify</a:t>
            </a:r>
            <a:r>
              <a:rPr sz="1150" spc="4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active</a:t>
            </a:r>
            <a:r>
              <a:rPr sz="1150" spc="4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trends,</a:t>
            </a:r>
            <a:r>
              <a:rPr sz="1150" spc="4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not</a:t>
            </a:r>
            <a:r>
              <a:rPr sz="1150" spc="4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just</a:t>
            </a:r>
            <a:r>
              <a:rPr sz="1150" spc="4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374151"/>
                </a:solidFill>
                <a:latin typeface="Times New Roman"/>
                <a:cs typeface="Times New Roman"/>
              </a:rPr>
              <a:t>single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readings,</a:t>
            </a:r>
            <a:r>
              <a:rPr sz="1150" spc="3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that</a:t>
            </a:r>
            <a:r>
              <a:rPr sz="1150" spc="4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indicate</a:t>
            </a:r>
            <a:r>
              <a:rPr sz="1150" spc="4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a</a:t>
            </a:r>
            <a:r>
              <a:rPr sz="1150" spc="4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374151"/>
                </a:solidFill>
                <a:latin typeface="Times New Roman"/>
                <a:cs typeface="Times New Roman"/>
              </a:rPr>
              <a:t>developing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failure</a:t>
            </a:r>
            <a:r>
              <a:rPr sz="1150" spc="4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mechanism</a:t>
            </a:r>
            <a:r>
              <a:rPr sz="1150" spc="5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before</a:t>
            </a:r>
            <a:r>
              <a:rPr sz="1150" spc="5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it</a:t>
            </a:r>
            <a:r>
              <a:rPr sz="1150" spc="4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374151"/>
                </a:solidFill>
                <a:latin typeface="Times New Roman"/>
                <a:cs typeface="Times New Roman"/>
              </a:rPr>
              <a:t>becomes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visible</a:t>
            </a:r>
            <a:r>
              <a:rPr sz="1150" spc="2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at</a:t>
            </a:r>
            <a:r>
              <a:rPr sz="1150" spc="3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374151"/>
                </a:solidFill>
                <a:latin typeface="Times New Roman"/>
                <a:cs typeface="Times New Roman"/>
              </a:rPr>
              <a:t>surface.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283558" y="2961393"/>
            <a:ext cx="751840" cy="751840"/>
            <a:chOff x="8283558" y="2961393"/>
            <a:chExt cx="751840" cy="751840"/>
          </a:xfrm>
        </p:grpSpPr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283558" y="2961393"/>
              <a:ext cx="751781" cy="75178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438092" y="3161868"/>
              <a:ext cx="442715" cy="350831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7385929" y="3859517"/>
            <a:ext cx="2545080" cy="1116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1E293B"/>
                </a:solidFill>
                <a:latin typeface="Times New Roman"/>
                <a:cs typeface="Times New Roman"/>
              </a:rPr>
              <a:t>Regulatory</a:t>
            </a:r>
            <a:r>
              <a:rPr sz="1550" b="1" spc="80" dirty="0">
                <a:solidFill>
                  <a:srgbClr val="1E293B"/>
                </a:solidFill>
                <a:latin typeface="Times New Roman"/>
                <a:cs typeface="Times New Roman"/>
              </a:rPr>
              <a:t> </a:t>
            </a:r>
            <a:r>
              <a:rPr sz="1550" b="1" spc="-10" dirty="0">
                <a:solidFill>
                  <a:srgbClr val="1E293B"/>
                </a:solidFill>
                <a:latin typeface="Times New Roman"/>
                <a:cs typeface="Times New Roman"/>
              </a:rPr>
              <a:t>Compliance</a:t>
            </a:r>
            <a:endParaRPr sz="1550">
              <a:latin typeface="Times New Roman"/>
              <a:cs typeface="Times New Roman"/>
            </a:endParaRPr>
          </a:p>
          <a:p>
            <a:pPr marL="12700" marR="5080" algn="ctr">
              <a:lnSpc>
                <a:spcPct val="154400"/>
              </a:lnSpc>
              <a:spcBef>
                <a:spcPts val="305"/>
              </a:spcBef>
            </a:pP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Provide</a:t>
            </a:r>
            <a:r>
              <a:rPr sz="1150" spc="5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the</a:t>
            </a:r>
            <a:r>
              <a:rPr sz="1150" spc="5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structured,</a:t>
            </a:r>
            <a:r>
              <a:rPr sz="1150" spc="5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auditable</a:t>
            </a:r>
            <a:r>
              <a:rPr sz="1150" spc="5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data</a:t>
            </a:r>
            <a:r>
              <a:rPr sz="1150" spc="5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spc="-20" dirty="0">
                <a:solidFill>
                  <a:srgbClr val="374151"/>
                </a:solidFill>
                <a:latin typeface="Times New Roman"/>
                <a:cs typeface="Times New Roman"/>
              </a:rPr>
              <a:t>trail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routinely</a:t>
            </a:r>
            <a:r>
              <a:rPr sz="1150" spc="5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required</a:t>
            </a:r>
            <a:r>
              <a:rPr sz="1150" spc="6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by</a:t>
            </a:r>
            <a:r>
              <a:rPr sz="1150" spc="6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regulators,</a:t>
            </a:r>
            <a:r>
              <a:rPr sz="1150" spc="6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374151"/>
                </a:solidFill>
                <a:latin typeface="Times New Roman"/>
                <a:cs typeface="Times New Roman"/>
              </a:rPr>
              <a:t>insurers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and</a:t>
            </a:r>
            <a:r>
              <a:rPr sz="1150" spc="6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independent</a:t>
            </a:r>
            <a:r>
              <a:rPr sz="1150" spc="6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374151"/>
                </a:solidFill>
                <a:latin typeface="Times New Roman"/>
                <a:cs typeface="Times New Roman"/>
              </a:rPr>
              <a:t>review</a:t>
            </a:r>
            <a:r>
              <a:rPr sz="1150" spc="6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374151"/>
                </a:solidFill>
                <a:latin typeface="Times New Roman"/>
                <a:cs typeface="Times New Roman"/>
              </a:rPr>
              <a:t>boards.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2953" y="2346003"/>
            <a:ext cx="4677750" cy="17054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71297" y="2346003"/>
            <a:ext cx="4677750" cy="17054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2953" y="4302069"/>
            <a:ext cx="4677750" cy="17054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471297" y="4302069"/>
            <a:ext cx="4677750" cy="1705472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609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solidFill>
                  <a:schemeClr val="accent5">
                    <a:lumMod val="75000"/>
                  </a:schemeClr>
                </a:solidFill>
              </a:rPr>
              <a:t>Failure</a:t>
            </a:r>
            <a:r>
              <a:rPr spc="-25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dirty="0">
                <a:solidFill>
                  <a:schemeClr val="accent5">
                    <a:lumMod val="75000"/>
                  </a:schemeClr>
                </a:solidFill>
              </a:rPr>
              <a:t>Modes</a:t>
            </a:r>
            <a:r>
              <a:rPr spc="-15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dirty="0">
                <a:solidFill>
                  <a:schemeClr val="accent5">
                    <a:lumMod val="75000"/>
                  </a:schemeClr>
                </a:solidFill>
              </a:rPr>
              <a:t>Guarded</a:t>
            </a:r>
            <a:r>
              <a:rPr spc="-15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spc="-10" dirty="0">
                <a:solidFill>
                  <a:schemeClr val="accent5">
                    <a:lumMod val="75000"/>
                  </a:schemeClr>
                </a:solidFill>
              </a:rPr>
              <a:t>Against</a:t>
            </a:r>
          </a:p>
        </p:txBody>
      </p:sp>
      <p:sp>
        <p:nvSpPr>
          <p:cNvPr id="11" name="object 11"/>
          <p:cNvSpPr/>
          <p:nvPr/>
        </p:nvSpPr>
        <p:spPr>
          <a:xfrm>
            <a:off x="501187" y="1775249"/>
            <a:ext cx="5789295" cy="41910"/>
          </a:xfrm>
          <a:custGeom>
            <a:avLst/>
            <a:gdLst/>
            <a:ahLst/>
            <a:cxnLst/>
            <a:rect l="l" t="t" r="r" b="b"/>
            <a:pathLst>
              <a:path w="5789295" h="41910">
                <a:moveTo>
                  <a:pt x="5788715" y="0"/>
                </a:moveTo>
                <a:lnTo>
                  <a:pt x="0" y="0"/>
                </a:lnTo>
                <a:lnTo>
                  <a:pt x="0" y="41765"/>
                </a:lnTo>
                <a:lnTo>
                  <a:pt x="5788715" y="41765"/>
                </a:lnTo>
                <a:lnTo>
                  <a:pt x="5788715" y="0"/>
                </a:lnTo>
                <a:close/>
              </a:path>
            </a:pathLst>
          </a:custGeom>
          <a:solidFill>
            <a:srgbClr val="B4530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1899" y="2688480"/>
            <a:ext cx="375890" cy="334125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332153" y="2495159"/>
            <a:ext cx="3562350" cy="130048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1550" b="1" spc="-10" dirty="0">
                <a:solidFill>
                  <a:srgbClr val="0F172A"/>
                </a:solidFill>
                <a:latin typeface="Times New Roman"/>
                <a:cs typeface="Times New Roman"/>
              </a:rPr>
              <a:t>OVERTOPPING</a:t>
            </a:r>
            <a:endParaRPr sz="1550">
              <a:latin typeface="Times New Roman"/>
              <a:cs typeface="Times New Roman"/>
            </a:endParaRPr>
          </a:p>
          <a:p>
            <a:pPr marL="12700" marR="5080">
              <a:lnSpc>
                <a:spcPts val="2400"/>
              </a:lnSpc>
              <a:spcBef>
                <a:spcPts val="20"/>
              </a:spcBef>
            </a:pP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Pond</a:t>
            </a:r>
            <a:r>
              <a:rPr sz="1250" spc="-2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level</a:t>
            </a:r>
            <a:r>
              <a:rPr sz="1250" spc="-2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rises</a:t>
            </a:r>
            <a:r>
              <a:rPr sz="1250" spc="-2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above</a:t>
            </a:r>
            <a:r>
              <a:rPr sz="1250" spc="-2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freeboard</a:t>
            </a:r>
            <a:r>
              <a:rPr sz="1250" spc="-2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during</a:t>
            </a:r>
            <a:r>
              <a:rPr sz="1250" spc="-2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extreme</a:t>
            </a:r>
            <a:r>
              <a:rPr sz="1250" spc="-2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374151"/>
                </a:solidFill>
                <a:latin typeface="Times New Roman"/>
                <a:cs typeface="Times New Roman"/>
              </a:rPr>
              <a:t>storms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or</a:t>
            </a:r>
            <a:r>
              <a:rPr sz="1250" spc="-2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blocked</a:t>
            </a:r>
            <a:r>
              <a:rPr sz="1250" spc="-2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spillways,</a:t>
            </a:r>
            <a:r>
              <a:rPr sz="1250" spc="-2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allowing</a:t>
            </a:r>
            <a:r>
              <a:rPr sz="1250" spc="-2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water</a:t>
            </a:r>
            <a:r>
              <a:rPr sz="1250" spc="-2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to</a:t>
            </a:r>
            <a:r>
              <a:rPr sz="1250" spc="-2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flow</a:t>
            </a:r>
            <a:r>
              <a:rPr sz="1250" spc="-2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over</a:t>
            </a:r>
            <a:r>
              <a:rPr sz="1250" spc="-2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spc="-25" dirty="0">
                <a:solidFill>
                  <a:srgbClr val="374151"/>
                </a:solidFill>
                <a:latin typeface="Times New Roman"/>
                <a:cs typeface="Times New Roman"/>
              </a:rPr>
              <a:t>the </a:t>
            </a:r>
            <a:r>
              <a:rPr sz="1250" spc="-10" dirty="0">
                <a:solidFill>
                  <a:srgbClr val="374151"/>
                </a:solidFill>
                <a:latin typeface="Times New Roman"/>
                <a:cs typeface="Times New Roman"/>
              </a:rPr>
              <a:t>crest.</a:t>
            </a:r>
            <a:endParaRPr sz="1250">
              <a:latin typeface="Times New Roman"/>
              <a:cs typeface="Times New Roman"/>
            </a:endParaRPr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30243" y="2688480"/>
            <a:ext cx="375890" cy="334125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6260496" y="2495159"/>
            <a:ext cx="3540125" cy="130048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55"/>
              </a:spcBef>
            </a:pPr>
            <a:r>
              <a:rPr sz="1550" b="1" dirty="0">
                <a:solidFill>
                  <a:srgbClr val="0F172A"/>
                </a:solidFill>
                <a:latin typeface="Times New Roman"/>
                <a:cs typeface="Times New Roman"/>
              </a:rPr>
              <a:t>SEEPAGE</a:t>
            </a:r>
            <a:r>
              <a:rPr sz="1550" b="1" spc="40" dirty="0">
                <a:solidFill>
                  <a:srgbClr val="0F172A"/>
                </a:solidFill>
                <a:latin typeface="Times New Roman"/>
                <a:cs typeface="Times New Roman"/>
              </a:rPr>
              <a:t> </a:t>
            </a:r>
            <a:r>
              <a:rPr sz="1550" b="1" dirty="0">
                <a:solidFill>
                  <a:srgbClr val="0F172A"/>
                </a:solidFill>
                <a:latin typeface="Times New Roman"/>
                <a:cs typeface="Times New Roman"/>
              </a:rPr>
              <a:t>AND</a:t>
            </a:r>
            <a:r>
              <a:rPr sz="1550" b="1" spc="45" dirty="0">
                <a:solidFill>
                  <a:srgbClr val="0F172A"/>
                </a:solidFill>
                <a:latin typeface="Times New Roman"/>
                <a:cs typeface="Times New Roman"/>
              </a:rPr>
              <a:t> </a:t>
            </a:r>
            <a:r>
              <a:rPr sz="1550" b="1" spc="-10" dirty="0">
                <a:solidFill>
                  <a:srgbClr val="0F172A"/>
                </a:solidFill>
                <a:latin typeface="Times New Roman"/>
                <a:cs typeface="Times New Roman"/>
              </a:rPr>
              <a:t>PIPING</a:t>
            </a:r>
            <a:endParaRPr sz="1550">
              <a:latin typeface="Times New Roman"/>
              <a:cs typeface="Times New Roman"/>
            </a:endParaRPr>
          </a:p>
          <a:p>
            <a:pPr marL="12700" marR="5080" algn="just">
              <a:lnSpc>
                <a:spcPts val="2400"/>
              </a:lnSpc>
              <a:spcBef>
                <a:spcPts val="20"/>
              </a:spcBef>
            </a:pP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Uncontrolled</a:t>
            </a:r>
            <a:r>
              <a:rPr sz="1250" spc="-3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internal</a:t>
            </a:r>
            <a:r>
              <a:rPr sz="1250" spc="-2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seepage</a:t>
            </a:r>
            <a:r>
              <a:rPr sz="1250" spc="-2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erodes</a:t>
            </a:r>
            <a:r>
              <a:rPr sz="1250" spc="-2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fines</a:t>
            </a:r>
            <a:r>
              <a:rPr sz="1250" spc="-2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from</a:t>
            </a:r>
            <a:r>
              <a:rPr sz="1250" spc="-3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374151"/>
                </a:solidFill>
                <a:latin typeface="Times New Roman"/>
                <a:cs typeface="Times New Roman"/>
              </a:rPr>
              <a:t>within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the</a:t>
            </a:r>
            <a:r>
              <a:rPr sz="1250" spc="-3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embankment,</a:t>
            </a:r>
            <a:r>
              <a:rPr sz="1250" spc="-3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forming</a:t>
            </a:r>
            <a:r>
              <a:rPr sz="1250" spc="-3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channels</a:t>
            </a:r>
            <a:r>
              <a:rPr sz="1250" spc="-3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that</a:t>
            </a:r>
            <a:r>
              <a:rPr sz="1250" spc="-3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can</a:t>
            </a:r>
            <a:r>
              <a:rPr sz="1250" spc="-2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progress</a:t>
            </a:r>
            <a:r>
              <a:rPr sz="1250" spc="-3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spc="-25" dirty="0">
                <a:solidFill>
                  <a:srgbClr val="374151"/>
                </a:solidFill>
                <a:latin typeface="Times New Roman"/>
                <a:cs typeface="Times New Roman"/>
              </a:rPr>
              <a:t>to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internal</a:t>
            </a:r>
            <a:r>
              <a:rPr sz="1250" spc="-4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374151"/>
                </a:solidFill>
                <a:latin typeface="Times New Roman"/>
                <a:cs typeface="Times New Roman"/>
              </a:rPr>
              <a:t>collapse.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32153" y="4451226"/>
            <a:ext cx="3544570" cy="130048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1550" b="1" dirty="0">
                <a:solidFill>
                  <a:srgbClr val="0F172A"/>
                </a:solidFill>
                <a:latin typeface="Times New Roman"/>
                <a:cs typeface="Times New Roman"/>
              </a:rPr>
              <a:t>SLOPE</a:t>
            </a:r>
            <a:r>
              <a:rPr sz="1550" b="1" spc="50" dirty="0">
                <a:solidFill>
                  <a:srgbClr val="0F172A"/>
                </a:solidFill>
                <a:latin typeface="Times New Roman"/>
                <a:cs typeface="Times New Roman"/>
              </a:rPr>
              <a:t> </a:t>
            </a:r>
            <a:r>
              <a:rPr sz="1550" b="1" spc="-10" dirty="0">
                <a:solidFill>
                  <a:srgbClr val="0F172A"/>
                </a:solidFill>
                <a:latin typeface="Times New Roman"/>
                <a:cs typeface="Times New Roman"/>
              </a:rPr>
              <a:t>INSTABILITY</a:t>
            </a:r>
            <a:endParaRPr sz="1550">
              <a:latin typeface="Times New Roman"/>
              <a:cs typeface="Times New Roman"/>
            </a:endParaRPr>
          </a:p>
          <a:p>
            <a:pPr marL="12700" marR="5080">
              <a:lnSpc>
                <a:spcPts val="2400"/>
              </a:lnSpc>
              <a:spcBef>
                <a:spcPts val="20"/>
              </a:spcBef>
            </a:pP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Shear</a:t>
            </a:r>
            <a:r>
              <a:rPr sz="1250" spc="-2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strength</a:t>
            </a:r>
            <a:r>
              <a:rPr sz="1250" spc="-2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is</a:t>
            </a:r>
            <a:r>
              <a:rPr sz="1250" spc="-2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exceeded</a:t>
            </a:r>
            <a:r>
              <a:rPr sz="1250" spc="-2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along</a:t>
            </a:r>
            <a:r>
              <a:rPr sz="1250" spc="-2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a</a:t>
            </a:r>
            <a:r>
              <a:rPr sz="1250" spc="-2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slip</a:t>
            </a:r>
            <a:r>
              <a:rPr sz="1250" spc="-2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surface,</a:t>
            </a:r>
            <a:r>
              <a:rPr sz="1250" spc="-2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374151"/>
                </a:solidFill>
                <a:latin typeface="Times New Roman"/>
                <a:cs typeface="Times New Roman"/>
              </a:rPr>
              <a:t>causing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slumping</a:t>
            </a:r>
            <a:r>
              <a:rPr sz="1250" spc="-3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or</a:t>
            </a:r>
            <a:r>
              <a:rPr sz="1250" spc="-2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a</a:t>
            </a:r>
            <a:r>
              <a:rPr sz="1250" spc="-2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rotational</a:t>
            </a:r>
            <a:r>
              <a:rPr sz="1250" spc="-2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slope</a:t>
            </a:r>
            <a:r>
              <a:rPr sz="1250" spc="-2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failure</a:t>
            </a:r>
            <a:r>
              <a:rPr sz="1250" spc="-2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of</a:t>
            </a:r>
            <a:r>
              <a:rPr sz="1250" spc="-2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spc="-25" dirty="0">
                <a:solidFill>
                  <a:srgbClr val="374151"/>
                </a:solidFill>
                <a:latin typeface="Times New Roman"/>
                <a:cs typeface="Times New Roman"/>
              </a:rPr>
              <a:t>the </a:t>
            </a:r>
            <a:r>
              <a:rPr sz="1250" spc="-10" dirty="0">
                <a:solidFill>
                  <a:srgbClr val="374151"/>
                </a:solidFill>
                <a:latin typeface="Times New Roman"/>
                <a:cs typeface="Times New Roman"/>
              </a:rPr>
              <a:t>embankment.</a:t>
            </a:r>
            <a:endParaRPr sz="1250">
              <a:latin typeface="Times New Roman"/>
              <a:cs typeface="Times New Roman"/>
            </a:endParaRPr>
          </a:p>
        </p:txBody>
      </p: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30243" y="4644547"/>
            <a:ext cx="375890" cy="334125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6260496" y="4451226"/>
            <a:ext cx="3293745" cy="99568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1550" b="1" dirty="0">
                <a:solidFill>
                  <a:srgbClr val="0F172A"/>
                </a:solidFill>
                <a:latin typeface="Times New Roman"/>
                <a:cs typeface="Times New Roman"/>
              </a:rPr>
              <a:t>STATIC/SEISMIC</a:t>
            </a:r>
            <a:r>
              <a:rPr sz="1550" b="1" spc="100" dirty="0">
                <a:solidFill>
                  <a:srgbClr val="0F172A"/>
                </a:solidFill>
                <a:latin typeface="Times New Roman"/>
                <a:cs typeface="Times New Roman"/>
              </a:rPr>
              <a:t> </a:t>
            </a:r>
            <a:r>
              <a:rPr sz="1550" b="1" spc="-10" dirty="0">
                <a:solidFill>
                  <a:srgbClr val="0F172A"/>
                </a:solidFill>
                <a:latin typeface="Times New Roman"/>
                <a:cs typeface="Times New Roman"/>
              </a:rPr>
              <a:t>LIQUEFACTION</a:t>
            </a:r>
            <a:endParaRPr sz="1550">
              <a:latin typeface="Times New Roman"/>
              <a:cs typeface="Times New Roman"/>
            </a:endParaRPr>
          </a:p>
          <a:p>
            <a:pPr marL="12700" marR="96520">
              <a:lnSpc>
                <a:spcPts val="2400"/>
              </a:lnSpc>
              <a:spcBef>
                <a:spcPts val="20"/>
              </a:spcBef>
            </a:pP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Loose,</a:t>
            </a:r>
            <a:r>
              <a:rPr sz="1250" spc="-3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saturated</a:t>
            </a:r>
            <a:r>
              <a:rPr sz="1250" spc="-3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tailings</a:t>
            </a:r>
            <a:r>
              <a:rPr sz="1250" spc="-3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lose</a:t>
            </a:r>
            <a:r>
              <a:rPr sz="1250" spc="-3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strength</a:t>
            </a:r>
            <a:r>
              <a:rPr sz="1250" spc="-3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under</a:t>
            </a:r>
            <a:r>
              <a:rPr sz="1250" spc="-3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374151"/>
                </a:solidFill>
                <a:latin typeface="Times New Roman"/>
                <a:cs typeface="Times New Roman"/>
              </a:rPr>
              <a:t>static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loading</a:t>
            </a:r>
            <a:r>
              <a:rPr sz="1250" spc="-2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or</a:t>
            </a:r>
            <a:r>
              <a:rPr sz="1250" spc="-1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earthquake</a:t>
            </a:r>
            <a:r>
              <a:rPr sz="1250" spc="-1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shaking</a:t>
            </a:r>
            <a:r>
              <a:rPr sz="1250" spc="-2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and</a:t>
            </a:r>
            <a:r>
              <a:rPr sz="1250" spc="-1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flow</a:t>
            </a:r>
            <a:r>
              <a:rPr sz="1250" spc="-1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as</a:t>
            </a:r>
            <a:r>
              <a:rPr sz="1250" spc="-2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374151"/>
                </a:solidFill>
                <a:latin typeface="Times New Roman"/>
                <a:cs typeface="Times New Roman"/>
              </a:rPr>
              <a:t>a</a:t>
            </a:r>
            <a:r>
              <a:rPr sz="1250" spc="-1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374151"/>
                </a:solidFill>
                <a:latin typeface="Times New Roman"/>
                <a:cs typeface="Times New Roman"/>
              </a:rPr>
              <a:t>fluid.</a:t>
            </a:r>
            <a:endParaRPr sz="12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2576" y="2486504"/>
            <a:ext cx="3508312" cy="350831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82576" y="2609930"/>
            <a:ext cx="3508312" cy="3508312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609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>
                <a:solidFill>
                  <a:schemeClr val="accent5">
                    <a:lumMod val="75000"/>
                  </a:schemeClr>
                </a:solidFill>
              </a:rPr>
              <a:t>Conclusion</a:t>
            </a:r>
          </a:p>
        </p:txBody>
      </p:sp>
      <p:sp>
        <p:nvSpPr>
          <p:cNvPr id="8" name="object 8"/>
          <p:cNvSpPr/>
          <p:nvPr/>
        </p:nvSpPr>
        <p:spPr>
          <a:xfrm>
            <a:off x="501187" y="1775249"/>
            <a:ext cx="2046605" cy="41910"/>
          </a:xfrm>
          <a:custGeom>
            <a:avLst/>
            <a:gdLst/>
            <a:ahLst/>
            <a:cxnLst/>
            <a:rect l="l" t="t" r="r" b="b"/>
            <a:pathLst>
              <a:path w="2046605" h="41910">
                <a:moveTo>
                  <a:pt x="2046516" y="0"/>
                </a:moveTo>
                <a:lnTo>
                  <a:pt x="0" y="0"/>
                </a:lnTo>
                <a:lnTo>
                  <a:pt x="0" y="41765"/>
                </a:lnTo>
                <a:lnTo>
                  <a:pt x="2046516" y="41765"/>
                </a:lnTo>
                <a:lnTo>
                  <a:pt x="2046516" y="0"/>
                </a:lnTo>
                <a:close/>
              </a:path>
            </a:pathLst>
          </a:custGeom>
          <a:solidFill>
            <a:srgbClr val="B453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918018" y="2371879"/>
            <a:ext cx="4065904" cy="33794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i="1" dirty="0">
                <a:solidFill>
                  <a:schemeClr val="bg1"/>
                </a:solidFill>
                <a:latin typeface="Times New Roman"/>
                <a:cs typeface="Times New Roman"/>
              </a:rPr>
              <a:t>Even</a:t>
            </a:r>
            <a:r>
              <a:rPr sz="1550" i="1" spc="3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550" i="1" dirty="0">
                <a:solidFill>
                  <a:schemeClr val="bg1"/>
                </a:solidFill>
                <a:latin typeface="Times New Roman"/>
                <a:cs typeface="Times New Roman"/>
              </a:rPr>
              <a:t>with</a:t>
            </a:r>
            <a:r>
              <a:rPr sz="1550" i="1" spc="4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550" i="1" dirty="0">
                <a:solidFill>
                  <a:schemeClr val="bg1"/>
                </a:solidFill>
                <a:latin typeface="Times New Roman"/>
                <a:cs typeface="Times New Roman"/>
              </a:rPr>
              <a:t>the</a:t>
            </a:r>
            <a:r>
              <a:rPr sz="1550" i="1" spc="4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550" i="1" dirty="0">
                <a:solidFill>
                  <a:schemeClr val="bg1"/>
                </a:solidFill>
                <a:latin typeface="Times New Roman"/>
                <a:cs typeface="Times New Roman"/>
              </a:rPr>
              <a:t>rise</a:t>
            </a:r>
            <a:r>
              <a:rPr sz="1550" i="1" spc="3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550" i="1" dirty="0">
                <a:solidFill>
                  <a:schemeClr val="bg1"/>
                </a:solidFill>
                <a:latin typeface="Times New Roman"/>
                <a:cs typeface="Times New Roman"/>
              </a:rPr>
              <a:t>of</a:t>
            </a:r>
            <a:r>
              <a:rPr sz="1550" i="1" spc="4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550" i="1" dirty="0">
                <a:solidFill>
                  <a:schemeClr val="bg1"/>
                </a:solidFill>
                <a:latin typeface="Times New Roman"/>
                <a:cs typeface="Times New Roman"/>
              </a:rPr>
              <a:t>modern</a:t>
            </a:r>
            <a:r>
              <a:rPr sz="1550" i="1" spc="4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550" i="1" dirty="0">
                <a:solidFill>
                  <a:schemeClr val="bg1"/>
                </a:solidFill>
                <a:latin typeface="Times New Roman"/>
                <a:cs typeface="Times New Roman"/>
              </a:rPr>
              <a:t>remote</a:t>
            </a:r>
            <a:r>
              <a:rPr sz="1550" i="1" spc="3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550" i="1" spc="-10" dirty="0">
                <a:solidFill>
                  <a:schemeClr val="bg1"/>
                </a:solidFill>
                <a:latin typeface="Times New Roman"/>
                <a:cs typeface="Times New Roman"/>
              </a:rPr>
              <a:t>sensing</a:t>
            </a:r>
            <a:endParaRPr sz="155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ct val="173100"/>
              </a:lnSpc>
              <a:spcBef>
                <a:spcPts val="5"/>
              </a:spcBef>
            </a:pPr>
            <a:r>
              <a:rPr sz="1550" i="1" dirty="0">
                <a:solidFill>
                  <a:schemeClr val="bg1"/>
                </a:solidFill>
                <a:latin typeface="Times New Roman"/>
                <a:cs typeface="Times New Roman"/>
              </a:rPr>
              <a:t>technology,</a:t>
            </a:r>
            <a:r>
              <a:rPr sz="1550" i="1" spc="7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550" i="1" dirty="0">
                <a:solidFill>
                  <a:schemeClr val="bg1"/>
                </a:solidFill>
                <a:latin typeface="Times New Roman"/>
                <a:cs typeface="Times New Roman"/>
              </a:rPr>
              <a:t>standard</a:t>
            </a:r>
            <a:r>
              <a:rPr sz="1550" i="1" spc="8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550" i="1" dirty="0">
                <a:solidFill>
                  <a:schemeClr val="bg1"/>
                </a:solidFill>
                <a:latin typeface="Times New Roman"/>
                <a:cs typeface="Times New Roman"/>
              </a:rPr>
              <a:t>monitoring</a:t>
            </a:r>
            <a:r>
              <a:rPr sz="1550" i="1" spc="8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550" i="1" dirty="0">
                <a:solidFill>
                  <a:schemeClr val="bg1"/>
                </a:solidFill>
                <a:latin typeface="Times New Roman"/>
                <a:cs typeface="Times New Roman"/>
              </a:rPr>
              <a:t>techniques</a:t>
            </a:r>
            <a:r>
              <a:rPr sz="1550" i="1" spc="8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550" i="1" spc="-20" dirty="0">
                <a:solidFill>
                  <a:schemeClr val="bg1"/>
                </a:solidFill>
                <a:latin typeface="Times New Roman"/>
                <a:cs typeface="Times New Roman"/>
              </a:rPr>
              <a:t>like </a:t>
            </a:r>
            <a:r>
              <a:rPr sz="1550" i="1" dirty="0">
                <a:solidFill>
                  <a:schemeClr val="bg1"/>
                </a:solidFill>
                <a:latin typeface="Times New Roman"/>
                <a:cs typeface="Times New Roman"/>
              </a:rPr>
              <a:t>piezometers,</a:t>
            </a:r>
            <a:r>
              <a:rPr sz="1550" i="1" spc="6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550" i="1" dirty="0">
                <a:solidFill>
                  <a:schemeClr val="bg1"/>
                </a:solidFill>
                <a:latin typeface="Times New Roman"/>
                <a:cs typeface="Times New Roman"/>
              </a:rPr>
              <a:t>physical</a:t>
            </a:r>
            <a:r>
              <a:rPr sz="1550" i="1" spc="6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550" i="1" dirty="0">
                <a:solidFill>
                  <a:schemeClr val="bg1"/>
                </a:solidFill>
                <a:latin typeface="Times New Roman"/>
                <a:cs typeface="Times New Roman"/>
              </a:rPr>
              <a:t>surveying</a:t>
            </a:r>
            <a:r>
              <a:rPr sz="1550" i="1" spc="6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550" i="1" dirty="0">
                <a:solidFill>
                  <a:schemeClr val="bg1"/>
                </a:solidFill>
                <a:latin typeface="Times New Roman"/>
                <a:cs typeface="Times New Roman"/>
              </a:rPr>
              <a:t>and</a:t>
            </a:r>
            <a:r>
              <a:rPr sz="1550" i="1" spc="7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550" i="1" spc="-10" dirty="0">
                <a:solidFill>
                  <a:schemeClr val="bg1"/>
                </a:solidFill>
                <a:latin typeface="Times New Roman"/>
                <a:cs typeface="Times New Roman"/>
              </a:rPr>
              <a:t>groundwater </a:t>
            </a:r>
            <a:r>
              <a:rPr sz="1550" i="1" dirty="0">
                <a:solidFill>
                  <a:schemeClr val="bg1"/>
                </a:solidFill>
                <a:latin typeface="Times New Roman"/>
                <a:cs typeface="Times New Roman"/>
              </a:rPr>
              <a:t>logging</a:t>
            </a:r>
            <a:r>
              <a:rPr sz="1550" i="1" spc="5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550" i="1" dirty="0">
                <a:solidFill>
                  <a:schemeClr val="bg1"/>
                </a:solidFill>
                <a:latin typeface="Times New Roman"/>
                <a:cs typeface="Times New Roman"/>
              </a:rPr>
              <a:t>remain</a:t>
            </a:r>
            <a:r>
              <a:rPr sz="1550" i="1" spc="6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550" i="1" dirty="0">
                <a:solidFill>
                  <a:schemeClr val="bg1"/>
                </a:solidFill>
                <a:latin typeface="Times New Roman"/>
                <a:cs typeface="Times New Roman"/>
              </a:rPr>
              <a:t>the</a:t>
            </a:r>
            <a:r>
              <a:rPr sz="1550" i="1" spc="6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550" i="1" dirty="0">
                <a:solidFill>
                  <a:schemeClr val="bg1"/>
                </a:solidFill>
                <a:latin typeface="Times New Roman"/>
                <a:cs typeface="Times New Roman"/>
              </a:rPr>
              <a:t>structural</a:t>
            </a:r>
            <a:r>
              <a:rPr sz="1550" i="1" spc="6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550" i="1" dirty="0">
                <a:solidFill>
                  <a:schemeClr val="bg1"/>
                </a:solidFill>
                <a:latin typeface="Times New Roman"/>
                <a:cs typeface="Times New Roman"/>
              </a:rPr>
              <a:t>backbone</a:t>
            </a:r>
            <a:r>
              <a:rPr sz="1550" i="1" spc="6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550" i="1" dirty="0">
                <a:solidFill>
                  <a:schemeClr val="bg1"/>
                </a:solidFill>
                <a:latin typeface="Times New Roman"/>
                <a:cs typeface="Times New Roman"/>
              </a:rPr>
              <a:t>of</a:t>
            </a:r>
            <a:r>
              <a:rPr sz="1550" i="1" spc="6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550" i="1" spc="-10" dirty="0">
                <a:solidFill>
                  <a:schemeClr val="bg1"/>
                </a:solidFill>
                <a:latin typeface="Times New Roman"/>
                <a:cs typeface="Times New Roman"/>
              </a:rPr>
              <a:t>tailings </a:t>
            </a:r>
            <a:r>
              <a:rPr sz="1550" i="1" dirty="0">
                <a:solidFill>
                  <a:schemeClr val="bg1"/>
                </a:solidFill>
                <a:latin typeface="Times New Roman"/>
                <a:cs typeface="Times New Roman"/>
              </a:rPr>
              <a:t>dam</a:t>
            </a:r>
            <a:r>
              <a:rPr sz="1550" i="1" spc="2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550" i="1" spc="-10" dirty="0">
                <a:solidFill>
                  <a:schemeClr val="bg1"/>
                </a:solidFill>
                <a:latin typeface="Times New Roman"/>
                <a:cs typeface="Times New Roman"/>
              </a:rPr>
              <a:t>safety.</a:t>
            </a:r>
            <a:endParaRPr sz="155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55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12700" marR="189230">
              <a:lnSpc>
                <a:spcPct val="173100"/>
              </a:lnSpc>
              <a:spcBef>
                <a:spcPts val="5"/>
              </a:spcBef>
            </a:pPr>
            <a:r>
              <a:rPr sz="1550" i="1" dirty="0">
                <a:solidFill>
                  <a:schemeClr val="bg1"/>
                </a:solidFill>
                <a:latin typeface="Times New Roman"/>
                <a:cs typeface="Times New Roman"/>
              </a:rPr>
              <a:t>Checking</a:t>
            </a:r>
            <a:r>
              <a:rPr sz="1550" i="1" spc="7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550" i="1" dirty="0">
                <a:solidFill>
                  <a:schemeClr val="bg1"/>
                </a:solidFill>
                <a:latin typeface="Times New Roman"/>
                <a:cs typeface="Times New Roman"/>
              </a:rPr>
              <a:t>these</a:t>
            </a:r>
            <a:r>
              <a:rPr sz="1550" i="1" spc="7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550" i="1" dirty="0">
                <a:solidFill>
                  <a:schemeClr val="bg1"/>
                </a:solidFill>
                <a:latin typeface="Times New Roman"/>
                <a:cs typeface="Times New Roman"/>
              </a:rPr>
              <a:t>reliable</a:t>
            </a:r>
            <a:r>
              <a:rPr sz="1550" i="1" spc="7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550" i="1" dirty="0">
                <a:solidFill>
                  <a:schemeClr val="bg1"/>
                </a:solidFill>
                <a:latin typeface="Times New Roman"/>
                <a:cs typeface="Times New Roman"/>
              </a:rPr>
              <a:t>instruments</a:t>
            </a:r>
            <a:r>
              <a:rPr sz="1550" i="1" spc="7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550" i="1" dirty="0">
                <a:solidFill>
                  <a:schemeClr val="bg1"/>
                </a:solidFill>
                <a:latin typeface="Times New Roman"/>
                <a:cs typeface="Times New Roman"/>
              </a:rPr>
              <a:t>regularly</a:t>
            </a:r>
            <a:r>
              <a:rPr sz="1550" i="1" spc="7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550" i="1" spc="-25" dirty="0">
                <a:solidFill>
                  <a:schemeClr val="bg1"/>
                </a:solidFill>
                <a:latin typeface="Times New Roman"/>
                <a:cs typeface="Times New Roman"/>
              </a:rPr>
              <a:t>is </a:t>
            </a:r>
            <a:r>
              <a:rPr sz="1550" i="1" dirty="0">
                <a:solidFill>
                  <a:schemeClr val="bg1"/>
                </a:solidFill>
                <a:latin typeface="Times New Roman"/>
                <a:cs typeface="Times New Roman"/>
              </a:rPr>
              <a:t>what</a:t>
            </a:r>
            <a:r>
              <a:rPr sz="1550" i="1" spc="5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550" i="1" dirty="0">
                <a:solidFill>
                  <a:schemeClr val="bg1"/>
                </a:solidFill>
                <a:latin typeface="Times New Roman"/>
                <a:cs typeface="Times New Roman"/>
              </a:rPr>
              <a:t>prevents</a:t>
            </a:r>
            <a:r>
              <a:rPr sz="1550" i="1" spc="5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550" i="1" dirty="0">
                <a:solidFill>
                  <a:schemeClr val="bg1"/>
                </a:solidFill>
                <a:latin typeface="Times New Roman"/>
                <a:cs typeface="Times New Roman"/>
              </a:rPr>
              <a:t>small</a:t>
            </a:r>
            <a:r>
              <a:rPr sz="1550" i="1" spc="5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550" i="1" dirty="0">
                <a:solidFill>
                  <a:schemeClr val="bg1"/>
                </a:solidFill>
                <a:latin typeface="Times New Roman"/>
                <a:cs typeface="Times New Roman"/>
              </a:rPr>
              <a:t>leaks</a:t>
            </a:r>
            <a:r>
              <a:rPr sz="1550" i="1" spc="5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550" i="1" dirty="0">
                <a:solidFill>
                  <a:schemeClr val="bg1"/>
                </a:solidFill>
                <a:latin typeface="Times New Roman"/>
                <a:cs typeface="Times New Roman"/>
              </a:rPr>
              <a:t>from</a:t>
            </a:r>
            <a:r>
              <a:rPr sz="1550" i="1" spc="5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550" i="1" dirty="0">
                <a:solidFill>
                  <a:schemeClr val="bg1"/>
                </a:solidFill>
                <a:latin typeface="Times New Roman"/>
                <a:cs typeface="Times New Roman"/>
              </a:rPr>
              <a:t>developing</a:t>
            </a:r>
            <a:r>
              <a:rPr sz="1550" i="1" spc="5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550" i="1" spc="-20" dirty="0">
                <a:solidFill>
                  <a:schemeClr val="bg1"/>
                </a:solidFill>
                <a:latin typeface="Times New Roman"/>
                <a:cs typeface="Times New Roman"/>
              </a:rPr>
              <a:t>into </a:t>
            </a:r>
            <a:r>
              <a:rPr sz="1550" i="1" dirty="0">
                <a:solidFill>
                  <a:schemeClr val="bg1"/>
                </a:solidFill>
                <a:latin typeface="Times New Roman"/>
                <a:cs typeface="Times New Roman"/>
              </a:rPr>
              <a:t>catastrophic</a:t>
            </a:r>
            <a:r>
              <a:rPr sz="1550" i="1" spc="12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550" i="1" spc="-10" dirty="0">
                <a:solidFill>
                  <a:schemeClr val="bg1"/>
                </a:solidFill>
                <a:latin typeface="Times New Roman"/>
                <a:cs typeface="Times New Roman"/>
              </a:rPr>
              <a:t>failure.</a:t>
            </a:r>
            <a:endParaRPr sz="155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21891" y="2392597"/>
            <a:ext cx="41910" cy="2044700"/>
          </a:xfrm>
          <a:custGeom>
            <a:avLst/>
            <a:gdLst/>
            <a:ahLst/>
            <a:cxnLst/>
            <a:rect l="l" t="t" r="r" b="b"/>
            <a:pathLst>
              <a:path w="41910" h="2044700">
                <a:moveTo>
                  <a:pt x="41765" y="0"/>
                </a:moveTo>
                <a:lnTo>
                  <a:pt x="0" y="0"/>
                </a:lnTo>
                <a:lnTo>
                  <a:pt x="0" y="2044688"/>
                </a:lnTo>
                <a:lnTo>
                  <a:pt x="41765" y="2044688"/>
                </a:lnTo>
                <a:lnTo>
                  <a:pt x="41765" y="0"/>
                </a:lnTo>
                <a:close/>
              </a:path>
            </a:pathLst>
          </a:custGeom>
          <a:solidFill>
            <a:srgbClr val="0369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721891" y="4687879"/>
            <a:ext cx="41910" cy="1022350"/>
          </a:xfrm>
          <a:custGeom>
            <a:avLst/>
            <a:gdLst/>
            <a:ahLst/>
            <a:cxnLst/>
            <a:rect l="l" t="t" r="r" b="b"/>
            <a:pathLst>
              <a:path w="41910" h="1022350">
                <a:moveTo>
                  <a:pt x="41765" y="0"/>
                </a:moveTo>
                <a:lnTo>
                  <a:pt x="0" y="0"/>
                </a:lnTo>
                <a:lnTo>
                  <a:pt x="0" y="1022343"/>
                </a:lnTo>
                <a:lnTo>
                  <a:pt x="41765" y="1022343"/>
                </a:lnTo>
                <a:lnTo>
                  <a:pt x="41765" y="0"/>
                </a:lnTo>
                <a:close/>
              </a:path>
            </a:pathLst>
          </a:custGeom>
          <a:solidFill>
            <a:srgbClr val="0369A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247664" rIns="0" bIns="0" rtlCol="0">
            <a:spAutoFit/>
          </a:bodyPr>
          <a:lstStyle/>
          <a:p>
            <a:pPr marL="1708785">
              <a:lnSpc>
                <a:spcPct val="100000"/>
              </a:lnSpc>
              <a:spcBef>
                <a:spcPts val="110"/>
              </a:spcBef>
            </a:pPr>
            <a:r>
              <a:rPr sz="5250" spc="-10" dirty="0">
                <a:solidFill>
                  <a:srgbClr val="B45309"/>
                </a:solidFill>
              </a:rPr>
              <a:t>Questions?</a:t>
            </a:r>
            <a:endParaRPr sz="5250"/>
          </a:p>
        </p:txBody>
      </p:sp>
      <p:sp>
        <p:nvSpPr>
          <p:cNvPr id="6" name="object 6"/>
          <p:cNvSpPr txBox="1"/>
          <p:nvPr/>
        </p:nvSpPr>
        <p:spPr>
          <a:xfrm>
            <a:off x="3258527" y="3534466"/>
            <a:ext cx="417258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dirty="0">
                <a:solidFill>
                  <a:schemeClr val="bg1"/>
                </a:solidFill>
                <a:latin typeface="Times New Roman"/>
                <a:cs typeface="Times New Roman"/>
              </a:rPr>
              <a:t>Thank</a:t>
            </a:r>
            <a:r>
              <a:rPr sz="2100" spc="-2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chemeClr val="bg1"/>
                </a:solidFill>
                <a:latin typeface="Times New Roman"/>
                <a:cs typeface="Times New Roman"/>
              </a:rPr>
              <a:t>you</a:t>
            </a:r>
            <a:r>
              <a:rPr sz="2100" spc="-2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chemeClr val="bg1"/>
                </a:solidFill>
                <a:latin typeface="Times New Roman"/>
                <a:cs typeface="Times New Roman"/>
              </a:rPr>
              <a:t>for</a:t>
            </a:r>
            <a:r>
              <a:rPr sz="2100" spc="-1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chemeClr val="bg1"/>
                </a:solidFill>
                <a:latin typeface="Times New Roman"/>
                <a:cs typeface="Times New Roman"/>
              </a:rPr>
              <a:t>your</a:t>
            </a:r>
            <a:r>
              <a:rPr sz="2100" spc="-2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chemeClr val="bg1"/>
                </a:solidFill>
                <a:latin typeface="Times New Roman"/>
                <a:cs typeface="Times New Roman"/>
              </a:rPr>
              <a:t>time</a:t>
            </a:r>
            <a:r>
              <a:rPr sz="2100" spc="-2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chemeClr val="bg1"/>
                </a:solidFill>
                <a:latin typeface="Times New Roman"/>
                <a:cs typeface="Times New Roman"/>
              </a:rPr>
              <a:t>and</a:t>
            </a:r>
            <a:r>
              <a:rPr sz="2100" spc="-1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100" spc="-10" dirty="0">
                <a:solidFill>
                  <a:schemeClr val="bg1"/>
                </a:solidFill>
                <a:latin typeface="Times New Roman"/>
                <a:cs typeface="Times New Roman"/>
              </a:rPr>
              <a:t>attention.</a:t>
            </a:r>
            <a:endParaRPr sz="210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1180" y="4172604"/>
            <a:ext cx="9690100" cy="8890"/>
          </a:xfrm>
          <a:custGeom>
            <a:avLst/>
            <a:gdLst/>
            <a:ahLst/>
            <a:cxnLst/>
            <a:rect l="l" t="t" r="r" b="b"/>
            <a:pathLst>
              <a:path w="9690100" h="8889">
                <a:moveTo>
                  <a:pt x="9689630" y="0"/>
                </a:moveTo>
                <a:lnTo>
                  <a:pt x="0" y="0"/>
                </a:lnTo>
                <a:lnTo>
                  <a:pt x="0" y="8356"/>
                </a:lnTo>
                <a:lnTo>
                  <a:pt x="9689630" y="8356"/>
                </a:lnTo>
                <a:lnTo>
                  <a:pt x="9689630" y="0"/>
                </a:lnTo>
                <a:close/>
              </a:path>
            </a:pathLst>
          </a:custGeom>
          <a:solidFill>
            <a:srgbClr val="75757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1187" y="3623769"/>
            <a:ext cx="751781" cy="41765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49096" y="3532594"/>
            <a:ext cx="7145655" cy="11823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850" spc="-10" dirty="0">
                <a:solidFill>
                  <a:srgbClr val="374151"/>
                </a:solidFill>
                <a:latin typeface="Times New Roman"/>
                <a:cs typeface="Times New Roman"/>
                <a:hlinkClick r:id="rId4"/>
              </a:rPr>
              <a:t>https://image.kkday.com/v2/image/get/c_fill%2Cq_55%2Ct_webp%2Cw_960/s1.kkday.com/product_261463/20250327080921_btb8y/jpg</a:t>
            </a:r>
            <a:endParaRPr sz="8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050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Source</a:t>
            </a:r>
            <a:r>
              <a:rPr sz="1050" dirty="0">
                <a:solidFill>
                  <a:srgbClr val="374151"/>
                </a:solidFill>
                <a:latin typeface="Times New Roman"/>
                <a:cs typeface="Times New Roman"/>
              </a:rPr>
              <a:t>:</a:t>
            </a:r>
            <a:r>
              <a:rPr sz="1050" spc="-1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4F46E5"/>
                </a:solidFill>
                <a:latin typeface="Times New Roman"/>
                <a:cs typeface="Times New Roman"/>
                <a:hlinkClick r:id="rId5"/>
              </a:rPr>
              <a:t>www.kkday.com</a:t>
            </a:r>
            <a:endParaRPr sz="10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850" spc="-10" dirty="0">
                <a:solidFill>
                  <a:srgbClr val="374151"/>
                </a:solidFill>
                <a:latin typeface="Times New Roman"/>
                <a:cs typeface="Times New Roman"/>
                <a:hlinkClick r:id="rId6"/>
              </a:rPr>
              <a:t>https://images.squarespace-cdn.com/content/v1/5c80d350ab1a62362b81c9d1/1782130453075-HXDD3FHUZUSMC439V49Y/1775128257337.jpg?format=1000w</a:t>
            </a:r>
            <a:endParaRPr sz="8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1050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Source:</a:t>
            </a:r>
            <a:r>
              <a:rPr sz="1050" spc="-10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4F46E5"/>
                </a:solidFill>
                <a:latin typeface="Times New Roman"/>
                <a:cs typeface="Times New Roman"/>
                <a:hlinkClick r:id="rId7"/>
              </a:rPr>
              <a:t>www.decentlab.com</a:t>
            </a:r>
            <a:endParaRPr sz="1050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01187" y="4311989"/>
            <a:ext cx="751781" cy="417656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6091" rIns="0" bIns="0" rtlCol="0">
            <a:spAutoFit/>
          </a:bodyPr>
          <a:lstStyle/>
          <a:p>
            <a:pPr marL="3487420">
              <a:lnSpc>
                <a:spcPct val="100000"/>
              </a:lnSpc>
              <a:spcBef>
                <a:spcPts val="110"/>
              </a:spcBef>
            </a:pPr>
            <a:r>
              <a:rPr dirty="0">
                <a:solidFill>
                  <a:schemeClr val="bg1"/>
                </a:solidFill>
              </a:rPr>
              <a:t>Image </a:t>
            </a:r>
            <a:r>
              <a:rPr spc="-10" dirty="0">
                <a:solidFill>
                  <a:schemeClr val="bg1"/>
                </a:solidFill>
              </a:rPr>
              <a:t>Sources</a:t>
            </a:r>
          </a:p>
        </p:txBody>
      </p:sp>
      <p:sp>
        <p:nvSpPr>
          <p:cNvPr id="7" name="object 7"/>
          <p:cNvSpPr/>
          <p:nvPr/>
        </p:nvSpPr>
        <p:spPr>
          <a:xfrm>
            <a:off x="3976087" y="1775249"/>
            <a:ext cx="2740025" cy="41910"/>
          </a:xfrm>
          <a:custGeom>
            <a:avLst/>
            <a:gdLst/>
            <a:ahLst/>
            <a:cxnLst/>
            <a:rect l="l" t="t" r="r" b="b"/>
            <a:pathLst>
              <a:path w="2740025" h="41910">
                <a:moveTo>
                  <a:pt x="2739825" y="0"/>
                </a:moveTo>
                <a:lnTo>
                  <a:pt x="0" y="0"/>
                </a:lnTo>
                <a:lnTo>
                  <a:pt x="0" y="41765"/>
                </a:lnTo>
                <a:lnTo>
                  <a:pt x="2739825" y="41765"/>
                </a:lnTo>
                <a:lnTo>
                  <a:pt x="2739825" y="0"/>
                </a:lnTo>
                <a:close/>
              </a:path>
            </a:pathLst>
          </a:custGeom>
          <a:solidFill>
            <a:srgbClr val="B4530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Words>678</Words>
  <Application>Microsoft Office PowerPoint</Application>
  <PresentationFormat>Custom</PresentationFormat>
  <Paragraphs>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DM Sans</vt:lpstr>
      <vt:lpstr>Times New Roman</vt:lpstr>
      <vt:lpstr>Office Theme</vt:lpstr>
      <vt:lpstr>Tailings Dam Monitoring</vt:lpstr>
      <vt:lpstr>Presentation Outline</vt:lpstr>
      <vt:lpstr>Introduction to Tailings Dams</vt:lpstr>
      <vt:lpstr>Standard Monitoring Methods</vt:lpstr>
      <vt:lpstr>Key Monitoring Instrumentation</vt:lpstr>
      <vt:lpstr>Standard Monitoring Assessment</vt:lpstr>
      <vt:lpstr>Why Monitoring Matters</vt:lpstr>
      <vt:lpstr>Core Monitoring Objectives</vt:lpstr>
      <vt:lpstr>Failure Modes Guarded Against</vt:lpstr>
      <vt:lpstr>Conclusion</vt:lpstr>
      <vt:lpstr>Questions?</vt:lpstr>
      <vt:lpstr>Image 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Tailings%20Dam%20Monitoring%20(Final).pdf</dc:title>
  <cp:lastModifiedBy>Anthony Essel Prepeh</cp:lastModifiedBy>
  <cp:revision>3</cp:revision>
  <dcterms:created xsi:type="dcterms:W3CDTF">2026-07-29T11:40:34Z</dcterms:created>
  <dcterms:modified xsi:type="dcterms:W3CDTF">2026-08-07T14:22:22Z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2026-07-29T00:00:00Z</vt:filetime>
  </property>
  <property fmtid="{D5CDD505-2E9C-101B-9397-08002B2CF9AE}" pid="4" name="Creator">
    <vt:lpwstr>pdftopdf filter</vt:lpwstr>
  </property>
  <property fmtid="{D5CDD505-2E9C-101B-9397-08002B2CF9AE}" pid="5" name="LastSaved">
    <vt:filetime>2026-07-29T00:00:00Z</vt:filetime>
  </property>
  <property fmtid="{D5CDD505-2E9C-101B-9397-08002B2CF9AE}" pid="6" name="Producer">
    <vt:lpwstr>iOS Version 26.4.1 (Build 23E254) Quartz PDFContext</vt:lpwstr>
  </property>
</Properties>
</file>
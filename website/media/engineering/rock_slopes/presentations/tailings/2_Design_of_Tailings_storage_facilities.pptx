
<file path=[Content_Types].xml><?xml version="1.0" encoding="utf-8"?>
<Types xmlns="http://schemas.openxmlformats.org/package/2006/content-types">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bookmarkIdSeed="2">
  <p:sldMasterIdLst>
    <p:sldMasterId id="2147483660" r:id="rId1"/>
  </p:sldMasterIdLst>
  <p:notesMasterIdLst>
    <p:notesMasterId r:id="rId18"/>
  </p:notesMasterIdLst>
  <p:sldIdLst>
    <p:sldId id="275" r:id="rId2"/>
    <p:sldId id="287" r:id="rId3"/>
    <p:sldId id="298" r:id="rId4"/>
    <p:sldId id="299" r:id="rId5"/>
    <p:sldId id="300" r:id="rId6"/>
    <p:sldId id="314" r:id="rId7"/>
    <p:sldId id="312" r:id="rId8"/>
    <p:sldId id="313" r:id="rId9"/>
    <p:sldId id="315" r:id="rId10"/>
    <p:sldId id="316" r:id="rId11"/>
    <p:sldId id="302" r:id="rId12"/>
    <p:sldId id="303" r:id="rId13"/>
    <p:sldId id="304" r:id="rId14"/>
    <p:sldId id="305" r:id="rId15"/>
    <p:sldId id="317" r:id="rId16"/>
    <p:sldId id="306" r:id="rId17"/>
  </p:sldIdLst>
  <p:sldSz cx="12192000" cy="6858000"/>
  <p:notesSz cx="68580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666"/>
    <a:srgbClr val="009999"/>
    <a:srgbClr val="CF711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659" autoAdjust="0"/>
    <p:restoredTop sz="94660"/>
  </p:normalViewPr>
  <p:slideViewPr>
    <p:cSldViewPr snapToGrid="0">
      <p:cViewPr varScale="1">
        <p:scale>
          <a:sx n="74" d="100"/>
          <a:sy n="74" d="100"/>
        </p:scale>
        <p:origin x="468" y="60"/>
      </p:cViewPr>
      <p:guideLst>
        <p:guide orient="horz" pos="2160"/>
        <p:guide pos="3840"/>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x-non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C829E2F-964E-42A5-A0FB-7F44B5722540}" type="datetimeFigureOut">
              <a:rPr lang="x-none" smtClean="0"/>
              <a:t>8/7/2026</a:t>
            </a:fld>
            <a:endParaRPr lang="x-non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x-non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x-non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2E20C2B-9916-4C7E-8CB9-C0571F45F951}" type="slidenum">
              <a:rPr lang="x-none" smtClean="0"/>
              <a:t>‹#›</a:t>
            </a:fld>
            <a:endParaRPr lang="x-none"/>
          </a:p>
        </p:txBody>
      </p:sp>
    </p:spTree>
    <p:extLst>
      <p:ext uri="{BB962C8B-B14F-4D97-AF65-F5344CB8AC3E}">
        <p14:creationId xmlns:p14="http://schemas.microsoft.com/office/powerpoint/2010/main" val="24579668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72805706"/>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cSld name="Section Hea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DE7A4B-0F44-4E42-939A-CDE6C4A492D0}"/>
              </a:ext>
            </a:extLst>
          </p:cNvPr>
          <p:cNvSpPr>
            <a:spLocks noGrp="1"/>
          </p:cNvSpPr>
          <p:nvPr>
            <p:ph type="title"/>
          </p:nvPr>
        </p:nvSpPr>
        <p:spPr>
          <a:xfrm>
            <a:off x="4902440" y="307011"/>
            <a:ext cx="6787025" cy="2986087"/>
          </a:xfrm>
        </p:spPr>
        <p:txBody>
          <a:bodyPr anchor="b"/>
          <a:lstStyle>
            <a:lvl1pPr algn="ctr">
              <a:defRPr sz="6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B53B6593-CC60-4C4A-B097-A7D3799BD55C}"/>
              </a:ext>
            </a:extLst>
          </p:cNvPr>
          <p:cNvSpPr>
            <a:spLocks noGrp="1"/>
          </p:cNvSpPr>
          <p:nvPr>
            <p:ph type="body" idx="1"/>
          </p:nvPr>
        </p:nvSpPr>
        <p:spPr>
          <a:xfrm>
            <a:off x="4902440" y="3883454"/>
            <a:ext cx="6787025" cy="792283"/>
          </a:xfrm>
        </p:spPr>
        <p:txBody>
          <a:bodyPr/>
          <a:lstStyle>
            <a:lvl1pPr marL="0" indent="0" algn="ctr">
              <a:buNone/>
              <a:defRPr sz="2400">
                <a:solidFill>
                  <a:schemeClr val="bg2">
                    <a:lumMod val="1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0D56C689-8E98-4045-AAAC-AC66298D8CDB}"/>
              </a:ext>
            </a:extLst>
          </p:cNvPr>
          <p:cNvSpPr>
            <a:spLocks noGrp="1"/>
          </p:cNvSpPr>
          <p:nvPr>
            <p:ph type="dt" sz="half" idx="10"/>
          </p:nvPr>
        </p:nvSpPr>
        <p:spPr>
          <a:xfrm>
            <a:off x="5023411" y="5266097"/>
            <a:ext cx="1482526" cy="365125"/>
          </a:xfrm>
        </p:spPr>
        <p:txBody>
          <a:bodyPr/>
          <a:lstStyle/>
          <a:p>
            <a:fld id="{2215E438-4E85-4D3F-9BAC-6B1DD032DF0B}" type="datetime1">
              <a:rPr lang="en-US" smtClean="0"/>
              <a:t>8/7/2026</a:t>
            </a:fld>
            <a:endParaRPr lang="en-US"/>
          </a:p>
        </p:txBody>
      </p:sp>
      <p:sp>
        <p:nvSpPr>
          <p:cNvPr id="5" name="Footer Placeholder 4">
            <a:extLst>
              <a:ext uri="{FF2B5EF4-FFF2-40B4-BE49-F238E27FC236}">
                <a16:creationId xmlns:a16="http://schemas.microsoft.com/office/drawing/2014/main" id="{F3A7DCE6-A108-4CE1-BB08-97701D342A20}"/>
              </a:ext>
            </a:extLst>
          </p:cNvPr>
          <p:cNvSpPr>
            <a:spLocks noGrp="1"/>
          </p:cNvSpPr>
          <p:nvPr>
            <p:ph type="ftr" sz="quarter" idx="11"/>
          </p:nvPr>
        </p:nvSpPr>
        <p:spPr>
          <a:xfrm>
            <a:off x="7071167" y="5266096"/>
            <a:ext cx="2026534" cy="365125"/>
          </a:xfrm>
        </p:spPr>
        <p:txBody>
          <a:bodyPr/>
          <a:lstStyle/>
          <a:p>
            <a:endParaRPr lang="en-US" dirty="0"/>
          </a:p>
        </p:txBody>
      </p:sp>
      <p:sp>
        <p:nvSpPr>
          <p:cNvPr id="6" name="Slide Number Placeholder 5">
            <a:extLst>
              <a:ext uri="{FF2B5EF4-FFF2-40B4-BE49-F238E27FC236}">
                <a16:creationId xmlns:a16="http://schemas.microsoft.com/office/drawing/2014/main" id="{0428B96D-492C-4CC3-A033-5EA3A2F3CCEE}"/>
              </a:ext>
            </a:extLst>
          </p:cNvPr>
          <p:cNvSpPr>
            <a:spLocks noGrp="1"/>
          </p:cNvSpPr>
          <p:nvPr>
            <p:ph type="sldNum" sz="quarter" idx="12"/>
          </p:nvPr>
        </p:nvSpPr>
        <p:spPr>
          <a:xfrm>
            <a:off x="9662931" y="5266095"/>
            <a:ext cx="2026534" cy="365125"/>
          </a:xfrm>
        </p:spPr>
        <p:txBody>
          <a:bodyPr/>
          <a:lstStyle/>
          <a:p>
            <a:fld id="{C52AFD5A-4082-4BE4-96FC-4C4C6076294A}" type="slidenum">
              <a:rPr lang="en-US" smtClean="0"/>
              <a:pPr/>
              <a:t>‹#›</a:t>
            </a:fld>
            <a:endParaRPr lang="en-US"/>
          </a:p>
        </p:txBody>
      </p:sp>
    </p:spTree>
    <p:extLst>
      <p:ext uri="{BB962C8B-B14F-4D97-AF65-F5344CB8AC3E}">
        <p14:creationId xmlns:p14="http://schemas.microsoft.com/office/powerpoint/2010/main" val="26001943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267FC0-FF7C-4F6B-A842-ECAEDD75585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ACF3BD4-EEBC-444E-88DB-259F6F33A3E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BC2BFAAB-6BAC-4D88-8AF7-FC846BF0456E}"/>
              </a:ext>
            </a:extLst>
          </p:cNvPr>
          <p:cNvSpPr>
            <a:spLocks noGrp="1"/>
          </p:cNvSpPr>
          <p:nvPr>
            <p:ph type="dt" sz="half" idx="10"/>
          </p:nvPr>
        </p:nvSpPr>
        <p:spPr/>
        <p:txBody>
          <a:bodyPr/>
          <a:lstStyle/>
          <a:p>
            <a:fld id="{5D61C943-17ED-40DF-91B3-D85599C40CF8}" type="datetime1">
              <a:rPr lang="en-US" smtClean="0"/>
              <a:t>8/7/2026</a:t>
            </a:fld>
            <a:endParaRPr lang="en-US"/>
          </a:p>
        </p:txBody>
      </p:sp>
      <p:sp>
        <p:nvSpPr>
          <p:cNvPr id="5" name="Footer Placeholder 4">
            <a:extLst>
              <a:ext uri="{FF2B5EF4-FFF2-40B4-BE49-F238E27FC236}">
                <a16:creationId xmlns:a16="http://schemas.microsoft.com/office/drawing/2014/main" id="{546DD7F4-E6AC-4CB6-B687-556E6DB5BE1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0AA703C-113A-46CC-AC65-292EB067D462}"/>
              </a:ext>
            </a:extLst>
          </p:cNvPr>
          <p:cNvSpPr>
            <a:spLocks noGrp="1"/>
          </p:cNvSpPr>
          <p:nvPr>
            <p:ph type="sldNum" sz="quarter" idx="12"/>
          </p:nvPr>
        </p:nvSpPr>
        <p:spPr/>
        <p:txBody>
          <a:bodyPr/>
          <a:lstStyle/>
          <a:p>
            <a:fld id="{C52AFD5A-4082-4BE4-96FC-4C4C6076294A}" type="slidenum">
              <a:rPr lang="en-US" smtClean="0"/>
              <a:pPr/>
              <a:t>‹#›</a:t>
            </a:fld>
            <a:endParaRPr lang="en-US"/>
          </a:p>
        </p:txBody>
      </p:sp>
    </p:spTree>
    <p:extLst>
      <p:ext uri="{BB962C8B-B14F-4D97-AF65-F5344CB8AC3E}">
        <p14:creationId xmlns:p14="http://schemas.microsoft.com/office/powerpoint/2010/main" val="32629922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C992351-298C-4CA7-A9E3-56F637FA48B9}"/>
              </a:ext>
            </a:extLst>
          </p:cNvPr>
          <p:cNvSpPr>
            <a:spLocks noGrp="1"/>
          </p:cNvSpPr>
          <p:nvPr>
            <p:ph type="dt" sz="half" idx="10"/>
          </p:nvPr>
        </p:nvSpPr>
        <p:spPr/>
        <p:txBody>
          <a:bodyPr/>
          <a:lstStyle/>
          <a:p>
            <a:fld id="{0B082867-BE3B-4A4F-BA34-F4723B19EE02}" type="datetime1">
              <a:rPr lang="en-US" smtClean="0"/>
              <a:t>8/7/2026</a:t>
            </a:fld>
            <a:endParaRPr lang="en-US"/>
          </a:p>
        </p:txBody>
      </p:sp>
      <p:sp>
        <p:nvSpPr>
          <p:cNvPr id="3" name="Footer Placeholder 2">
            <a:extLst>
              <a:ext uri="{FF2B5EF4-FFF2-40B4-BE49-F238E27FC236}">
                <a16:creationId xmlns:a16="http://schemas.microsoft.com/office/drawing/2014/main" id="{13F81D90-C9C0-4B17-89C3-13DA3A9114B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29E314D-FD1B-4975-AE16-9CDCC6342C3D}"/>
              </a:ext>
            </a:extLst>
          </p:cNvPr>
          <p:cNvSpPr>
            <a:spLocks noGrp="1"/>
          </p:cNvSpPr>
          <p:nvPr>
            <p:ph type="sldNum" sz="quarter" idx="12"/>
          </p:nvPr>
        </p:nvSpPr>
        <p:spPr/>
        <p:txBody>
          <a:bodyPr/>
          <a:lstStyle/>
          <a:p>
            <a:fld id="{C52AFD5A-4082-4BE4-96FC-4C4C6076294A}" type="slidenum">
              <a:rPr lang="en-US" smtClean="0"/>
              <a:pPr/>
              <a:t>‹#›</a:t>
            </a:fld>
            <a:endParaRPr lang="en-US"/>
          </a:p>
        </p:txBody>
      </p:sp>
    </p:spTree>
    <p:extLst>
      <p:ext uri="{BB962C8B-B14F-4D97-AF65-F5344CB8AC3E}">
        <p14:creationId xmlns:p14="http://schemas.microsoft.com/office/powerpoint/2010/main" val="18282532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AE1157-304E-4446-9FA2-A0D0F7A509A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5B4CE9E-70A6-48AD-A24A-13D5743836F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B0BE2C5-1B89-4EE8-A540-906472A1FB9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C4BB858-CDD0-459B-8AA4-9272BD26A46B}"/>
              </a:ext>
            </a:extLst>
          </p:cNvPr>
          <p:cNvSpPr>
            <a:spLocks noGrp="1"/>
          </p:cNvSpPr>
          <p:nvPr>
            <p:ph type="dt" sz="half" idx="10"/>
          </p:nvPr>
        </p:nvSpPr>
        <p:spPr/>
        <p:txBody>
          <a:bodyPr/>
          <a:lstStyle/>
          <a:p>
            <a:fld id="{953EA5E2-10B3-49D7-AF21-8B017DA270AD}" type="datetime1">
              <a:rPr lang="en-US" smtClean="0"/>
              <a:t>8/7/2026</a:t>
            </a:fld>
            <a:endParaRPr lang="en-US"/>
          </a:p>
        </p:txBody>
      </p:sp>
      <p:sp>
        <p:nvSpPr>
          <p:cNvPr id="6" name="Footer Placeholder 5">
            <a:extLst>
              <a:ext uri="{FF2B5EF4-FFF2-40B4-BE49-F238E27FC236}">
                <a16:creationId xmlns:a16="http://schemas.microsoft.com/office/drawing/2014/main" id="{4DB7E86D-82BE-4E26-A9C3-95CC0F497B7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87D830B-C931-46B1-8F17-16243BFDFA90}"/>
              </a:ext>
            </a:extLst>
          </p:cNvPr>
          <p:cNvSpPr>
            <a:spLocks noGrp="1"/>
          </p:cNvSpPr>
          <p:nvPr>
            <p:ph type="sldNum" sz="quarter" idx="12"/>
          </p:nvPr>
        </p:nvSpPr>
        <p:spPr/>
        <p:txBody>
          <a:bodyPr/>
          <a:lstStyle/>
          <a:p>
            <a:fld id="{C52AFD5A-4082-4BE4-96FC-4C4C6076294A}" type="slidenum">
              <a:rPr lang="en-US" smtClean="0"/>
              <a:pPr/>
              <a:t>‹#›</a:t>
            </a:fld>
            <a:endParaRPr lang="en-US"/>
          </a:p>
        </p:txBody>
      </p:sp>
    </p:spTree>
    <p:extLst>
      <p:ext uri="{BB962C8B-B14F-4D97-AF65-F5344CB8AC3E}">
        <p14:creationId xmlns:p14="http://schemas.microsoft.com/office/powerpoint/2010/main" val="9728027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1752576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ftr="0" dt="0"/>
  <p:txStyles>
    <p:titleStyle>
      <a:lvl1pPr algn="ctr" defTabSz="1219170" rtl="0" eaLnBrk="1" latinLnBrk="0" hangingPunct="1">
        <a:spcBef>
          <a:spcPct val="0"/>
        </a:spcBef>
        <a:buNone/>
        <a:defRPr sz="5867" kern="1200">
          <a:solidFill>
            <a:schemeClr val="tx1"/>
          </a:solidFill>
          <a:latin typeface="+mj-lt"/>
          <a:ea typeface="+mj-ea"/>
          <a:cs typeface="+mj-cs"/>
        </a:defRPr>
      </a:lvl1pPr>
    </p:titleStyle>
    <p:bodyStyle>
      <a:lvl1pPr marL="457189" indent="-457189" algn="l" defTabSz="1219170" rtl="0" eaLnBrk="1" latinLnBrk="0" hangingPunct="1">
        <a:spcBef>
          <a:spcPct val="20000"/>
        </a:spcBef>
        <a:buFont typeface="Arial" pitchFamily="34" charset="0"/>
        <a:buChar char="•"/>
        <a:defRPr sz="4267" kern="1200">
          <a:solidFill>
            <a:schemeClr val="tx1"/>
          </a:solidFill>
          <a:latin typeface="+mn-lt"/>
          <a:ea typeface="+mn-ea"/>
          <a:cs typeface="+mn-cs"/>
        </a:defRPr>
      </a:lvl1pPr>
      <a:lvl2pPr marL="990575" indent="-380990" algn="l" defTabSz="1219170" rtl="0" eaLnBrk="1" latinLnBrk="0" hangingPunct="1">
        <a:spcBef>
          <a:spcPct val="20000"/>
        </a:spcBef>
        <a:buFont typeface="Arial" pitchFamily="34" charset="0"/>
        <a:buChar char="–"/>
        <a:defRPr sz="3733" kern="1200">
          <a:solidFill>
            <a:schemeClr val="tx1"/>
          </a:solidFill>
          <a:latin typeface="+mn-lt"/>
          <a:ea typeface="+mn-ea"/>
          <a:cs typeface="+mn-cs"/>
        </a:defRPr>
      </a:lvl2pPr>
      <a:lvl3pPr marL="1523962" indent="-304792" algn="l" defTabSz="1219170" rtl="0" eaLnBrk="1" latinLnBrk="0" hangingPunct="1">
        <a:spcBef>
          <a:spcPct val="20000"/>
        </a:spcBef>
        <a:buFont typeface="Arial" pitchFamily="34" charset="0"/>
        <a:buChar char="•"/>
        <a:defRPr sz="3200" kern="1200">
          <a:solidFill>
            <a:schemeClr val="tx1"/>
          </a:solidFill>
          <a:latin typeface="+mn-lt"/>
          <a:ea typeface="+mn-ea"/>
          <a:cs typeface="+mn-cs"/>
        </a:defRPr>
      </a:lvl3pPr>
      <a:lvl4pPr marL="2133547"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4pPr>
      <a:lvl5pPr marL="274313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5.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4.png"/><Relationship Id="rId1" Type="http://schemas.openxmlformats.org/officeDocument/2006/relationships/slideLayout" Target="../slideLayouts/slideLayout5.xml"/><Relationship Id="rId4" Type="http://schemas.openxmlformats.org/officeDocument/2006/relationships/image" Target="../media/image8.jpg"/></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4.png"/><Relationship Id="rId1" Type="http://schemas.openxmlformats.org/officeDocument/2006/relationships/slideLayout" Target="../slideLayouts/slideLayout5.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4.png"/><Relationship Id="rId1" Type="http://schemas.openxmlformats.org/officeDocument/2006/relationships/slideLayout" Target="../slideLayouts/slideLayout5.xml"/><Relationship Id="rId4" Type="http://schemas.openxmlformats.org/officeDocument/2006/relationships/image" Target="../media/image12.jpg"/></Relationships>
</file>

<file path=ppt/slides/_rels/slide10.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image" Target="../media/image4.png"/><Relationship Id="rId1" Type="http://schemas.openxmlformats.org/officeDocument/2006/relationships/slideLayout" Target="../slideLayouts/slideLayout5.xml"/><Relationship Id="rId4" Type="http://schemas.openxmlformats.org/officeDocument/2006/relationships/image" Target="../media/image14.jpg"/></Relationships>
</file>

<file path=ppt/slides/_rels/slide11.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image" Target="../media/image4.png"/><Relationship Id="rId1" Type="http://schemas.openxmlformats.org/officeDocument/2006/relationships/slideLayout" Target="../slideLayouts/slideLayout5.xml"/><Relationship Id="rId4" Type="http://schemas.openxmlformats.org/officeDocument/2006/relationships/image" Target="../media/image16.jpg"/></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17.png"/><Relationship Id="rId4" Type="http://schemas.openxmlformats.org/officeDocument/2006/relationships/image" Target="../media/image4.png"/></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E93225F-349B-45D6-AF31-0AC41A863A3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EF95E126-A573-1D84-4218-09A477F5F66A}"/>
              </a:ext>
            </a:extLst>
          </p:cNvPr>
          <p:cNvSpPr>
            <a:spLocks noGrp="1"/>
          </p:cNvSpPr>
          <p:nvPr>
            <p:ph type="title"/>
          </p:nvPr>
        </p:nvSpPr>
        <p:spPr>
          <a:xfrm>
            <a:off x="2318896" y="1124300"/>
            <a:ext cx="6787025" cy="1435027"/>
          </a:xfrm>
        </p:spPr>
        <p:txBody>
          <a:bodyPr>
            <a:noAutofit/>
          </a:bodyPr>
          <a:lstStyle/>
          <a:p>
            <a:r>
              <a:rPr lang="en-US" sz="3200" dirty="0">
                <a:solidFill>
                  <a:schemeClr val="bg1"/>
                </a:solidFill>
                <a:latin typeface="Times New Roman" panose="02020603050405020304" pitchFamily="18" charset="0"/>
                <a:cs typeface="Times New Roman" panose="02020603050405020304" pitchFamily="18" charset="0"/>
              </a:rPr>
              <a:t>DESIGN OF TAILING STORAGE FACILITY</a:t>
            </a:r>
            <a:br>
              <a:rPr lang="en-US" sz="3200" dirty="0">
                <a:solidFill>
                  <a:schemeClr val="bg1"/>
                </a:solidFill>
                <a:latin typeface="Times New Roman" panose="02020603050405020304" pitchFamily="18" charset="0"/>
                <a:cs typeface="Times New Roman" panose="02020603050405020304" pitchFamily="18" charset="0"/>
              </a:rPr>
            </a:br>
            <a:endParaRPr lang="en-US" sz="3200" dirty="0">
              <a:solidFill>
                <a:schemeClr val="bg1"/>
              </a:solidFill>
              <a:latin typeface="Times New Roman" panose="02020603050405020304" pitchFamily="18" charset="0"/>
              <a:cs typeface="Times New Roman" panose="02020603050405020304" pitchFamily="18" charset="0"/>
            </a:endParaRPr>
          </a:p>
        </p:txBody>
      </p:sp>
      <p:sp>
        <p:nvSpPr>
          <p:cNvPr id="5" name="Text 1">
            <a:extLst>
              <a:ext uri="{FF2B5EF4-FFF2-40B4-BE49-F238E27FC236}">
                <a16:creationId xmlns:a16="http://schemas.microsoft.com/office/drawing/2014/main" id="{56E07BCF-DE76-2143-8A16-8F4B3074D69E}"/>
              </a:ext>
            </a:extLst>
          </p:cNvPr>
          <p:cNvSpPr/>
          <p:nvPr/>
        </p:nvSpPr>
        <p:spPr>
          <a:xfrm>
            <a:off x="457200" y="292373"/>
            <a:ext cx="5618053" cy="180975"/>
          </a:xfrm>
          <a:prstGeom prst="rect">
            <a:avLst/>
          </a:prstGeom>
          <a:noFill/>
          <a:ln/>
        </p:spPr>
        <p:txBody>
          <a:bodyPr wrap="none" lIns="0" tIns="0" rIns="0" bIns="0" rtlCol="0" anchor="ctr"/>
          <a:lstStyle/>
          <a:p>
            <a:pPr marL="0" indent="0" algn="l">
              <a:buNone/>
            </a:pPr>
            <a:r>
              <a:rPr lang="en-US" sz="1080" kern="0" spc="270" dirty="0">
                <a:solidFill>
                  <a:srgbClr val="7A8E92"/>
                </a:solidFill>
                <a:latin typeface="DM Sans" pitchFamily="34" charset="0"/>
                <a:ea typeface="DM Sans" pitchFamily="34" charset="-122"/>
                <a:cs typeface="DM Sans" pitchFamily="34" charset="-120"/>
              </a:rPr>
              <a:t>ADVANCED ENGINEERING GEOLOGY — GED 452</a:t>
            </a:r>
            <a:endParaRPr lang="en-US" sz="1080" dirty="0"/>
          </a:p>
        </p:txBody>
      </p:sp>
      <p:sp>
        <p:nvSpPr>
          <p:cNvPr id="7" name="Shape 2">
            <a:extLst>
              <a:ext uri="{FF2B5EF4-FFF2-40B4-BE49-F238E27FC236}">
                <a16:creationId xmlns:a16="http://schemas.microsoft.com/office/drawing/2014/main" id="{7903F6C4-80C5-D1EE-98CE-69E08B197EAC}"/>
              </a:ext>
            </a:extLst>
          </p:cNvPr>
          <p:cNvSpPr/>
          <p:nvPr/>
        </p:nvSpPr>
        <p:spPr>
          <a:xfrm flipV="1">
            <a:off x="4980508" y="2121711"/>
            <a:ext cx="1478348" cy="72417"/>
          </a:xfrm>
          <a:prstGeom prst="rect">
            <a:avLst/>
          </a:prstGeom>
          <a:solidFill>
            <a:srgbClr val="D4874A"/>
          </a:solidFill>
          <a:ln/>
        </p:spPr>
        <p:txBody>
          <a:bodyPr/>
          <a:lstStyle/>
          <a:p>
            <a:endParaRPr lang="en-US"/>
          </a:p>
        </p:txBody>
      </p:sp>
    </p:spTree>
    <p:extLst>
      <p:ext uri="{BB962C8B-B14F-4D97-AF65-F5344CB8AC3E}">
        <p14:creationId xmlns:p14="http://schemas.microsoft.com/office/powerpoint/2010/main" val="39810586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itle 5"/>
          <p:cNvSpPr>
            <a:spLocks noGrp="1"/>
          </p:cNvSpPr>
          <p:nvPr>
            <p:ph type="title"/>
          </p:nvPr>
        </p:nvSpPr>
        <p:spPr>
          <a:xfrm>
            <a:off x="838200" y="608925"/>
            <a:ext cx="10515600" cy="767294"/>
          </a:xfrm>
        </p:spPr>
        <p:txBody>
          <a:bodyPr/>
          <a:lstStyle/>
          <a:p>
            <a:pPr algn="ctr"/>
            <a:r>
              <a:rPr lang="en-US" dirty="0">
                <a:solidFill>
                  <a:schemeClr val="accent2">
                    <a:lumMod val="60000"/>
                    <a:lumOff val="40000"/>
                  </a:schemeClr>
                </a:solidFill>
              </a:rPr>
              <a:t>OUTLINE</a:t>
            </a:r>
          </a:p>
        </p:txBody>
      </p:sp>
      <p:sp>
        <p:nvSpPr>
          <p:cNvPr id="7" name="Content Placeholder 6"/>
          <p:cNvSpPr>
            <a:spLocks noGrp="1"/>
          </p:cNvSpPr>
          <p:nvPr>
            <p:ph idx="1"/>
          </p:nvPr>
        </p:nvSpPr>
        <p:spPr>
          <a:xfrm>
            <a:off x="838200" y="1727549"/>
            <a:ext cx="10515600" cy="4725076"/>
          </a:xfrm>
        </p:spPr>
        <p:txBody>
          <a:bodyPr>
            <a:normAutofit fontScale="70000" lnSpcReduction="20000"/>
          </a:bodyPr>
          <a:lstStyle/>
          <a:p>
            <a:pPr>
              <a:buFont typeface="Wingdings" panose="05000000000000000000" pitchFamily="2" charset="2"/>
              <a:buChar char="Ø"/>
            </a:pPr>
            <a:r>
              <a:rPr lang="en-US" dirty="0">
                <a:solidFill>
                  <a:schemeClr val="bg1"/>
                </a:solidFill>
                <a:latin typeface="Times New Roman" panose="02020603050405020304" pitchFamily="18" charset="0"/>
                <a:cs typeface="Times New Roman" panose="02020603050405020304" pitchFamily="18" charset="0"/>
              </a:rPr>
              <a:t>INTRODUCTION</a:t>
            </a:r>
          </a:p>
          <a:p>
            <a:pPr>
              <a:buFont typeface="Wingdings" panose="05000000000000000000" pitchFamily="2" charset="2"/>
              <a:buChar char="Ø"/>
            </a:pPr>
            <a:r>
              <a:rPr lang="en-US" dirty="0">
                <a:solidFill>
                  <a:schemeClr val="bg1"/>
                </a:solidFill>
                <a:latin typeface="Times New Roman" panose="02020603050405020304" pitchFamily="18" charset="0"/>
                <a:cs typeface="Times New Roman" panose="02020603050405020304" pitchFamily="18" charset="0"/>
              </a:rPr>
              <a:t>TYPES OF TAILING STORAGE FACILITY</a:t>
            </a:r>
          </a:p>
          <a:p>
            <a:pPr>
              <a:buFont typeface="Wingdings" panose="05000000000000000000" pitchFamily="2" charset="2"/>
              <a:buChar char="Ø"/>
            </a:pPr>
            <a:r>
              <a:rPr lang="en-US" dirty="0">
                <a:solidFill>
                  <a:schemeClr val="bg1"/>
                </a:solidFill>
                <a:latin typeface="Times New Roman" panose="02020603050405020304" pitchFamily="18" charset="0"/>
                <a:cs typeface="Times New Roman" panose="02020603050405020304" pitchFamily="18" charset="0"/>
              </a:rPr>
              <a:t>SITE SELECTION AND GEOLOGICAL CONSIDERATIONS</a:t>
            </a:r>
          </a:p>
          <a:p>
            <a:pPr>
              <a:buFont typeface="Wingdings" panose="05000000000000000000" pitchFamily="2" charset="2"/>
              <a:buChar char="Ø"/>
            </a:pPr>
            <a:r>
              <a:rPr lang="en-US" dirty="0">
                <a:solidFill>
                  <a:schemeClr val="bg1"/>
                </a:solidFill>
                <a:latin typeface="Times New Roman" panose="02020603050405020304" pitchFamily="18" charset="0"/>
                <a:cs typeface="Times New Roman" panose="02020603050405020304" pitchFamily="18" charset="0"/>
              </a:rPr>
              <a:t>DESIGN FUNDAMENTALS</a:t>
            </a:r>
          </a:p>
          <a:p>
            <a:pPr>
              <a:buFont typeface="Wingdings" panose="05000000000000000000" pitchFamily="2" charset="2"/>
              <a:buChar char="Ø"/>
            </a:pPr>
            <a:r>
              <a:rPr lang="en-US" dirty="0">
                <a:solidFill>
                  <a:schemeClr val="bg1"/>
                </a:solidFill>
                <a:latin typeface="Times New Roman" panose="02020603050405020304" pitchFamily="18" charset="0"/>
                <a:cs typeface="Times New Roman" panose="02020603050405020304" pitchFamily="18" charset="0"/>
              </a:rPr>
              <a:t>ENVIRONMENTAL AND REGULATORY REQUIREMENT</a:t>
            </a:r>
          </a:p>
          <a:p>
            <a:pPr>
              <a:buFont typeface="Wingdings" panose="05000000000000000000" pitchFamily="2" charset="2"/>
              <a:buChar char="Ø"/>
            </a:pPr>
            <a:r>
              <a:rPr lang="en-US" dirty="0">
                <a:solidFill>
                  <a:schemeClr val="bg1"/>
                </a:solidFill>
                <a:latin typeface="Times New Roman" panose="02020603050405020304" pitchFamily="18" charset="0"/>
                <a:cs typeface="Times New Roman" panose="02020603050405020304" pitchFamily="18" charset="0"/>
              </a:rPr>
              <a:t>CLOSURE AND REHABILITATION</a:t>
            </a:r>
          </a:p>
          <a:p>
            <a:pPr>
              <a:buFont typeface="Wingdings" panose="05000000000000000000" pitchFamily="2" charset="2"/>
              <a:buChar char="Ø"/>
            </a:pPr>
            <a:r>
              <a:rPr lang="en-US" dirty="0">
                <a:solidFill>
                  <a:schemeClr val="bg1"/>
                </a:solidFill>
                <a:latin typeface="Times New Roman" panose="02020603050405020304" pitchFamily="18" charset="0"/>
                <a:cs typeface="Times New Roman" panose="02020603050405020304" pitchFamily="18" charset="0"/>
              </a:rPr>
              <a:t>CASE STUDY</a:t>
            </a:r>
          </a:p>
          <a:p>
            <a:pPr>
              <a:buFont typeface="Wingdings" panose="05000000000000000000" pitchFamily="2" charset="2"/>
              <a:buChar char="Ø"/>
            </a:pPr>
            <a:r>
              <a:rPr lang="en-US" dirty="0">
                <a:solidFill>
                  <a:schemeClr val="bg1"/>
                </a:solidFill>
                <a:latin typeface="Times New Roman" panose="02020603050405020304" pitchFamily="18" charset="0"/>
                <a:cs typeface="Times New Roman" panose="02020603050405020304" pitchFamily="18" charset="0"/>
              </a:rPr>
              <a:t>CONCLUSION</a:t>
            </a:r>
          </a:p>
          <a:p>
            <a:pPr>
              <a:buFont typeface="Wingdings" panose="05000000000000000000" pitchFamily="2" charset="2"/>
              <a:buChar char="Ø"/>
            </a:pPr>
            <a:endParaRPr lang="en-US" dirty="0">
              <a:solidFill>
                <a:schemeClr val="bg1"/>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Ø"/>
            </a:pPr>
            <a:endParaRPr lang="en-US" dirty="0">
              <a:solidFill>
                <a:schemeClr val="bg1"/>
              </a:solidFill>
              <a:latin typeface="Times New Roman" panose="02020603050405020304" pitchFamily="18" charset="0"/>
              <a:cs typeface="Times New Roman" panose="02020603050405020304" pitchFamily="18" charset="0"/>
            </a:endParaRPr>
          </a:p>
        </p:txBody>
      </p:sp>
      <p:sp>
        <p:nvSpPr>
          <p:cNvPr id="5" name="Slide Number Placeholder 4"/>
          <p:cNvSpPr>
            <a:spLocks noGrp="1"/>
          </p:cNvSpPr>
          <p:nvPr>
            <p:ph type="sldNum" sz="quarter" idx="12"/>
          </p:nvPr>
        </p:nvSpPr>
        <p:spPr/>
        <p:txBody>
          <a:bodyPr/>
          <a:lstStyle/>
          <a:p>
            <a:fld id="{C52AFD5A-4082-4BE4-96FC-4C4C6076294A}" type="slidenum">
              <a:rPr lang="en-US" smtClean="0">
                <a:solidFill>
                  <a:schemeClr val="accent2">
                    <a:lumMod val="60000"/>
                    <a:lumOff val="40000"/>
                  </a:schemeClr>
                </a:solidFill>
              </a:rPr>
              <a:pPr/>
              <a:t>2</a:t>
            </a:fld>
            <a:endParaRPr lang="en-US" dirty="0">
              <a:solidFill>
                <a:schemeClr val="accent2">
                  <a:lumMod val="60000"/>
                  <a:lumOff val="40000"/>
                </a:schemeClr>
              </a:solidFill>
            </a:endParaRPr>
          </a:p>
        </p:txBody>
      </p:sp>
    </p:spTree>
    <p:extLst>
      <p:ext uri="{BB962C8B-B14F-4D97-AF65-F5344CB8AC3E}">
        <p14:creationId xmlns:p14="http://schemas.microsoft.com/office/powerpoint/2010/main" val="15944851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C52AFD5A-4082-4BE4-96FC-4C4C6076294A}" type="slidenum">
              <a:rPr lang="en-US" smtClean="0"/>
              <a:pPr/>
              <a:t>3</a:t>
            </a:fld>
            <a:endParaRPr lang="en-US"/>
          </a:p>
        </p:txBody>
      </p:sp>
      <p:sp>
        <p:nvSpPr>
          <p:cNvPr id="10" name="Text 0"/>
          <p:cNvSpPr/>
          <p:nvPr/>
        </p:nvSpPr>
        <p:spPr>
          <a:xfrm>
            <a:off x="910949" y="791043"/>
            <a:ext cx="1188720" cy="822960"/>
          </a:xfrm>
          <a:prstGeom prst="rect">
            <a:avLst/>
          </a:prstGeom>
          <a:noFill/>
          <a:ln/>
        </p:spPr>
        <p:txBody>
          <a:bodyPr wrap="square" lIns="0" tIns="0" rIns="0" bIns="0" rtlCol="0" anchor="ctr"/>
          <a:lstStyle/>
          <a:p>
            <a:pPr marL="0" indent="0">
              <a:buNone/>
            </a:pPr>
            <a:endParaRPr lang="en-US" sz="4800" dirty="0"/>
          </a:p>
        </p:txBody>
      </p:sp>
      <p:sp>
        <p:nvSpPr>
          <p:cNvPr id="11" name="Text 1"/>
          <p:cNvSpPr/>
          <p:nvPr/>
        </p:nvSpPr>
        <p:spPr>
          <a:xfrm>
            <a:off x="4686095" y="877411"/>
            <a:ext cx="3497323" cy="645152"/>
          </a:xfrm>
          <a:prstGeom prst="rect">
            <a:avLst/>
          </a:prstGeom>
          <a:noFill/>
          <a:ln/>
        </p:spPr>
        <p:txBody>
          <a:bodyPr wrap="square" lIns="0" tIns="0" rIns="0" bIns="0" rtlCol="0" anchor="b"/>
          <a:lstStyle/>
          <a:p>
            <a:pPr marL="0" indent="0" algn="ctr">
              <a:buNone/>
            </a:pPr>
            <a:r>
              <a:rPr lang="en-US" sz="3200" b="1" dirty="0">
                <a:solidFill>
                  <a:srgbClr val="009999"/>
                </a:solidFill>
                <a:latin typeface="Cambria" pitchFamily="34" charset="0"/>
                <a:ea typeface="Cambria" pitchFamily="34" charset="-122"/>
                <a:cs typeface="Cambria" pitchFamily="34" charset="-120"/>
              </a:rPr>
              <a:t>INTRODUCTION</a:t>
            </a:r>
            <a:endParaRPr lang="en-US" sz="3200" dirty="0">
              <a:solidFill>
                <a:srgbClr val="009999"/>
              </a:solidFill>
            </a:endParaRPr>
          </a:p>
        </p:txBody>
      </p:sp>
      <p:sp>
        <p:nvSpPr>
          <p:cNvPr id="14" name="Text 4"/>
          <p:cNvSpPr/>
          <p:nvPr/>
        </p:nvSpPr>
        <p:spPr>
          <a:xfrm>
            <a:off x="910949" y="1979763"/>
            <a:ext cx="6002713" cy="1335024"/>
          </a:xfrm>
          <a:prstGeom prst="rect">
            <a:avLst/>
          </a:prstGeom>
          <a:noFill/>
          <a:ln/>
        </p:spPr>
        <p:txBody>
          <a:bodyPr wrap="square" lIns="0" tIns="0" rIns="0" bIns="0" rtlCol="0" anchor="ctr"/>
          <a:lstStyle/>
          <a:p>
            <a:pPr marL="0" indent="0">
              <a:lnSpc>
                <a:spcPct val="125000"/>
              </a:lnSpc>
              <a:buNone/>
            </a:pPr>
            <a:r>
              <a:rPr lang="en-US" sz="1500" dirty="0">
                <a:solidFill>
                  <a:schemeClr val="bg1"/>
                </a:solidFill>
                <a:latin typeface="Calibri" pitchFamily="34" charset="0"/>
                <a:ea typeface="Calibri" pitchFamily="34" charset="-122"/>
                <a:cs typeface="Calibri" pitchFamily="34" charset="-120"/>
              </a:rPr>
              <a:t>Tailings are the fine-grained slurry of ground rock and process water left over after valuable minerals are extracted from ore. A Tailings Storage Facility (TSF) is the engineered structure, usually an embankment and impoundment which is built to store this material safely for the life of a mine and beyond.</a:t>
            </a:r>
            <a:endParaRPr lang="en-US" sz="1500" dirty="0">
              <a:solidFill>
                <a:schemeClr val="bg1"/>
              </a:solidFill>
            </a:endParaRPr>
          </a:p>
        </p:txBody>
      </p:sp>
      <p:sp>
        <p:nvSpPr>
          <p:cNvPr id="15" name="Shape 5"/>
          <p:cNvSpPr/>
          <p:nvPr/>
        </p:nvSpPr>
        <p:spPr>
          <a:xfrm>
            <a:off x="910949" y="4041235"/>
            <a:ext cx="91440" cy="91440"/>
          </a:xfrm>
          <a:prstGeom prst="ellipse">
            <a:avLst/>
          </a:prstGeom>
          <a:solidFill>
            <a:srgbClr val="C1571F"/>
          </a:solidFill>
          <a:ln/>
        </p:spPr>
      </p:sp>
      <p:sp>
        <p:nvSpPr>
          <p:cNvPr id="16" name="Text 6"/>
          <p:cNvSpPr/>
          <p:nvPr/>
        </p:nvSpPr>
        <p:spPr>
          <a:xfrm>
            <a:off x="1139549" y="3913219"/>
            <a:ext cx="6217920" cy="365760"/>
          </a:xfrm>
          <a:prstGeom prst="rect">
            <a:avLst/>
          </a:prstGeom>
          <a:noFill/>
          <a:ln/>
        </p:spPr>
        <p:txBody>
          <a:bodyPr wrap="square" lIns="0" tIns="0" rIns="0" bIns="0" rtlCol="0" anchor="ctr"/>
          <a:lstStyle/>
          <a:p>
            <a:pPr marL="0" indent="0">
              <a:buNone/>
            </a:pPr>
            <a:r>
              <a:rPr lang="en-US" sz="1400" dirty="0">
                <a:solidFill>
                  <a:schemeClr val="bg1"/>
                </a:solidFill>
                <a:latin typeface="Calibri" pitchFamily="34" charset="0"/>
                <a:ea typeface="Calibri" pitchFamily="34" charset="-122"/>
                <a:cs typeface="Calibri" pitchFamily="34" charset="-120"/>
              </a:rPr>
              <a:t>Reclaim and recycle process water</a:t>
            </a:r>
            <a:endParaRPr lang="en-US" sz="1400" dirty="0">
              <a:solidFill>
                <a:schemeClr val="bg1"/>
              </a:solidFill>
            </a:endParaRPr>
          </a:p>
        </p:txBody>
      </p:sp>
      <p:sp>
        <p:nvSpPr>
          <p:cNvPr id="17" name="Shape 7"/>
          <p:cNvSpPr/>
          <p:nvPr/>
        </p:nvSpPr>
        <p:spPr>
          <a:xfrm>
            <a:off x="910949" y="4498435"/>
            <a:ext cx="91440" cy="91440"/>
          </a:xfrm>
          <a:prstGeom prst="ellipse">
            <a:avLst/>
          </a:prstGeom>
          <a:solidFill>
            <a:srgbClr val="C1571F"/>
          </a:solidFill>
          <a:ln/>
        </p:spPr>
      </p:sp>
      <p:sp>
        <p:nvSpPr>
          <p:cNvPr id="18" name="Text 8"/>
          <p:cNvSpPr/>
          <p:nvPr/>
        </p:nvSpPr>
        <p:spPr>
          <a:xfrm>
            <a:off x="1139549" y="4370419"/>
            <a:ext cx="6217920" cy="365760"/>
          </a:xfrm>
          <a:prstGeom prst="rect">
            <a:avLst/>
          </a:prstGeom>
          <a:noFill/>
          <a:ln/>
        </p:spPr>
        <p:txBody>
          <a:bodyPr wrap="square" lIns="0" tIns="0" rIns="0" bIns="0" rtlCol="0" anchor="ctr"/>
          <a:lstStyle/>
          <a:p>
            <a:pPr marL="0" indent="0">
              <a:buNone/>
            </a:pPr>
            <a:r>
              <a:rPr lang="en-US" sz="1400" dirty="0">
                <a:solidFill>
                  <a:schemeClr val="bg1"/>
                </a:solidFill>
                <a:latin typeface="Calibri" pitchFamily="34" charset="0"/>
                <a:ea typeface="Calibri" pitchFamily="34" charset="-122"/>
                <a:cs typeface="Calibri" pitchFamily="34" charset="-120"/>
              </a:rPr>
              <a:t>Contain solids that would otherwise pollute rivers and soils</a:t>
            </a:r>
            <a:endParaRPr lang="en-US" sz="1400" dirty="0">
              <a:solidFill>
                <a:schemeClr val="bg1"/>
              </a:solidFill>
            </a:endParaRPr>
          </a:p>
        </p:txBody>
      </p:sp>
      <p:sp>
        <p:nvSpPr>
          <p:cNvPr id="19" name="Shape 9"/>
          <p:cNvSpPr/>
          <p:nvPr/>
        </p:nvSpPr>
        <p:spPr>
          <a:xfrm>
            <a:off x="910949" y="4955635"/>
            <a:ext cx="91440" cy="91440"/>
          </a:xfrm>
          <a:prstGeom prst="ellipse">
            <a:avLst/>
          </a:prstGeom>
          <a:solidFill>
            <a:srgbClr val="C1571F"/>
          </a:solidFill>
          <a:ln/>
        </p:spPr>
      </p:sp>
      <p:sp>
        <p:nvSpPr>
          <p:cNvPr id="20" name="Text 10"/>
          <p:cNvSpPr/>
          <p:nvPr/>
        </p:nvSpPr>
        <p:spPr>
          <a:xfrm>
            <a:off x="1139549" y="4827619"/>
            <a:ext cx="6217920" cy="365760"/>
          </a:xfrm>
          <a:prstGeom prst="rect">
            <a:avLst/>
          </a:prstGeom>
          <a:noFill/>
          <a:ln/>
        </p:spPr>
        <p:txBody>
          <a:bodyPr wrap="square" lIns="0" tIns="0" rIns="0" bIns="0" rtlCol="0" anchor="ctr"/>
          <a:lstStyle/>
          <a:p>
            <a:pPr marL="0" indent="0">
              <a:buNone/>
            </a:pPr>
            <a:r>
              <a:rPr lang="en-US" sz="1400" dirty="0">
                <a:solidFill>
                  <a:schemeClr val="bg1"/>
                </a:solidFill>
                <a:latin typeface="Calibri" pitchFamily="34" charset="0"/>
                <a:ea typeface="Calibri" pitchFamily="34" charset="-122"/>
                <a:cs typeface="Calibri" pitchFamily="34" charset="-120"/>
              </a:rPr>
              <a:t>Remain stable through decades of operation and after closure</a:t>
            </a:r>
            <a:endParaRPr lang="en-US" sz="1400" dirty="0">
              <a:solidFill>
                <a:schemeClr val="bg1"/>
              </a:solidFill>
            </a:endParaRPr>
          </a:p>
        </p:txBody>
      </p:sp>
      <p:sp>
        <p:nvSpPr>
          <p:cNvPr id="21" name="Shape 11"/>
          <p:cNvSpPr/>
          <p:nvPr/>
        </p:nvSpPr>
        <p:spPr>
          <a:xfrm>
            <a:off x="910949" y="5412835"/>
            <a:ext cx="91440" cy="91440"/>
          </a:xfrm>
          <a:prstGeom prst="ellipse">
            <a:avLst/>
          </a:prstGeom>
          <a:solidFill>
            <a:srgbClr val="C1571F"/>
          </a:solidFill>
          <a:ln/>
        </p:spPr>
      </p:sp>
      <p:sp>
        <p:nvSpPr>
          <p:cNvPr id="22" name="Text 12"/>
          <p:cNvSpPr/>
          <p:nvPr/>
        </p:nvSpPr>
        <p:spPr>
          <a:xfrm>
            <a:off x="1139549" y="5284819"/>
            <a:ext cx="6217920" cy="365760"/>
          </a:xfrm>
          <a:prstGeom prst="rect">
            <a:avLst/>
          </a:prstGeom>
          <a:noFill/>
          <a:ln/>
        </p:spPr>
        <p:txBody>
          <a:bodyPr wrap="square" lIns="0" tIns="0" rIns="0" bIns="0" rtlCol="0" anchor="ctr"/>
          <a:lstStyle/>
          <a:p>
            <a:pPr marL="0" indent="0">
              <a:buNone/>
            </a:pPr>
            <a:r>
              <a:rPr lang="en-US" sz="1400" dirty="0">
                <a:solidFill>
                  <a:schemeClr val="bg1"/>
                </a:solidFill>
                <a:latin typeface="Calibri" pitchFamily="34" charset="0"/>
                <a:ea typeface="Calibri" pitchFamily="34" charset="-122"/>
                <a:cs typeface="Calibri" pitchFamily="34" charset="-120"/>
              </a:rPr>
              <a:t>Protect downstream communities, ecosystems and infrastructure</a:t>
            </a:r>
            <a:endParaRPr lang="en-US" sz="1400" dirty="0">
              <a:solidFill>
                <a:schemeClr val="bg1"/>
              </a:solidFill>
            </a:endParaRPr>
          </a:p>
        </p:txBody>
      </p:sp>
      <p:sp>
        <p:nvSpPr>
          <p:cNvPr id="23" name="Shape 13"/>
          <p:cNvSpPr/>
          <p:nvPr/>
        </p:nvSpPr>
        <p:spPr>
          <a:xfrm>
            <a:off x="7187982" y="2084419"/>
            <a:ext cx="4297680" cy="3657600"/>
          </a:xfrm>
          <a:prstGeom prst="rect">
            <a:avLst/>
          </a:prstGeom>
          <a:solidFill>
            <a:srgbClr val="006666"/>
          </a:solidFill>
          <a:ln/>
        </p:spPr>
      </p:sp>
      <p:sp>
        <p:nvSpPr>
          <p:cNvPr id="24" name="Text 14"/>
          <p:cNvSpPr/>
          <p:nvPr/>
        </p:nvSpPr>
        <p:spPr>
          <a:xfrm>
            <a:off x="7187982" y="2358739"/>
            <a:ext cx="4297680" cy="1005840"/>
          </a:xfrm>
          <a:prstGeom prst="rect">
            <a:avLst/>
          </a:prstGeom>
          <a:noFill/>
          <a:ln/>
        </p:spPr>
        <p:txBody>
          <a:bodyPr wrap="square" lIns="0" tIns="0" rIns="0" bIns="0" rtlCol="0" anchor="ctr"/>
          <a:lstStyle/>
          <a:p>
            <a:pPr marL="0" indent="0" algn="ctr">
              <a:buNone/>
            </a:pPr>
            <a:r>
              <a:rPr lang="en-US" sz="6000" b="1" dirty="0">
                <a:solidFill>
                  <a:schemeClr val="bg1"/>
                </a:solidFill>
                <a:latin typeface="Cambria" pitchFamily="34" charset="0"/>
                <a:ea typeface="Cambria" pitchFamily="34" charset="-122"/>
                <a:cs typeface="Cambria" pitchFamily="34" charset="-120"/>
              </a:rPr>
              <a:t>5–6</a:t>
            </a:r>
            <a:endParaRPr lang="en-US" sz="6000" dirty="0">
              <a:solidFill>
                <a:schemeClr val="bg1"/>
              </a:solidFill>
            </a:endParaRPr>
          </a:p>
        </p:txBody>
      </p:sp>
      <p:sp>
        <p:nvSpPr>
          <p:cNvPr id="25" name="Text 15"/>
          <p:cNvSpPr/>
          <p:nvPr/>
        </p:nvSpPr>
        <p:spPr>
          <a:xfrm>
            <a:off x="7462302" y="3364579"/>
            <a:ext cx="3749040" cy="640080"/>
          </a:xfrm>
          <a:prstGeom prst="rect">
            <a:avLst/>
          </a:prstGeom>
          <a:noFill/>
          <a:ln/>
        </p:spPr>
        <p:txBody>
          <a:bodyPr wrap="square" lIns="0" tIns="0" rIns="0" bIns="0" rtlCol="0" anchor="ctr"/>
          <a:lstStyle/>
          <a:p>
            <a:pPr marL="0" indent="0" algn="ctr">
              <a:buNone/>
            </a:pPr>
            <a:r>
              <a:rPr lang="en-US" sz="1300" dirty="0">
                <a:solidFill>
                  <a:schemeClr val="bg1"/>
                </a:solidFill>
                <a:latin typeface="Calibri" pitchFamily="34" charset="0"/>
                <a:ea typeface="Calibri" pitchFamily="34" charset="-122"/>
                <a:cs typeface="Calibri" pitchFamily="34" charset="-120"/>
              </a:rPr>
              <a:t>serious tailings dam failures occur globally every year</a:t>
            </a:r>
            <a:endParaRPr lang="en-US" sz="1300" dirty="0">
              <a:solidFill>
                <a:schemeClr val="bg1"/>
              </a:solidFill>
            </a:endParaRPr>
          </a:p>
        </p:txBody>
      </p:sp>
      <p:sp>
        <p:nvSpPr>
          <p:cNvPr id="26" name="Shape 16"/>
          <p:cNvSpPr/>
          <p:nvPr/>
        </p:nvSpPr>
        <p:spPr>
          <a:xfrm>
            <a:off x="7553742" y="4187539"/>
            <a:ext cx="3566160" cy="0"/>
          </a:xfrm>
          <a:prstGeom prst="line">
            <a:avLst/>
          </a:prstGeom>
          <a:noFill/>
          <a:ln w="12700">
            <a:solidFill>
              <a:srgbClr val="DDD6CC"/>
            </a:solidFill>
            <a:prstDash val="solid"/>
          </a:ln>
        </p:spPr>
      </p:sp>
      <p:sp>
        <p:nvSpPr>
          <p:cNvPr id="27" name="Text 17"/>
          <p:cNvSpPr/>
          <p:nvPr/>
        </p:nvSpPr>
        <p:spPr>
          <a:xfrm>
            <a:off x="7462302" y="4370419"/>
            <a:ext cx="3749040" cy="1280160"/>
          </a:xfrm>
          <a:prstGeom prst="rect">
            <a:avLst/>
          </a:prstGeom>
          <a:noFill/>
          <a:ln/>
        </p:spPr>
        <p:txBody>
          <a:bodyPr wrap="square" lIns="0" tIns="0" rIns="0" bIns="0" rtlCol="0" anchor="ctr"/>
          <a:lstStyle/>
          <a:p>
            <a:pPr marL="0" indent="0">
              <a:lnSpc>
                <a:spcPct val="120000"/>
              </a:lnSpc>
              <a:buNone/>
            </a:pPr>
            <a:r>
              <a:rPr lang="en-US" sz="1250" i="1" dirty="0">
                <a:solidFill>
                  <a:schemeClr val="bg1"/>
                </a:solidFill>
                <a:latin typeface="Calibri" pitchFamily="34" charset="0"/>
                <a:ea typeface="Calibri" pitchFamily="34" charset="-122"/>
                <a:cs typeface="Calibri" pitchFamily="34" charset="-120"/>
              </a:rPr>
              <a:t>This is why TSFs are treated as “high-consequence” structures: unlike water dams, they are raised in stages over the life of the mine, so design, construction and monitoring must continue together, not just once.</a:t>
            </a:r>
            <a:endParaRPr lang="en-US" sz="1250" dirty="0">
              <a:solidFill>
                <a:schemeClr val="bg1"/>
              </a:solidFill>
            </a:endParaRPr>
          </a:p>
        </p:txBody>
      </p:sp>
      <p:sp>
        <p:nvSpPr>
          <p:cNvPr id="28" name="Text 18"/>
          <p:cNvSpPr/>
          <p:nvPr/>
        </p:nvSpPr>
        <p:spPr>
          <a:xfrm>
            <a:off x="11838029" y="6826083"/>
            <a:ext cx="548640" cy="320040"/>
          </a:xfrm>
          <a:prstGeom prst="rect">
            <a:avLst/>
          </a:prstGeom>
          <a:noFill/>
          <a:ln/>
        </p:spPr>
        <p:txBody>
          <a:bodyPr wrap="square" lIns="0" tIns="0" rIns="0" bIns="0" rtlCol="0" anchor="ctr"/>
          <a:lstStyle/>
          <a:p>
            <a:pPr marL="0" indent="0" algn="r">
              <a:buNone/>
            </a:pPr>
            <a:r>
              <a:rPr lang="en-US" sz="1000" dirty="0">
                <a:solidFill>
                  <a:srgbClr val="6E6459"/>
                </a:solidFill>
                <a:latin typeface="Calibri" pitchFamily="34" charset="0"/>
                <a:ea typeface="Calibri" pitchFamily="34" charset="-122"/>
                <a:cs typeface="Calibri" pitchFamily="34" charset="-120"/>
              </a:rPr>
              <a:t>03</a:t>
            </a:r>
            <a:endParaRPr lang="en-US" sz="1000" dirty="0"/>
          </a:p>
        </p:txBody>
      </p:sp>
      <p:sp>
        <p:nvSpPr>
          <p:cNvPr id="29" name="TextBox 28"/>
          <p:cNvSpPr txBox="1"/>
          <p:nvPr/>
        </p:nvSpPr>
        <p:spPr>
          <a:xfrm>
            <a:off x="910949" y="3406227"/>
            <a:ext cx="2623127" cy="369332"/>
          </a:xfrm>
          <a:prstGeom prst="rect">
            <a:avLst/>
          </a:prstGeom>
          <a:noFill/>
        </p:spPr>
        <p:txBody>
          <a:bodyPr wrap="square" rtlCol="0">
            <a:spAutoFit/>
          </a:bodyPr>
          <a:lstStyle/>
          <a:p>
            <a:r>
              <a:rPr lang="en-US" dirty="0">
                <a:solidFill>
                  <a:schemeClr val="accent2"/>
                </a:solidFill>
              </a:rPr>
              <a:t>BENEFITS OF USING TSF</a:t>
            </a:r>
          </a:p>
        </p:txBody>
      </p:sp>
    </p:spTree>
    <p:extLst>
      <p:ext uri="{BB962C8B-B14F-4D97-AF65-F5344CB8AC3E}">
        <p14:creationId xmlns:p14="http://schemas.microsoft.com/office/powerpoint/2010/main" val="26704288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a:xfrm>
            <a:off x="9211149" y="6396529"/>
            <a:ext cx="2743200" cy="365125"/>
          </a:xfrm>
        </p:spPr>
        <p:txBody>
          <a:bodyPr/>
          <a:lstStyle/>
          <a:p>
            <a:fld id="{C52AFD5A-4082-4BE4-96FC-4C4C6076294A}" type="slidenum">
              <a:rPr lang="en-US" smtClean="0"/>
              <a:pPr/>
              <a:t>4</a:t>
            </a:fld>
            <a:endParaRPr lang="en-US"/>
          </a:p>
        </p:txBody>
      </p:sp>
      <p:sp>
        <p:nvSpPr>
          <p:cNvPr id="6" name="Text 0"/>
          <p:cNvSpPr/>
          <p:nvPr/>
        </p:nvSpPr>
        <p:spPr>
          <a:xfrm>
            <a:off x="548640" y="411480"/>
            <a:ext cx="1188720" cy="822960"/>
          </a:xfrm>
          <a:prstGeom prst="rect">
            <a:avLst/>
          </a:prstGeom>
          <a:noFill/>
          <a:ln/>
        </p:spPr>
        <p:txBody>
          <a:bodyPr wrap="square" lIns="0" tIns="0" rIns="0" bIns="0" rtlCol="0" anchor="ctr"/>
          <a:lstStyle/>
          <a:p>
            <a:pPr marL="0" indent="0">
              <a:buNone/>
            </a:pPr>
            <a:endParaRPr lang="en-US" sz="4800" dirty="0"/>
          </a:p>
        </p:txBody>
      </p:sp>
      <p:sp>
        <p:nvSpPr>
          <p:cNvPr id="22" name="Text 16"/>
          <p:cNvSpPr/>
          <p:nvPr/>
        </p:nvSpPr>
        <p:spPr>
          <a:xfrm>
            <a:off x="1839099" y="1691421"/>
            <a:ext cx="9005270" cy="3566161"/>
          </a:xfrm>
          <a:prstGeom prst="rect">
            <a:avLst/>
          </a:prstGeom>
          <a:noFill/>
          <a:ln/>
        </p:spPr>
        <p:txBody>
          <a:bodyPr wrap="square" lIns="0" tIns="0" rIns="0" bIns="0" rtlCol="0" anchor="ctr"/>
          <a:lstStyle/>
          <a:p>
            <a:pPr marL="342900" indent="-342900">
              <a:lnSpc>
                <a:spcPct val="150000"/>
              </a:lnSpc>
              <a:buFont typeface="Wingdings" panose="05000000000000000000" pitchFamily="2" charset="2"/>
              <a:buChar char="Ø"/>
            </a:pPr>
            <a:r>
              <a:rPr lang="en-US" sz="2000" dirty="0">
                <a:solidFill>
                  <a:schemeClr val="bg1"/>
                </a:solidFill>
                <a:latin typeface="Calibri" pitchFamily="34" charset="0"/>
                <a:ea typeface="Calibri" pitchFamily="34" charset="-122"/>
                <a:cs typeface="Calibri" pitchFamily="34" charset="-120"/>
              </a:rPr>
              <a:t>Valley / cross-valley impoundment: dam across a natural valley</a:t>
            </a:r>
          </a:p>
          <a:p>
            <a:pPr marL="342900" indent="-342900">
              <a:lnSpc>
                <a:spcPct val="150000"/>
              </a:lnSpc>
              <a:buFont typeface="Wingdings" panose="05000000000000000000" pitchFamily="2" charset="2"/>
              <a:buChar char="Ø"/>
            </a:pPr>
            <a:r>
              <a:rPr lang="en-US" sz="2000" dirty="0">
                <a:solidFill>
                  <a:schemeClr val="bg1"/>
                </a:solidFill>
                <a:latin typeface="Calibri" pitchFamily="34" charset="0"/>
                <a:ea typeface="Calibri" pitchFamily="34" charset="-122"/>
                <a:cs typeface="Calibri" pitchFamily="34" charset="-120"/>
              </a:rPr>
              <a:t>Ring-dyke (paddock): flat-terrain, fully engineered perimeter embankment</a:t>
            </a:r>
          </a:p>
          <a:p>
            <a:pPr marL="342900" indent="-342900">
              <a:lnSpc>
                <a:spcPct val="150000"/>
              </a:lnSpc>
              <a:buFont typeface="Wingdings" panose="05000000000000000000" pitchFamily="2" charset="2"/>
              <a:buChar char="Ø"/>
            </a:pPr>
            <a:r>
              <a:rPr lang="en-US" sz="2000" dirty="0">
                <a:solidFill>
                  <a:schemeClr val="bg1"/>
                </a:solidFill>
                <a:latin typeface="Calibri" pitchFamily="34" charset="0"/>
                <a:ea typeface="Calibri" pitchFamily="34" charset="-122"/>
                <a:cs typeface="Calibri" pitchFamily="34" charset="-120"/>
              </a:rPr>
              <a:t>In-pit disposal: tailings placed in a mined-out open pit</a:t>
            </a:r>
          </a:p>
          <a:p>
            <a:pPr marL="342900" indent="-342900">
              <a:lnSpc>
                <a:spcPct val="150000"/>
              </a:lnSpc>
              <a:buFont typeface="Wingdings" panose="05000000000000000000" pitchFamily="2" charset="2"/>
              <a:buChar char="Ø"/>
            </a:pPr>
            <a:r>
              <a:rPr lang="en-US" sz="2000" dirty="0">
                <a:solidFill>
                  <a:schemeClr val="bg1"/>
                </a:solidFill>
                <a:latin typeface="Calibri" pitchFamily="34" charset="0"/>
                <a:ea typeface="Calibri" pitchFamily="34" charset="-122"/>
                <a:cs typeface="Calibri" pitchFamily="34" charset="-120"/>
              </a:rPr>
              <a:t>Dry-stack (filtered or thickened/paste tailings): no free water pond, stacked and compacted like earthworks</a:t>
            </a:r>
            <a:endParaRPr lang="en-US" sz="2000" dirty="0">
              <a:solidFill>
                <a:schemeClr val="bg1"/>
              </a:solidFill>
            </a:endParaRPr>
          </a:p>
        </p:txBody>
      </p:sp>
      <p:sp>
        <p:nvSpPr>
          <p:cNvPr id="25" name="Text 19"/>
          <p:cNvSpPr/>
          <p:nvPr/>
        </p:nvSpPr>
        <p:spPr>
          <a:xfrm>
            <a:off x="1200912" y="2651760"/>
            <a:ext cx="10424160" cy="365760"/>
          </a:xfrm>
          <a:prstGeom prst="rect">
            <a:avLst/>
          </a:prstGeom>
          <a:noFill/>
          <a:ln/>
        </p:spPr>
        <p:txBody>
          <a:bodyPr wrap="square" lIns="0" tIns="0" rIns="0" bIns="0" rtlCol="0" anchor="ctr"/>
          <a:lstStyle/>
          <a:p>
            <a:pPr marL="0" indent="0">
              <a:buNone/>
            </a:pPr>
            <a:endParaRPr lang="en-US" sz="1350" dirty="0"/>
          </a:p>
        </p:txBody>
      </p:sp>
      <p:sp>
        <p:nvSpPr>
          <p:cNvPr id="33" name="Text 1"/>
          <p:cNvSpPr/>
          <p:nvPr/>
        </p:nvSpPr>
        <p:spPr>
          <a:xfrm>
            <a:off x="2576943" y="975372"/>
            <a:ext cx="7529581" cy="645152"/>
          </a:xfrm>
          <a:prstGeom prst="rect">
            <a:avLst/>
          </a:prstGeom>
          <a:noFill/>
          <a:ln/>
        </p:spPr>
        <p:txBody>
          <a:bodyPr wrap="square" lIns="0" tIns="0" rIns="0" bIns="0" rtlCol="0" anchor="b"/>
          <a:lstStyle/>
          <a:p>
            <a:r>
              <a:rPr lang="en-US" sz="3200" b="1" dirty="0">
                <a:solidFill>
                  <a:srgbClr val="009999"/>
                </a:solidFill>
                <a:latin typeface="Cambria" pitchFamily="34" charset="0"/>
                <a:ea typeface="Cambria" pitchFamily="34" charset="-122"/>
                <a:cs typeface="Cambria" pitchFamily="34" charset="-120"/>
              </a:rPr>
              <a:t>TYPES OF TAILINGS STORAGE FACILITY</a:t>
            </a:r>
            <a:endParaRPr lang="en-US" sz="3200" dirty="0">
              <a:solidFill>
                <a:srgbClr val="009999"/>
              </a:solidFill>
            </a:endParaRPr>
          </a:p>
        </p:txBody>
      </p:sp>
      <p:cxnSp>
        <p:nvCxnSpPr>
          <p:cNvPr id="3" name="Straight Connector 2">
            <a:extLst>
              <a:ext uri="{FF2B5EF4-FFF2-40B4-BE49-F238E27FC236}">
                <a16:creationId xmlns:a16="http://schemas.microsoft.com/office/drawing/2014/main" id="{F6056CEB-A895-881B-70C5-154A3F5CE0F8}"/>
              </a:ext>
            </a:extLst>
          </p:cNvPr>
          <p:cNvCxnSpPr/>
          <p:nvPr/>
        </p:nvCxnSpPr>
        <p:spPr>
          <a:xfrm>
            <a:off x="4673599" y="1691421"/>
            <a:ext cx="3454400" cy="0"/>
          </a:xfrm>
          <a:prstGeom prst="line">
            <a:avLst/>
          </a:prstGeom>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36093402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C52AFD5A-4082-4BE4-96FC-4C4C6076294A}" type="slidenum">
              <a:rPr lang="en-US" smtClean="0"/>
              <a:pPr/>
              <a:t>5</a:t>
            </a:fld>
            <a:endParaRPr lang="en-US"/>
          </a:p>
        </p:txBody>
      </p:sp>
      <p:sp>
        <p:nvSpPr>
          <p:cNvPr id="7" name="Text 1"/>
          <p:cNvSpPr/>
          <p:nvPr/>
        </p:nvSpPr>
        <p:spPr>
          <a:xfrm>
            <a:off x="649706" y="740664"/>
            <a:ext cx="10844488" cy="594360"/>
          </a:xfrm>
          <a:prstGeom prst="rect">
            <a:avLst/>
          </a:prstGeom>
          <a:noFill/>
          <a:ln/>
        </p:spPr>
        <p:txBody>
          <a:bodyPr wrap="square" lIns="0" tIns="0" rIns="0" bIns="0" rtlCol="0" anchor="b"/>
          <a:lstStyle/>
          <a:p>
            <a:pPr marL="0" indent="0" algn="ctr">
              <a:buNone/>
            </a:pPr>
            <a:r>
              <a:rPr lang="en-US" sz="3200" b="1" dirty="0">
                <a:solidFill>
                  <a:srgbClr val="009999"/>
                </a:solidFill>
                <a:latin typeface="Times New Roman" panose="02020603050405020304" pitchFamily="18" charset="0"/>
                <a:ea typeface="Cambria" pitchFamily="34" charset="-122"/>
                <a:cs typeface="Times New Roman" panose="02020603050405020304" pitchFamily="18" charset="0"/>
              </a:rPr>
              <a:t>SITE SELECTION &amp; GEOLOGICAL CONSIDERATIONS</a:t>
            </a:r>
            <a:endParaRPr lang="en-US" sz="3200" dirty="0">
              <a:solidFill>
                <a:srgbClr val="009999"/>
              </a:solidFill>
              <a:latin typeface="Times New Roman" panose="02020603050405020304" pitchFamily="18" charset="0"/>
              <a:cs typeface="Times New Roman" panose="02020603050405020304" pitchFamily="18" charset="0"/>
            </a:endParaRPr>
          </a:p>
        </p:txBody>
      </p:sp>
      <p:sp>
        <p:nvSpPr>
          <p:cNvPr id="10" name="Shape 4"/>
          <p:cNvSpPr/>
          <p:nvPr/>
        </p:nvSpPr>
        <p:spPr>
          <a:xfrm>
            <a:off x="777240" y="1681942"/>
            <a:ext cx="3611880" cy="1965960"/>
          </a:xfrm>
          <a:prstGeom prst="rect">
            <a:avLst/>
          </a:prstGeom>
          <a:solidFill>
            <a:srgbClr val="CF711B"/>
          </a:solidFill>
          <a:ln/>
        </p:spPr>
      </p:sp>
      <p:sp>
        <p:nvSpPr>
          <p:cNvPr id="12" name="Text 6"/>
          <p:cNvSpPr/>
          <p:nvPr/>
        </p:nvSpPr>
        <p:spPr>
          <a:xfrm>
            <a:off x="1005840" y="1910542"/>
            <a:ext cx="365760" cy="365760"/>
          </a:xfrm>
          <a:prstGeom prst="rect">
            <a:avLst/>
          </a:prstGeom>
          <a:noFill/>
          <a:ln/>
        </p:spPr>
        <p:txBody>
          <a:bodyPr wrap="square" lIns="0" tIns="0" rIns="0" bIns="0" rtlCol="0" anchor="ctr"/>
          <a:lstStyle/>
          <a:p>
            <a:pPr marL="0" indent="0" algn="ctr">
              <a:buNone/>
            </a:pPr>
            <a:endParaRPr lang="en-US" sz="1500" dirty="0"/>
          </a:p>
        </p:txBody>
      </p:sp>
      <p:sp>
        <p:nvSpPr>
          <p:cNvPr id="13" name="Text 7"/>
          <p:cNvSpPr/>
          <p:nvPr/>
        </p:nvSpPr>
        <p:spPr>
          <a:xfrm>
            <a:off x="1508760" y="1864822"/>
            <a:ext cx="2743200" cy="411480"/>
          </a:xfrm>
          <a:prstGeom prst="rect">
            <a:avLst/>
          </a:prstGeom>
          <a:noFill/>
          <a:ln/>
        </p:spPr>
        <p:txBody>
          <a:bodyPr wrap="square" lIns="0" tIns="0" rIns="0" bIns="0" rtlCol="0" anchor="ctr"/>
          <a:lstStyle/>
          <a:p>
            <a:pPr marL="0" indent="0">
              <a:buNone/>
            </a:pPr>
            <a:r>
              <a:rPr lang="en-US" sz="1450" b="1" dirty="0">
                <a:solidFill>
                  <a:schemeClr val="bg1"/>
                </a:solidFill>
                <a:latin typeface="Cambria" pitchFamily="34" charset="0"/>
                <a:ea typeface="Cambria" pitchFamily="34" charset="-122"/>
                <a:cs typeface="Cambria" pitchFamily="34" charset="-120"/>
              </a:rPr>
              <a:t>Topography</a:t>
            </a:r>
            <a:endParaRPr lang="en-US" sz="1450" dirty="0">
              <a:solidFill>
                <a:schemeClr val="bg1"/>
              </a:solidFill>
            </a:endParaRPr>
          </a:p>
        </p:txBody>
      </p:sp>
      <p:sp>
        <p:nvSpPr>
          <p:cNvPr id="14" name="Text 8"/>
          <p:cNvSpPr/>
          <p:nvPr/>
        </p:nvSpPr>
        <p:spPr>
          <a:xfrm>
            <a:off x="1005840" y="2395174"/>
            <a:ext cx="3200400" cy="1188720"/>
          </a:xfrm>
          <a:prstGeom prst="rect">
            <a:avLst/>
          </a:prstGeom>
          <a:noFill/>
          <a:ln/>
        </p:spPr>
        <p:txBody>
          <a:bodyPr wrap="square" lIns="0" tIns="0" rIns="0" bIns="0" rtlCol="0" anchor="ctr"/>
          <a:lstStyle/>
          <a:p>
            <a:pPr marL="0" indent="0">
              <a:lnSpc>
                <a:spcPct val="120000"/>
              </a:lnSpc>
              <a:buNone/>
            </a:pPr>
            <a:r>
              <a:rPr lang="en-US" sz="1400" dirty="0">
                <a:solidFill>
                  <a:schemeClr val="bg1"/>
                </a:solidFill>
                <a:latin typeface="Calibri" pitchFamily="34" charset="0"/>
                <a:ea typeface="Calibri" pitchFamily="34" charset="-122"/>
                <a:cs typeface="Calibri" pitchFamily="34" charset="-120"/>
              </a:rPr>
              <a:t>Natural valleys or depressions reduce embankment volume; flat sites need more engineered fill.</a:t>
            </a:r>
            <a:endParaRPr lang="en-US" sz="1400" dirty="0">
              <a:solidFill>
                <a:schemeClr val="bg1"/>
              </a:solidFill>
            </a:endParaRPr>
          </a:p>
        </p:txBody>
      </p:sp>
      <p:sp>
        <p:nvSpPr>
          <p:cNvPr id="15" name="Shape 9"/>
          <p:cNvSpPr/>
          <p:nvPr/>
        </p:nvSpPr>
        <p:spPr>
          <a:xfrm>
            <a:off x="4389120" y="1691640"/>
            <a:ext cx="3611880" cy="2011680"/>
          </a:xfrm>
          <a:prstGeom prst="rect">
            <a:avLst/>
          </a:prstGeom>
          <a:solidFill>
            <a:srgbClr val="006666"/>
          </a:solidFill>
          <a:ln/>
        </p:spPr>
      </p:sp>
      <p:sp>
        <p:nvSpPr>
          <p:cNvPr id="18" name="Text 12"/>
          <p:cNvSpPr/>
          <p:nvPr/>
        </p:nvSpPr>
        <p:spPr>
          <a:xfrm>
            <a:off x="5120640" y="1874520"/>
            <a:ext cx="2743200" cy="411480"/>
          </a:xfrm>
          <a:prstGeom prst="rect">
            <a:avLst/>
          </a:prstGeom>
          <a:noFill/>
          <a:ln/>
        </p:spPr>
        <p:txBody>
          <a:bodyPr wrap="square" lIns="0" tIns="0" rIns="0" bIns="0" rtlCol="0" anchor="ctr"/>
          <a:lstStyle/>
          <a:p>
            <a:pPr marL="0" indent="0">
              <a:buNone/>
            </a:pPr>
            <a:r>
              <a:rPr lang="en-US" sz="1450" b="1" dirty="0">
                <a:solidFill>
                  <a:schemeClr val="bg1"/>
                </a:solidFill>
                <a:latin typeface="Cambria" pitchFamily="34" charset="0"/>
                <a:ea typeface="Cambria" pitchFamily="34" charset="-122"/>
                <a:cs typeface="Cambria" pitchFamily="34" charset="-120"/>
              </a:rPr>
              <a:t>Foundation Geology</a:t>
            </a:r>
            <a:endParaRPr lang="en-US" sz="1450" dirty="0">
              <a:solidFill>
                <a:schemeClr val="bg1"/>
              </a:solidFill>
            </a:endParaRPr>
          </a:p>
        </p:txBody>
      </p:sp>
      <p:sp>
        <p:nvSpPr>
          <p:cNvPr id="19" name="Text 13"/>
          <p:cNvSpPr/>
          <p:nvPr/>
        </p:nvSpPr>
        <p:spPr>
          <a:xfrm>
            <a:off x="4617720" y="2404872"/>
            <a:ext cx="3200400" cy="1188720"/>
          </a:xfrm>
          <a:prstGeom prst="rect">
            <a:avLst/>
          </a:prstGeom>
          <a:noFill/>
          <a:ln/>
        </p:spPr>
        <p:txBody>
          <a:bodyPr wrap="square" lIns="0" tIns="0" rIns="0" bIns="0" rtlCol="0" anchor="ctr"/>
          <a:lstStyle/>
          <a:p>
            <a:pPr marL="0" indent="0">
              <a:lnSpc>
                <a:spcPct val="120000"/>
              </a:lnSpc>
              <a:buNone/>
            </a:pPr>
            <a:r>
              <a:rPr lang="en-US" sz="1400" dirty="0">
                <a:solidFill>
                  <a:schemeClr val="bg1"/>
                </a:solidFill>
                <a:latin typeface="Calibri" pitchFamily="34" charset="0"/>
                <a:ea typeface="Calibri" pitchFamily="34" charset="-122"/>
                <a:cs typeface="Calibri" pitchFamily="34" charset="-120"/>
              </a:rPr>
              <a:t>Bearing capacity, weak clay layers, karst, faults and liquefiable soils must be mapped and avoided or treated.</a:t>
            </a:r>
            <a:endParaRPr lang="en-US" sz="1400" dirty="0">
              <a:solidFill>
                <a:schemeClr val="bg1"/>
              </a:solidFill>
            </a:endParaRPr>
          </a:p>
        </p:txBody>
      </p:sp>
      <p:sp>
        <p:nvSpPr>
          <p:cNvPr id="20" name="Shape 14"/>
          <p:cNvSpPr/>
          <p:nvPr/>
        </p:nvSpPr>
        <p:spPr>
          <a:xfrm>
            <a:off x="7882313" y="1691640"/>
            <a:ext cx="3611880" cy="2011680"/>
          </a:xfrm>
          <a:prstGeom prst="rect">
            <a:avLst/>
          </a:prstGeom>
          <a:solidFill>
            <a:srgbClr val="009999"/>
          </a:solidFill>
          <a:ln/>
        </p:spPr>
      </p:sp>
      <p:sp>
        <p:nvSpPr>
          <p:cNvPr id="22" name="Text 16"/>
          <p:cNvSpPr/>
          <p:nvPr/>
        </p:nvSpPr>
        <p:spPr>
          <a:xfrm>
            <a:off x="8110913" y="1920240"/>
            <a:ext cx="36576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23" name="Text 17"/>
          <p:cNvSpPr/>
          <p:nvPr/>
        </p:nvSpPr>
        <p:spPr>
          <a:xfrm>
            <a:off x="8613833" y="1874520"/>
            <a:ext cx="2743200" cy="411480"/>
          </a:xfrm>
          <a:prstGeom prst="rect">
            <a:avLst/>
          </a:prstGeom>
          <a:noFill/>
          <a:ln/>
        </p:spPr>
        <p:txBody>
          <a:bodyPr wrap="square" lIns="0" tIns="0" rIns="0" bIns="0" rtlCol="0" anchor="ctr"/>
          <a:lstStyle/>
          <a:p>
            <a:pPr marL="0" indent="0">
              <a:buNone/>
            </a:pPr>
            <a:r>
              <a:rPr lang="en-US" sz="1450" b="1" dirty="0">
                <a:solidFill>
                  <a:srgbClr val="2B2119"/>
                </a:solidFill>
                <a:latin typeface="Cambria" pitchFamily="34" charset="0"/>
                <a:ea typeface="Cambria" pitchFamily="34" charset="-122"/>
                <a:cs typeface="Cambria" pitchFamily="34" charset="-120"/>
              </a:rPr>
              <a:t>Seismicity</a:t>
            </a:r>
            <a:endParaRPr lang="en-US" sz="1450" dirty="0"/>
          </a:p>
        </p:txBody>
      </p:sp>
      <p:sp>
        <p:nvSpPr>
          <p:cNvPr id="24" name="Text 18"/>
          <p:cNvSpPr/>
          <p:nvPr/>
        </p:nvSpPr>
        <p:spPr>
          <a:xfrm>
            <a:off x="8110913" y="2404872"/>
            <a:ext cx="3200400" cy="1188720"/>
          </a:xfrm>
          <a:prstGeom prst="rect">
            <a:avLst/>
          </a:prstGeom>
          <a:noFill/>
          <a:ln/>
        </p:spPr>
        <p:txBody>
          <a:bodyPr wrap="square" lIns="0" tIns="0" rIns="0" bIns="0" rtlCol="0" anchor="ctr"/>
          <a:lstStyle/>
          <a:p>
            <a:pPr marL="0" indent="0">
              <a:lnSpc>
                <a:spcPct val="120000"/>
              </a:lnSpc>
              <a:buNone/>
            </a:pPr>
            <a:r>
              <a:rPr lang="en-US" sz="1400" dirty="0">
                <a:latin typeface="Calibri" pitchFamily="34" charset="0"/>
                <a:ea typeface="Calibri" pitchFamily="34" charset="-122"/>
                <a:cs typeface="Calibri" pitchFamily="34" charset="-120"/>
              </a:rPr>
              <a:t>Regional fault activity and design earthquake magnitude drive the dam's dynamic stability analysis</a:t>
            </a:r>
            <a:r>
              <a:rPr lang="en-US" sz="1150" dirty="0">
                <a:solidFill>
                  <a:srgbClr val="6E6459"/>
                </a:solidFill>
                <a:latin typeface="Calibri" pitchFamily="34" charset="0"/>
                <a:ea typeface="Calibri" pitchFamily="34" charset="-122"/>
                <a:cs typeface="Calibri" pitchFamily="34" charset="-120"/>
              </a:rPr>
              <a:t>.</a:t>
            </a:r>
            <a:endParaRPr lang="en-US" sz="1150" dirty="0"/>
          </a:p>
        </p:txBody>
      </p:sp>
      <p:sp>
        <p:nvSpPr>
          <p:cNvPr id="25" name="Shape 19"/>
          <p:cNvSpPr/>
          <p:nvPr/>
        </p:nvSpPr>
        <p:spPr>
          <a:xfrm>
            <a:off x="777240" y="3922222"/>
            <a:ext cx="3611880" cy="2011680"/>
          </a:xfrm>
          <a:prstGeom prst="rect">
            <a:avLst/>
          </a:prstGeom>
          <a:solidFill>
            <a:srgbClr val="009999"/>
          </a:solidFill>
          <a:ln/>
        </p:spPr>
      </p:sp>
      <p:sp>
        <p:nvSpPr>
          <p:cNvPr id="27" name="Text 21"/>
          <p:cNvSpPr/>
          <p:nvPr/>
        </p:nvSpPr>
        <p:spPr>
          <a:xfrm>
            <a:off x="1005840" y="4150822"/>
            <a:ext cx="36576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4</a:t>
            </a:r>
            <a:endParaRPr lang="en-US" sz="1500" dirty="0"/>
          </a:p>
        </p:txBody>
      </p:sp>
      <p:sp>
        <p:nvSpPr>
          <p:cNvPr id="28" name="Text 22"/>
          <p:cNvSpPr/>
          <p:nvPr/>
        </p:nvSpPr>
        <p:spPr>
          <a:xfrm>
            <a:off x="1508760" y="4105102"/>
            <a:ext cx="2743200" cy="411480"/>
          </a:xfrm>
          <a:prstGeom prst="rect">
            <a:avLst/>
          </a:prstGeom>
          <a:noFill/>
          <a:ln/>
        </p:spPr>
        <p:txBody>
          <a:bodyPr wrap="square" lIns="0" tIns="0" rIns="0" bIns="0" rtlCol="0" anchor="ctr"/>
          <a:lstStyle/>
          <a:p>
            <a:pPr marL="0" indent="0">
              <a:buNone/>
            </a:pPr>
            <a:r>
              <a:rPr lang="en-US" sz="1450" b="1" dirty="0">
                <a:solidFill>
                  <a:srgbClr val="2B2119"/>
                </a:solidFill>
                <a:latin typeface="Cambria" pitchFamily="34" charset="0"/>
                <a:ea typeface="Cambria" pitchFamily="34" charset="-122"/>
                <a:cs typeface="Cambria" pitchFamily="34" charset="-120"/>
              </a:rPr>
              <a:t>Hydrogeology</a:t>
            </a:r>
            <a:endParaRPr lang="en-US" sz="1450" dirty="0"/>
          </a:p>
        </p:txBody>
      </p:sp>
      <p:sp>
        <p:nvSpPr>
          <p:cNvPr id="29" name="Text 23"/>
          <p:cNvSpPr/>
          <p:nvPr/>
        </p:nvSpPr>
        <p:spPr>
          <a:xfrm>
            <a:off x="1005840" y="4635454"/>
            <a:ext cx="3200400" cy="1188720"/>
          </a:xfrm>
          <a:prstGeom prst="rect">
            <a:avLst/>
          </a:prstGeom>
          <a:noFill/>
          <a:ln/>
        </p:spPr>
        <p:txBody>
          <a:bodyPr wrap="square" lIns="0" tIns="0" rIns="0" bIns="0" rtlCol="0" anchor="ctr"/>
          <a:lstStyle/>
          <a:p>
            <a:pPr marL="0" indent="0">
              <a:lnSpc>
                <a:spcPct val="120000"/>
              </a:lnSpc>
              <a:buNone/>
            </a:pPr>
            <a:r>
              <a:rPr lang="en-US" sz="1400" dirty="0">
                <a:latin typeface="Calibri" pitchFamily="34" charset="0"/>
                <a:ea typeface="Calibri" pitchFamily="34" charset="-122"/>
                <a:cs typeface="Calibri" pitchFamily="34" charset="-120"/>
              </a:rPr>
              <a:t>Groundwater levels, aquifer connectivity and seepage pathways determine liner and drainage needs.</a:t>
            </a:r>
            <a:endParaRPr lang="en-US" sz="1400" dirty="0"/>
          </a:p>
        </p:txBody>
      </p:sp>
      <p:sp>
        <p:nvSpPr>
          <p:cNvPr id="30" name="Shape 24"/>
          <p:cNvSpPr/>
          <p:nvPr/>
        </p:nvSpPr>
        <p:spPr>
          <a:xfrm>
            <a:off x="4389120" y="3931920"/>
            <a:ext cx="3611880" cy="2011680"/>
          </a:xfrm>
          <a:prstGeom prst="rect">
            <a:avLst/>
          </a:prstGeom>
          <a:solidFill>
            <a:srgbClr val="F7F5F2"/>
          </a:solidFill>
          <a:ln/>
        </p:spPr>
      </p:sp>
      <p:sp>
        <p:nvSpPr>
          <p:cNvPr id="33" name="Text 27"/>
          <p:cNvSpPr/>
          <p:nvPr/>
        </p:nvSpPr>
        <p:spPr>
          <a:xfrm>
            <a:off x="5120640" y="4114800"/>
            <a:ext cx="2743200" cy="411480"/>
          </a:xfrm>
          <a:prstGeom prst="rect">
            <a:avLst/>
          </a:prstGeom>
          <a:noFill/>
          <a:ln/>
        </p:spPr>
        <p:txBody>
          <a:bodyPr wrap="square" lIns="0" tIns="0" rIns="0" bIns="0" rtlCol="0" anchor="ctr"/>
          <a:lstStyle/>
          <a:p>
            <a:pPr marL="0" indent="0">
              <a:buNone/>
            </a:pPr>
            <a:r>
              <a:rPr lang="en-US" sz="1450" b="1" dirty="0">
                <a:solidFill>
                  <a:srgbClr val="2B2119"/>
                </a:solidFill>
                <a:latin typeface="Cambria" pitchFamily="34" charset="0"/>
                <a:ea typeface="Cambria" pitchFamily="34" charset="-122"/>
                <a:cs typeface="Cambria" pitchFamily="34" charset="-120"/>
              </a:rPr>
              <a:t>Hydrology &amp; Climate</a:t>
            </a:r>
            <a:endParaRPr lang="en-US" sz="1450" dirty="0"/>
          </a:p>
        </p:txBody>
      </p:sp>
      <p:sp>
        <p:nvSpPr>
          <p:cNvPr id="34" name="Text 28"/>
          <p:cNvSpPr/>
          <p:nvPr/>
        </p:nvSpPr>
        <p:spPr>
          <a:xfrm>
            <a:off x="4617720" y="4645152"/>
            <a:ext cx="3200400" cy="1188720"/>
          </a:xfrm>
          <a:prstGeom prst="rect">
            <a:avLst/>
          </a:prstGeom>
          <a:noFill/>
          <a:ln/>
        </p:spPr>
        <p:txBody>
          <a:bodyPr wrap="square" lIns="0" tIns="0" rIns="0" bIns="0" rtlCol="0" anchor="ctr"/>
          <a:lstStyle/>
          <a:p>
            <a:pPr marL="0" indent="0">
              <a:lnSpc>
                <a:spcPct val="120000"/>
              </a:lnSpc>
              <a:buNone/>
            </a:pPr>
            <a:r>
              <a:rPr lang="en-US" sz="1400" dirty="0">
                <a:latin typeface="Calibri" pitchFamily="34" charset="0"/>
                <a:ea typeface="Calibri" pitchFamily="34" charset="-122"/>
                <a:cs typeface="Calibri" pitchFamily="34" charset="-120"/>
              </a:rPr>
              <a:t>Catchment size and extreme rainfall set the water balance and spillway/freeboard requirements.</a:t>
            </a:r>
            <a:endParaRPr lang="en-US" sz="1400" dirty="0"/>
          </a:p>
        </p:txBody>
      </p:sp>
      <p:sp>
        <p:nvSpPr>
          <p:cNvPr id="35" name="Shape 29"/>
          <p:cNvSpPr/>
          <p:nvPr/>
        </p:nvSpPr>
        <p:spPr>
          <a:xfrm>
            <a:off x="7882313" y="3931920"/>
            <a:ext cx="3611880" cy="2011680"/>
          </a:xfrm>
          <a:prstGeom prst="rect">
            <a:avLst/>
          </a:prstGeom>
          <a:solidFill>
            <a:srgbClr val="CF711B"/>
          </a:solidFill>
          <a:ln/>
        </p:spPr>
      </p:sp>
      <p:sp>
        <p:nvSpPr>
          <p:cNvPr id="37" name="Text 31"/>
          <p:cNvSpPr/>
          <p:nvPr/>
        </p:nvSpPr>
        <p:spPr>
          <a:xfrm>
            <a:off x="8110913" y="4160520"/>
            <a:ext cx="36576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6</a:t>
            </a:r>
            <a:endParaRPr lang="en-US" sz="1500" dirty="0"/>
          </a:p>
        </p:txBody>
      </p:sp>
      <p:sp>
        <p:nvSpPr>
          <p:cNvPr id="38" name="Text 32"/>
          <p:cNvSpPr/>
          <p:nvPr/>
        </p:nvSpPr>
        <p:spPr>
          <a:xfrm>
            <a:off x="8613833" y="4114800"/>
            <a:ext cx="2743200" cy="411480"/>
          </a:xfrm>
          <a:prstGeom prst="rect">
            <a:avLst/>
          </a:prstGeom>
          <a:noFill/>
          <a:ln/>
        </p:spPr>
        <p:txBody>
          <a:bodyPr wrap="square" lIns="0" tIns="0" rIns="0" bIns="0" rtlCol="0" anchor="ctr"/>
          <a:lstStyle/>
          <a:p>
            <a:pPr marL="0" indent="0">
              <a:buNone/>
            </a:pPr>
            <a:r>
              <a:rPr lang="en-US" sz="1450" b="1" dirty="0">
                <a:solidFill>
                  <a:schemeClr val="bg1"/>
                </a:solidFill>
                <a:latin typeface="Cambria" pitchFamily="34" charset="0"/>
                <a:ea typeface="Cambria" pitchFamily="34" charset="-122"/>
                <a:cs typeface="Cambria" pitchFamily="34" charset="-120"/>
              </a:rPr>
              <a:t>Proximity &amp; Buffers</a:t>
            </a:r>
            <a:endParaRPr lang="en-US" sz="1450" dirty="0">
              <a:solidFill>
                <a:schemeClr val="bg1"/>
              </a:solidFill>
            </a:endParaRPr>
          </a:p>
        </p:txBody>
      </p:sp>
      <p:sp>
        <p:nvSpPr>
          <p:cNvPr id="39" name="Text 33"/>
          <p:cNvSpPr/>
          <p:nvPr/>
        </p:nvSpPr>
        <p:spPr>
          <a:xfrm>
            <a:off x="8110913" y="4645152"/>
            <a:ext cx="3200400" cy="1188720"/>
          </a:xfrm>
          <a:prstGeom prst="rect">
            <a:avLst/>
          </a:prstGeom>
          <a:noFill/>
          <a:ln/>
        </p:spPr>
        <p:txBody>
          <a:bodyPr wrap="square" lIns="0" tIns="0" rIns="0" bIns="0" rtlCol="0" anchor="ctr"/>
          <a:lstStyle/>
          <a:p>
            <a:pPr marL="0" indent="0">
              <a:lnSpc>
                <a:spcPct val="120000"/>
              </a:lnSpc>
              <a:buNone/>
            </a:pPr>
            <a:r>
              <a:rPr lang="en-US" sz="1400" dirty="0">
                <a:solidFill>
                  <a:schemeClr val="bg1"/>
                </a:solidFill>
                <a:latin typeface="Calibri" pitchFamily="34" charset="0"/>
                <a:ea typeface="Calibri" pitchFamily="34" charset="-122"/>
                <a:cs typeface="Calibri" pitchFamily="34" charset="-120"/>
              </a:rPr>
              <a:t>Distance from settlements, rivers and protected areas, plus haul distance from the plant.</a:t>
            </a:r>
            <a:endParaRPr lang="en-US" sz="1400" dirty="0">
              <a:solidFill>
                <a:schemeClr val="bg1"/>
              </a:solidFill>
            </a:endParaRPr>
          </a:p>
        </p:txBody>
      </p:sp>
    </p:spTree>
    <p:extLst>
      <p:ext uri="{BB962C8B-B14F-4D97-AF65-F5344CB8AC3E}">
        <p14:creationId xmlns:p14="http://schemas.microsoft.com/office/powerpoint/2010/main" val="6892898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itle 5"/>
          <p:cNvSpPr>
            <a:spLocks noGrp="1"/>
          </p:cNvSpPr>
          <p:nvPr>
            <p:ph type="title"/>
          </p:nvPr>
        </p:nvSpPr>
        <p:spPr>
          <a:xfrm>
            <a:off x="838200" y="747470"/>
            <a:ext cx="10515600" cy="721112"/>
          </a:xfrm>
        </p:spPr>
        <p:txBody>
          <a:bodyPr/>
          <a:lstStyle/>
          <a:p>
            <a:pPr algn="ctr"/>
            <a:r>
              <a:rPr lang="en-US" dirty="0">
                <a:solidFill>
                  <a:srgbClr val="006666"/>
                </a:solidFill>
              </a:rPr>
              <a:t>DESIGN FUNDMENTAL</a:t>
            </a:r>
          </a:p>
        </p:txBody>
      </p:sp>
      <p:sp>
        <p:nvSpPr>
          <p:cNvPr id="7" name="Content Placeholder 6"/>
          <p:cNvSpPr>
            <a:spLocks noGrp="1"/>
          </p:cNvSpPr>
          <p:nvPr>
            <p:ph sz="half" idx="1"/>
          </p:nvPr>
        </p:nvSpPr>
        <p:spPr/>
        <p:txBody>
          <a:bodyPr/>
          <a:lstStyle/>
          <a:p>
            <a:pPr marL="0" indent="0" algn="ctr">
              <a:buNone/>
            </a:pPr>
            <a:r>
              <a:rPr lang="en-US" b="1" dirty="0">
                <a:solidFill>
                  <a:schemeClr val="accent2"/>
                </a:solidFill>
              </a:rPr>
              <a:t>SLOPE STABILITY</a:t>
            </a:r>
          </a:p>
          <a:p>
            <a:pPr marL="0" indent="0">
              <a:buNone/>
            </a:pPr>
            <a:r>
              <a:rPr lang="en-US" sz="2000" b="1" dirty="0">
                <a:solidFill>
                  <a:schemeClr val="accent2"/>
                </a:solidFill>
              </a:rPr>
              <a:t>Purpose</a:t>
            </a:r>
            <a:r>
              <a:rPr lang="en-US" sz="2000" dirty="0">
                <a:solidFill>
                  <a:schemeClr val="accent2"/>
                </a:solidFill>
              </a:rPr>
              <a:t>: </a:t>
            </a:r>
            <a:r>
              <a:rPr lang="en-US" sz="2000" dirty="0">
                <a:solidFill>
                  <a:schemeClr val="bg1"/>
                </a:solidFill>
              </a:rPr>
              <a:t>Ensures structural integrity of the embankment and foundation under both static and dynamic (seismic) conditions.</a:t>
            </a:r>
          </a:p>
          <a:p>
            <a:pPr marL="0" indent="0">
              <a:buNone/>
            </a:pPr>
            <a:endParaRPr lang="en-US" sz="2000" dirty="0">
              <a:solidFill>
                <a:schemeClr val="bg1"/>
              </a:solidFill>
            </a:endParaRPr>
          </a:p>
          <a:p>
            <a:pPr marL="0" indent="0">
              <a:buNone/>
            </a:pPr>
            <a:r>
              <a:rPr lang="en-US" sz="2000" b="1" dirty="0">
                <a:solidFill>
                  <a:srgbClr val="009999"/>
                </a:solidFill>
              </a:rPr>
              <a:t>Key Focus: </a:t>
            </a:r>
            <a:r>
              <a:rPr lang="en-US" sz="2000" dirty="0">
                <a:solidFill>
                  <a:schemeClr val="bg1"/>
                </a:solidFill>
              </a:rPr>
              <a:t>Maintaining an adequate factor of safety at every single raise stage throughout the facility's lifecycle.</a:t>
            </a:r>
            <a:endParaRPr lang="en-US" sz="2000" b="1" dirty="0">
              <a:solidFill>
                <a:schemeClr val="bg1"/>
              </a:solidFill>
            </a:endParaRPr>
          </a:p>
        </p:txBody>
      </p:sp>
      <p:pic>
        <p:nvPicPr>
          <p:cNvPr id="2" name="Content Placeholder 1"/>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6172200" y="1825625"/>
            <a:ext cx="5181600" cy="3628277"/>
          </a:xfrm>
        </p:spPr>
      </p:pic>
      <p:sp>
        <p:nvSpPr>
          <p:cNvPr id="5" name="Slide Number Placeholder 4"/>
          <p:cNvSpPr>
            <a:spLocks noGrp="1"/>
          </p:cNvSpPr>
          <p:nvPr>
            <p:ph type="sldNum" sz="quarter" idx="12"/>
          </p:nvPr>
        </p:nvSpPr>
        <p:spPr/>
        <p:txBody>
          <a:bodyPr/>
          <a:lstStyle/>
          <a:p>
            <a:fld id="{C52AFD5A-4082-4BE4-96FC-4C4C6076294A}" type="slidenum">
              <a:rPr lang="en-US" smtClean="0"/>
              <a:pPr/>
              <a:t>6</a:t>
            </a:fld>
            <a:endParaRPr lang="en-US"/>
          </a:p>
        </p:txBody>
      </p:sp>
      <p:pic>
        <p:nvPicPr>
          <p:cNvPr id="9" name="Picture 8">
            <a:extLst>
              <a:ext uri="{FF2B5EF4-FFF2-40B4-BE49-F238E27FC236}">
                <a16:creationId xmlns:a16="http://schemas.microsoft.com/office/drawing/2014/main" id="{F6295A4B-78C5-ABE6-0AA7-DA4067DAF42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172200" y="1825625"/>
            <a:ext cx="5182323" cy="3629532"/>
          </a:xfrm>
          <a:prstGeom prst="rect">
            <a:avLst/>
          </a:prstGeom>
        </p:spPr>
      </p:pic>
    </p:spTree>
    <p:extLst>
      <p:ext uri="{BB962C8B-B14F-4D97-AF65-F5344CB8AC3E}">
        <p14:creationId xmlns:p14="http://schemas.microsoft.com/office/powerpoint/2010/main" val="10606129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itle 5"/>
          <p:cNvSpPr>
            <a:spLocks noGrp="1"/>
          </p:cNvSpPr>
          <p:nvPr>
            <p:ph type="title"/>
          </p:nvPr>
        </p:nvSpPr>
        <p:spPr>
          <a:xfrm>
            <a:off x="838200" y="747470"/>
            <a:ext cx="10515600" cy="721112"/>
          </a:xfrm>
        </p:spPr>
        <p:txBody>
          <a:bodyPr/>
          <a:lstStyle/>
          <a:p>
            <a:pPr algn="ctr"/>
            <a:r>
              <a:rPr lang="en-US" dirty="0">
                <a:solidFill>
                  <a:srgbClr val="009999"/>
                </a:solidFill>
              </a:rPr>
              <a:t>DESIGN FUNDMENTAL</a:t>
            </a:r>
          </a:p>
        </p:txBody>
      </p:sp>
      <p:sp>
        <p:nvSpPr>
          <p:cNvPr id="7" name="Content Placeholder 6"/>
          <p:cNvSpPr>
            <a:spLocks noGrp="1"/>
          </p:cNvSpPr>
          <p:nvPr>
            <p:ph sz="half" idx="1"/>
          </p:nvPr>
        </p:nvSpPr>
        <p:spPr/>
        <p:txBody>
          <a:bodyPr/>
          <a:lstStyle/>
          <a:p>
            <a:pPr marL="0" indent="0" algn="ctr">
              <a:buNone/>
            </a:pPr>
            <a:r>
              <a:rPr lang="en-US" b="1" dirty="0">
                <a:solidFill>
                  <a:schemeClr val="accent2"/>
                </a:solidFill>
                <a:latin typeface="Cambria" pitchFamily="34" charset="0"/>
                <a:ea typeface="Cambria" pitchFamily="34" charset="-122"/>
                <a:cs typeface="Cambria" pitchFamily="34" charset="-120"/>
              </a:rPr>
              <a:t>Deposition Method</a:t>
            </a:r>
            <a:endParaRPr lang="en-US" dirty="0">
              <a:solidFill>
                <a:schemeClr val="accent2"/>
              </a:solidFill>
            </a:endParaRPr>
          </a:p>
          <a:p>
            <a:pPr algn="ctr"/>
            <a:endParaRPr lang="en-US" sz="2000" b="1" dirty="0">
              <a:solidFill>
                <a:schemeClr val="accent2"/>
              </a:solidFill>
            </a:endParaRPr>
          </a:p>
        </p:txBody>
      </p:sp>
      <p:pic>
        <p:nvPicPr>
          <p:cNvPr id="4" name="Content Placeholder 3"/>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6172200" y="1921164"/>
            <a:ext cx="5181600" cy="3807330"/>
          </a:xfrm>
        </p:spPr>
      </p:pic>
      <p:sp>
        <p:nvSpPr>
          <p:cNvPr id="5" name="Slide Number Placeholder 4"/>
          <p:cNvSpPr>
            <a:spLocks noGrp="1"/>
          </p:cNvSpPr>
          <p:nvPr>
            <p:ph type="sldNum" sz="quarter" idx="12"/>
          </p:nvPr>
        </p:nvSpPr>
        <p:spPr/>
        <p:txBody>
          <a:bodyPr/>
          <a:lstStyle/>
          <a:p>
            <a:fld id="{C52AFD5A-4082-4BE4-96FC-4C4C6076294A}" type="slidenum">
              <a:rPr lang="en-US" smtClean="0"/>
              <a:pPr/>
              <a:t>7</a:t>
            </a:fld>
            <a:endParaRPr lang="en-US"/>
          </a:p>
        </p:txBody>
      </p:sp>
      <p:sp>
        <p:nvSpPr>
          <p:cNvPr id="9" name="Text 6"/>
          <p:cNvSpPr/>
          <p:nvPr/>
        </p:nvSpPr>
        <p:spPr>
          <a:xfrm>
            <a:off x="982980" y="2261936"/>
            <a:ext cx="4892040" cy="3272589"/>
          </a:xfrm>
          <a:prstGeom prst="rect">
            <a:avLst/>
          </a:prstGeom>
          <a:noFill/>
          <a:ln/>
        </p:spPr>
        <p:txBody>
          <a:bodyPr wrap="square" lIns="0" tIns="0" rIns="0" bIns="0" rtlCol="0" anchor="ctr"/>
          <a:lstStyle/>
          <a:p>
            <a:pPr>
              <a:lnSpc>
                <a:spcPct val="120000"/>
              </a:lnSpc>
            </a:pPr>
            <a:r>
              <a:rPr lang="en-US" sz="2000" b="1" dirty="0">
                <a:solidFill>
                  <a:srgbClr val="009999"/>
                </a:solidFill>
              </a:rPr>
              <a:t>Purpose</a:t>
            </a:r>
            <a:r>
              <a:rPr lang="en-US" sz="2000" dirty="0">
                <a:solidFill>
                  <a:srgbClr val="009999"/>
                </a:solidFill>
              </a:rPr>
              <a:t>: </a:t>
            </a:r>
            <a:r>
              <a:rPr lang="en-US" sz="2000" dirty="0">
                <a:solidFill>
                  <a:schemeClr val="bg1"/>
                </a:solidFill>
              </a:rPr>
              <a:t>Determines how tailings are placed within the facility based on site-specific climate, topography, and material rheology.</a:t>
            </a:r>
          </a:p>
          <a:p>
            <a:pPr>
              <a:lnSpc>
                <a:spcPct val="120000"/>
              </a:lnSpc>
            </a:pPr>
            <a:br>
              <a:rPr lang="en-US" sz="2000" dirty="0">
                <a:solidFill>
                  <a:schemeClr val="bg1"/>
                </a:solidFill>
              </a:rPr>
            </a:br>
            <a:r>
              <a:rPr lang="en-US" sz="2000" b="1" dirty="0">
                <a:solidFill>
                  <a:schemeClr val="accent2"/>
                </a:solidFill>
              </a:rPr>
              <a:t>Key Options: </a:t>
            </a:r>
            <a:r>
              <a:rPr lang="en-US" sz="2000" dirty="0">
                <a:solidFill>
                  <a:schemeClr val="bg1"/>
                </a:solidFill>
              </a:rPr>
              <a:t>Sub-aerial, thickened, paste, or filtered (dry-stack) tailings placement.</a:t>
            </a:r>
          </a:p>
          <a:p>
            <a:pPr>
              <a:lnSpc>
                <a:spcPct val="120000"/>
              </a:lnSpc>
            </a:pPr>
            <a:endParaRPr lang="en-US" sz="2000" dirty="0">
              <a:solidFill>
                <a:schemeClr val="bg1"/>
              </a:solidFill>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3A815BF6-4DDD-315B-A411-4288281C60A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164580" y="1921164"/>
            <a:ext cx="5181600" cy="3800475"/>
          </a:xfrm>
          <a:prstGeom prst="rect">
            <a:avLst/>
          </a:prstGeom>
        </p:spPr>
      </p:pic>
    </p:spTree>
    <p:extLst>
      <p:ext uri="{BB962C8B-B14F-4D97-AF65-F5344CB8AC3E}">
        <p14:creationId xmlns:p14="http://schemas.microsoft.com/office/powerpoint/2010/main" val="28646214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itle 5"/>
          <p:cNvSpPr>
            <a:spLocks noGrp="1"/>
          </p:cNvSpPr>
          <p:nvPr>
            <p:ph type="title"/>
          </p:nvPr>
        </p:nvSpPr>
        <p:spPr>
          <a:xfrm>
            <a:off x="838200" y="747470"/>
            <a:ext cx="10515600" cy="721112"/>
          </a:xfrm>
        </p:spPr>
        <p:txBody>
          <a:bodyPr/>
          <a:lstStyle/>
          <a:p>
            <a:pPr algn="ctr"/>
            <a:r>
              <a:rPr lang="en-US" dirty="0">
                <a:solidFill>
                  <a:srgbClr val="006666"/>
                </a:solidFill>
              </a:rPr>
              <a:t>DESIGN FUNDMENTAL</a:t>
            </a:r>
          </a:p>
        </p:txBody>
      </p:sp>
      <p:sp>
        <p:nvSpPr>
          <p:cNvPr id="7" name="Content Placeholder 6"/>
          <p:cNvSpPr>
            <a:spLocks noGrp="1"/>
          </p:cNvSpPr>
          <p:nvPr>
            <p:ph sz="half" idx="1"/>
          </p:nvPr>
        </p:nvSpPr>
        <p:spPr>
          <a:xfrm>
            <a:off x="2485628" y="1630402"/>
            <a:ext cx="7382661" cy="816583"/>
          </a:xfrm>
        </p:spPr>
        <p:txBody>
          <a:bodyPr/>
          <a:lstStyle/>
          <a:p>
            <a:pPr marL="0" indent="0">
              <a:buNone/>
            </a:pPr>
            <a:r>
              <a:rPr lang="en-US" b="1" dirty="0">
                <a:solidFill>
                  <a:schemeClr val="accent2"/>
                </a:solidFill>
                <a:latin typeface="Cambria" pitchFamily="34" charset="0"/>
                <a:ea typeface="Cambria" pitchFamily="34" charset="-122"/>
                <a:cs typeface="Cambria" pitchFamily="34" charset="-120"/>
              </a:rPr>
              <a:t>Water Balance &amp; Freeboard</a:t>
            </a:r>
            <a:endParaRPr lang="en-US" dirty="0">
              <a:solidFill>
                <a:schemeClr val="accent2"/>
              </a:solidFill>
            </a:endParaRPr>
          </a:p>
          <a:p>
            <a:pPr algn="ctr"/>
            <a:endParaRPr lang="en-US" sz="2000" b="1" dirty="0">
              <a:solidFill>
                <a:srgbClr val="009999"/>
              </a:solidFill>
            </a:endParaRPr>
          </a:p>
        </p:txBody>
      </p:sp>
      <p:pic>
        <p:nvPicPr>
          <p:cNvPr id="2" name="Content Placeholder 1"/>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5754255" y="1825625"/>
            <a:ext cx="5599545" cy="3612648"/>
          </a:xfrm>
        </p:spPr>
      </p:pic>
      <p:sp>
        <p:nvSpPr>
          <p:cNvPr id="5" name="Slide Number Placeholder 4"/>
          <p:cNvSpPr>
            <a:spLocks noGrp="1"/>
          </p:cNvSpPr>
          <p:nvPr>
            <p:ph type="sldNum" sz="quarter" idx="12"/>
          </p:nvPr>
        </p:nvSpPr>
        <p:spPr/>
        <p:txBody>
          <a:bodyPr/>
          <a:lstStyle/>
          <a:p>
            <a:fld id="{C52AFD5A-4082-4BE4-96FC-4C4C6076294A}" type="slidenum">
              <a:rPr lang="en-US" smtClean="0"/>
              <a:pPr/>
              <a:t>8</a:t>
            </a:fld>
            <a:endParaRPr lang="en-US"/>
          </a:p>
        </p:txBody>
      </p:sp>
      <p:sp>
        <p:nvSpPr>
          <p:cNvPr id="9" name="Text 6"/>
          <p:cNvSpPr/>
          <p:nvPr/>
        </p:nvSpPr>
        <p:spPr>
          <a:xfrm>
            <a:off x="960120" y="2676236"/>
            <a:ext cx="4295371" cy="2762037"/>
          </a:xfrm>
          <a:prstGeom prst="rect">
            <a:avLst/>
          </a:prstGeom>
          <a:noFill/>
          <a:ln/>
        </p:spPr>
        <p:txBody>
          <a:bodyPr wrap="square" lIns="0" tIns="0" rIns="0" bIns="0" rtlCol="0" anchor="ctr"/>
          <a:lstStyle/>
          <a:p>
            <a:pPr>
              <a:lnSpc>
                <a:spcPct val="120000"/>
              </a:lnSpc>
            </a:pPr>
            <a:r>
              <a:rPr lang="en-US" sz="2000" b="1" dirty="0">
                <a:solidFill>
                  <a:srgbClr val="006666"/>
                </a:solidFill>
              </a:rPr>
              <a:t>Purpose: </a:t>
            </a:r>
            <a:r>
              <a:rPr lang="en-US" sz="2000" dirty="0">
                <a:solidFill>
                  <a:schemeClr val="bg1"/>
                </a:solidFill>
              </a:rPr>
              <a:t>Manages incoming water and storage capacity to prevent catastrophic overtopping.</a:t>
            </a:r>
          </a:p>
          <a:p>
            <a:pPr>
              <a:lnSpc>
                <a:spcPct val="120000"/>
              </a:lnSpc>
            </a:pPr>
            <a:endParaRPr lang="en-US" sz="2000" b="1" dirty="0">
              <a:solidFill>
                <a:schemeClr val="bg1"/>
              </a:solidFill>
            </a:endParaRPr>
          </a:p>
          <a:p>
            <a:pPr>
              <a:lnSpc>
                <a:spcPct val="120000"/>
              </a:lnSpc>
            </a:pPr>
            <a:r>
              <a:rPr lang="en-US" sz="2000" b="1" dirty="0">
                <a:solidFill>
                  <a:srgbClr val="CF711B"/>
                </a:solidFill>
              </a:rPr>
              <a:t>Key Focus: </a:t>
            </a:r>
            <a:r>
              <a:rPr lang="en-US" sz="2000" dirty="0">
                <a:solidFill>
                  <a:schemeClr val="bg1"/>
                </a:solidFill>
              </a:rPr>
              <a:t>Rigorously sized against extreme weather events like the Probable Maximum Flood (PMF) to ensure the pond never exceeds crest levels.</a:t>
            </a:r>
            <a:endParaRPr lang="en-US" sz="2000" dirty="0">
              <a:solidFill>
                <a:schemeClr val="bg1"/>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847C89D0-9DC4-BD21-0723-A9463E54654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458910" y="2446985"/>
            <a:ext cx="5601482" cy="3610479"/>
          </a:xfrm>
          <a:prstGeom prst="rect">
            <a:avLst/>
          </a:prstGeom>
        </p:spPr>
      </p:pic>
    </p:spTree>
    <p:extLst>
      <p:ext uri="{BB962C8B-B14F-4D97-AF65-F5344CB8AC3E}">
        <p14:creationId xmlns:p14="http://schemas.microsoft.com/office/powerpoint/2010/main" val="26802766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itle 5"/>
          <p:cNvSpPr>
            <a:spLocks noGrp="1"/>
          </p:cNvSpPr>
          <p:nvPr>
            <p:ph type="title"/>
          </p:nvPr>
        </p:nvSpPr>
        <p:spPr>
          <a:xfrm>
            <a:off x="838200" y="747470"/>
            <a:ext cx="10515600" cy="721112"/>
          </a:xfrm>
        </p:spPr>
        <p:txBody>
          <a:bodyPr/>
          <a:lstStyle/>
          <a:p>
            <a:pPr algn="ctr"/>
            <a:r>
              <a:rPr lang="en-US" dirty="0">
                <a:solidFill>
                  <a:srgbClr val="006666"/>
                </a:solidFill>
              </a:rPr>
              <a:t>DESIGN FUNDMENTAL</a:t>
            </a:r>
          </a:p>
        </p:txBody>
      </p:sp>
      <p:sp>
        <p:nvSpPr>
          <p:cNvPr id="7" name="Content Placeholder 6"/>
          <p:cNvSpPr>
            <a:spLocks noGrp="1"/>
          </p:cNvSpPr>
          <p:nvPr>
            <p:ph sz="half" idx="1"/>
          </p:nvPr>
        </p:nvSpPr>
        <p:spPr>
          <a:xfrm>
            <a:off x="1906077" y="1751314"/>
            <a:ext cx="8341472" cy="721113"/>
          </a:xfrm>
        </p:spPr>
        <p:txBody>
          <a:bodyPr/>
          <a:lstStyle/>
          <a:p>
            <a:pPr marL="0" indent="0" algn="ctr">
              <a:buNone/>
            </a:pPr>
            <a:r>
              <a:rPr lang="en-US" b="1" dirty="0">
                <a:solidFill>
                  <a:schemeClr val="accent2"/>
                </a:solidFill>
                <a:latin typeface="Cambria" pitchFamily="34" charset="0"/>
                <a:ea typeface="Cambria" pitchFamily="34" charset="-122"/>
                <a:cs typeface="Cambria" pitchFamily="34" charset="-120"/>
              </a:rPr>
              <a:t>Decant &amp; Return Water</a:t>
            </a:r>
            <a:endParaRPr lang="en-US" dirty="0">
              <a:solidFill>
                <a:schemeClr val="accent2"/>
              </a:solidFill>
            </a:endParaRPr>
          </a:p>
        </p:txBody>
      </p:sp>
      <p:pic>
        <p:nvPicPr>
          <p:cNvPr id="2" name="Content Placeholder 1"/>
          <p:cNvPicPr>
            <a:picLocks noGrp="1" noChangeAspect="1"/>
          </p:cNvPicPr>
          <p:nvPr>
            <p:ph sz="half" idx="2"/>
          </p:nvPr>
        </p:nvPicPr>
        <p:blipFill>
          <a:blip r:embed="rId3" cstate="print">
            <a:extLst>
              <a:ext uri="{28A0092B-C50C-407E-A947-70E740481C1C}">
                <a14:useLocalDpi xmlns:a14="http://schemas.microsoft.com/office/drawing/2010/main" val="0"/>
              </a:ext>
            </a:extLst>
          </a:blip>
          <a:stretch>
            <a:fillRect/>
          </a:stretch>
        </p:blipFill>
        <p:spPr>
          <a:xfrm>
            <a:off x="6141720" y="1825625"/>
            <a:ext cx="5163589" cy="3817793"/>
          </a:xfrm>
        </p:spPr>
      </p:pic>
      <p:sp>
        <p:nvSpPr>
          <p:cNvPr id="5" name="Slide Number Placeholder 4"/>
          <p:cNvSpPr>
            <a:spLocks noGrp="1"/>
          </p:cNvSpPr>
          <p:nvPr>
            <p:ph type="sldNum" sz="quarter" idx="12"/>
          </p:nvPr>
        </p:nvSpPr>
        <p:spPr/>
        <p:txBody>
          <a:bodyPr/>
          <a:lstStyle/>
          <a:p>
            <a:fld id="{C52AFD5A-4082-4BE4-96FC-4C4C6076294A}" type="slidenum">
              <a:rPr lang="en-US" smtClean="0"/>
              <a:pPr/>
              <a:t>9</a:t>
            </a:fld>
            <a:endParaRPr lang="en-US"/>
          </a:p>
        </p:txBody>
      </p:sp>
      <p:sp>
        <p:nvSpPr>
          <p:cNvPr id="9" name="Text 6"/>
          <p:cNvSpPr/>
          <p:nvPr/>
        </p:nvSpPr>
        <p:spPr>
          <a:xfrm>
            <a:off x="960120" y="2676236"/>
            <a:ext cx="4295371" cy="2155645"/>
          </a:xfrm>
          <a:prstGeom prst="rect">
            <a:avLst/>
          </a:prstGeom>
          <a:noFill/>
          <a:ln/>
        </p:spPr>
        <p:txBody>
          <a:bodyPr wrap="square" lIns="0" tIns="0" rIns="0" bIns="0" rtlCol="0" anchor="ctr"/>
          <a:lstStyle/>
          <a:p>
            <a:pPr marL="285750" indent="-285750">
              <a:lnSpc>
                <a:spcPct val="120000"/>
              </a:lnSpc>
              <a:buFont typeface="Wingdings" panose="05000000000000000000" pitchFamily="2" charset="2"/>
              <a:buChar char="v"/>
            </a:pPr>
            <a:r>
              <a:rPr lang="en-US" sz="2000" dirty="0">
                <a:solidFill>
                  <a:schemeClr val="bg1"/>
                </a:solidFill>
                <a:latin typeface="Calibri" pitchFamily="34" charset="0"/>
                <a:ea typeface="Calibri" pitchFamily="34" charset="-122"/>
                <a:cs typeface="Calibri" pitchFamily="34" charset="-120"/>
              </a:rPr>
              <a:t>Systems to recover supernatant water from the TSF Dam back to the plant.</a:t>
            </a:r>
          </a:p>
          <a:p>
            <a:pPr marL="285750" indent="-285750">
              <a:lnSpc>
                <a:spcPct val="120000"/>
              </a:lnSpc>
              <a:buFont typeface="Wingdings" panose="05000000000000000000" pitchFamily="2" charset="2"/>
              <a:buChar char="v"/>
            </a:pPr>
            <a:endParaRPr lang="en-US" sz="2000" dirty="0">
              <a:solidFill>
                <a:schemeClr val="bg1"/>
              </a:solidFill>
              <a:latin typeface="Calibri" pitchFamily="34" charset="0"/>
              <a:ea typeface="Calibri" pitchFamily="34" charset="-122"/>
              <a:cs typeface="Calibri" pitchFamily="34" charset="-120"/>
            </a:endParaRPr>
          </a:p>
          <a:p>
            <a:pPr marL="285750" indent="-285750">
              <a:lnSpc>
                <a:spcPct val="120000"/>
              </a:lnSpc>
              <a:buFont typeface="Wingdings" panose="05000000000000000000" pitchFamily="2" charset="2"/>
              <a:buChar char="v"/>
            </a:pPr>
            <a:r>
              <a:rPr lang="en-US" sz="2000" dirty="0">
                <a:solidFill>
                  <a:schemeClr val="bg1"/>
                </a:solidFill>
                <a:latin typeface="Calibri" pitchFamily="34" charset="0"/>
                <a:ea typeface="Calibri" pitchFamily="34" charset="-122"/>
                <a:cs typeface="Calibri" pitchFamily="34" charset="-120"/>
              </a:rPr>
              <a:t>Penstock and seepage pond are mostly the systems used for decanting water from TSF to Plant.</a:t>
            </a:r>
            <a:endParaRPr lang="en-US" sz="2000" dirty="0">
              <a:solidFill>
                <a:schemeClr val="bg1"/>
              </a:solidFill>
            </a:endParaRPr>
          </a:p>
        </p:txBody>
      </p:sp>
      <p:pic>
        <p:nvPicPr>
          <p:cNvPr id="4" name="Picture 3">
            <a:extLst>
              <a:ext uri="{FF2B5EF4-FFF2-40B4-BE49-F238E27FC236}">
                <a16:creationId xmlns:a16="http://schemas.microsoft.com/office/drawing/2014/main" id="{29E27E9A-E2D0-30B5-6089-640AAD03E92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884438" y="2546738"/>
            <a:ext cx="5162550" cy="3810000"/>
          </a:xfrm>
          <a:prstGeom prst="rect">
            <a:avLst/>
          </a:prstGeom>
        </p:spPr>
      </p:pic>
    </p:spTree>
    <p:extLst>
      <p:ext uri="{BB962C8B-B14F-4D97-AF65-F5344CB8AC3E}">
        <p14:creationId xmlns:p14="http://schemas.microsoft.com/office/powerpoint/2010/main" val="24567426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itle 5"/>
          <p:cNvSpPr>
            <a:spLocks noGrp="1"/>
          </p:cNvSpPr>
          <p:nvPr>
            <p:ph type="title"/>
          </p:nvPr>
        </p:nvSpPr>
        <p:spPr>
          <a:xfrm>
            <a:off x="838200" y="747470"/>
            <a:ext cx="10515600" cy="721112"/>
          </a:xfrm>
        </p:spPr>
        <p:txBody>
          <a:bodyPr/>
          <a:lstStyle/>
          <a:p>
            <a:pPr algn="ctr"/>
            <a:r>
              <a:rPr lang="en-US" dirty="0">
                <a:solidFill>
                  <a:srgbClr val="006666"/>
                </a:solidFill>
              </a:rPr>
              <a:t>DESIGN FUNDMENTAL</a:t>
            </a:r>
          </a:p>
        </p:txBody>
      </p:sp>
      <p:sp>
        <p:nvSpPr>
          <p:cNvPr id="7" name="Content Placeholder 6"/>
          <p:cNvSpPr>
            <a:spLocks noGrp="1"/>
          </p:cNvSpPr>
          <p:nvPr>
            <p:ph sz="half" idx="1"/>
          </p:nvPr>
        </p:nvSpPr>
        <p:spPr/>
        <p:txBody>
          <a:bodyPr/>
          <a:lstStyle/>
          <a:p>
            <a:pPr marL="0" indent="0" algn="ctr">
              <a:buNone/>
            </a:pPr>
            <a:r>
              <a:rPr lang="en-US" b="1" dirty="0">
                <a:solidFill>
                  <a:schemeClr val="accent2"/>
                </a:solidFill>
                <a:latin typeface="Cambria" pitchFamily="34" charset="0"/>
                <a:ea typeface="Cambria" pitchFamily="34" charset="-122"/>
                <a:cs typeface="Cambria" pitchFamily="34" charset="-120"/>
              </a:rPr>
              <a:t>Seepage Control</a:t>
            </a:r>
            <a:endParaRPr lang="en-US" dirty="0">
              <a:solidFill>
                <a:schemeClr val="accent2"/>
              </a:solidFill>
            </a:endParaRPr>
          </a:p>
          <a:p>
            <a:endParaRPr lang="en-US" sz="2000" b="1" dirty="0">
              <a:solidFill>
                <a:schemeClr val="accent2"/>
              </a:solidFill>
            </a:endParaRPr>
          </a:p>
        </p:txBody>
      </p:sp>
      <p:pic>
        <p:nvPicPr>
          <p:cNvPr id="2" name="Content Placeholder 1"/>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5781964" y="1825625"/>
            <a:ext cx="5571836" cy="3785902"/>
          </a:xfrm>
        </p:spPr>
      </p:pic>
      <p:sp>
        <p:nvSpPr>
          <p:cNvPr id="5" name="Slide Number Placeholder 4"/>
          <p:cNvSpPr>
            <a:spLocks noGrp="1"/>
          </p:cNvSpPr>
          <p:nvPr>
            <p:ph type="sldNum" sz="quarter" idx="12"/>
          </p:nvPr>
        </p:nvSpPr>
        <p:spPr/>
        <p:txBody>
          <a:bodyPr/>
          <a:lstStyle/>
          <a:p>
            <a:fld id="{C52AFD5A-4082-4BE4-96FC-4C4C6076294A}" type="slidenum">
              <a:rPr lang="en-US" smtClean="0"/>
              <a:pPr/>
              <a:t>10</a:t>
            </a:fld>
            <a:endParaRPr lang="en-US"/>
          </a:p>
        </p:txBody>
      </p:sp>
      <p:sp>
        <p:nvSpPr>
          <p:cNvPr id="9" name="Text 6"/>
          <p:cNvSpPr/>
          <p:nvPr/>
        </p:nvSpPr>
        <p:spPr>
          <a:xfrm>
            <a:off x="960120" y="2676236"/>
            <a:ext cx="4295371" cy="2935291"/>
          </a:xfrm>
          <a:prstGeom prst="rect">
            <a:avLst/>
          </a:prstGeom>
          <a:noFill/>
          <a:ln/>
        </p:spPr>
        <p:txBody>
          <a:bodyPr wrap="square" lIns="0" tIns="0" rIns="0" bIns="0" rtlCol="0" anchor="ctr"/>
          <a:lstStyle/>
          <a:p>
            <a:pPr>
              <a:lnSpc>
                <a:spcPct val="120000"/>
              </a:lnSpc>
            </a:pPr>
            <a:r>
              <a:rPr lang="en-US" sz="2000" b="1" dirty="0">
                <a:solidFill>
                  <a:srgbClr val="006666"/>
                </a:solidFill>
              </a:rPr>
              <a:t>Purpose</a:t>
            </a:r>
            <a:r>
              <a:rPr lang="en-US" sz="2000" dirty="0">
                <a:solidFill>
                  <a:srgbClr val="006666"/>
                </a:solidFill>
              </a:rPr>
              <a:t>: </a:t>
            </a:r>
            <a:r>
              <a:rPr lang="en-US" sz="2000" dirty="0">
                <a:solidFill>
                  <a:schemeClr val="bg1"/>
                </a:solidFill>
              </a:rPr>
              <a:t>Manages internal phreatic water and prevents internal erosion (piping).</a:t>
            </a:r>
          </a:p>
          <a:p>
            <a:pPr>
              <a:lnSpc>
                <a:spcPct val="120000"/>
              </a:lnSpc>
            </a:pPr>
            <a:br>
              <a:rPr lang="en-US" sz="2000" dirty="0">
                <a:solidFill>
                  <a:schemeClr val="bg1"/>
                </a:solidFill>
              </a:rPr>
            </a:br>
            <a:r>
              <a:rPr lang="en-US" sz="2000" b="1" dirty="0">
                <a:solidFill>
                  <a:schemeClr val="accent2"/>
                </a:solidFill>
              </a:rPr>
              <a:t>Key Mechanisms: </a:t>
            </a:r>
            <a:r>
              <a:rPr lang="en-US" sz="2000" dirty="0">
                <a:solidFill>
                  <a:schemeClr val="bg1"/>
                </a:solidFill>
              </a:rPr>
              <a:t>Engineered liners, cut-off walls, and underdrains to capture and redirect migrating water.</a:t>
            </a:r>
          </a:p>
        </p:txBody>
      </p:sp>
      <p:pic>
        <p:nvPicPr>
          <p:cNvPr id="4" name="Picture 3">
            <a:extLst>
              <a:ext uri="{FF2B5EF4-FFF2-40B4-BE49-F238E27FC236}">
                <a16:creationId xmlns:a16="http://schemas.microsoft.com/office/drawing/2014/main" id="{2186BDBF-10EB-9C93-91DB-96EB0F26BBB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781964" y="2463152"/>
            <a:ext cx="5572125" cy="3781425"/>
          </a:xfrm>
          <a:prstGeom prst="rect">
            <a:avLst/>
          </a:prstGeom>
        </p:spPr>
      </p:pic>
    </p:spTree>
    <p:extLst>
      <p:ext uri="{BB962C8B-B14F-4D97-AF65-F5344CB8AC3E}">
        <p14:creationId xmlns:p14="http://schemas.microsoft.com/office/powerpoint/2010/main" val="9673978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itle 5"/>
          <p:cNvSpPr>
            <a:spLocks noGrp="1"/>
          </p:cNvSpPr>
          <p:nvPr>
            <p:ph type="title"/>
          </p:nvPr>
        </p:nvSpPr>
        <p:spPr>
          <a:xfrm>
            <a:off x="838200" y="747470"/>
            <a:ext cx="10515600" cy="721112"/>
          </a:xfrm>
        </p:spPr>
        <p:txBody>
          <a:bodyPr/>
          <a:lstStyle/>
          <a:p>
            <a:pPr algn="ctr"/>
            <a:r>
              <a:rPr lang="en-US" dirty="0">
                <a:solidFill>
                  <a:srgbClr val="006666"/>
                </a:solidFill>
              </a:rPr>
              <a:t>DESIGN FUNDMENTAL</a:t>
            </a:r>
          </a:p>
        </p:txBody>
      </p:sp>
      <p:sp>
        <p:nvSpPr>
          <p:cNvPr id="7" name="Content Placeholder 6"/>
          <p:cNvSpPr>
            <a:spLocks noGrp="1"/>
          </p:cNvSpPr>
          <p:nvPr>
            <p:ph sz="half" idx="1"/>
          </p:nvPr>
        </p:nvSpPr>
        <p:spPr/>
        <p:txBody>
          <a:bodyPr/>
          <a:lstStyle/>
          <a:p>
            <a:pPr marL="0" indent="0">
              <a:buNone/>
            </a:pPr>
            <a:r>
              <a:rPr lang="en-US" b="1" dirty="0">
                <a:solidFill>
                  <a:schemeClr val="accent2"/>
                </a:solidFill>
                <a:latin typeface="Cambria" pitchFamily="34" charset="0"/>
                <a:ea typeface="Cambria" pitchFamily="34" charset="-122"/>
                <a:cs typeface="Cambria" pitchFamily="34" charset="-120"/>
              </a:rPr>
              <a:t>Instrumentation</a:t>
            </a:r>
            <a:endParaRPr lang="en-US" dirty="0">
              <a:solidFill>
                <a:schemeClr val="accent2"/>
              </a:solidFill>
            </a:endParaRPr>
          </a:p>
          <a:p>
            <a:endParaRPr lang="en-US" sz="2000" b="1" dirty="0">
              <a:solidFill>
                <a:schemeClr val="accent2"/>
              </a:solidFill>
            </a:endParaRPr>
          </a:p>
        </p:txBody>
      </p:sp>
      <p:pic>
        <p:nvPicPr>
          <p:cNvPr id="2" name="Content Placeholder 1"/>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5634182" y="1825625"/>
            <a:ext cx="5719618" cy="4118769"/>
          </a:xfrm>
        </p:spPr>
      </p:pic>
      <p:sp>
        <p:nvSpPr>
          <p:cNvPr id="5" name="Slide Number Placeholder 4"/>
          <p:cNvSpPr>
            <a:spLocks noGrp="1"/>
          </p:cNvSpPr>
          <p:nvPr>
            <p:ph type="sldNum" sz="quarter" idx="12"/>
          </p:nvPr>
        </p:nvSpPr>
        <p:spPr/>
        <p:txBody>
          <a:bodyPr/>
          <a:lstStyle/>
          <a:p>
            <a:fld id="{C52AFD5A-4082-4BE4-96FC-4C4C6076294A}" type="slidenum">
              <a:rPr lang="en-US" smtClean="0"/>
              <a:pPr/>
              <a:t>11</a:t>
            </a:fld>
            <a:endParaRPr lang="en-US"/>
          </a:p>
        </p:txBody>
      </p:sp>
      <p:sp>
        <p:nvSpPr>
          <p:cNvPr id="9" name="Text 6"/>
          <p:cNvSpPr/>
          <p:nvPr/>
        </p:nvSpPr>
        <p:spPr>
          <a:xfrm>
            <a:off x="960120" y="2479235"/>
            <a:ext cx="4295371" cy="2881744"/>
          </a:xfrm>
          <a:prstGeom prst="rect">
            <a:avLst/>
          </a:prstGeom>
          <a:noFill/>
          <a:ln/>
        </p:spPr>
        <p:txBody>
          <a:bodyPr wrap="square" lIns="0" tIns="0" rIns="0" bIns="0" rtlCol="0" anchor="ctr"/>
          <a:lstStyle/>
          <a:p>
            <a:pPr>
              <a:lnSpc>
                <a:spcPct val="150000"/>
              </a:lnSpc>
            </a:pPr>
            <a:r>
              <a:rPr lang="en-US" sz="2000" dirty="0">
                <a:solidFill>
                  <a:schemeClr val="bg1"/>
                </a:solidFill>
                <a:latin typeface="Calibri" pitchFamily="34" charset="0"/>
                <a:ea typeface="Calibri" pitchFamily="34" charset="-122"/>
                <a:cs typeface="Calibri" pitchFamily="34" charset="-120"/>
              </a:rPr>
              <a:t>Installation of Piezometers to check the Phreatic surface. </a:t>
            </a:r>
          </a:p>
          <a:p>
            <a:pPr>
              <a:lnSpc>
                <a:spcPct val="150000"/>
              </a:lnSpc>
            </a:pPr>
            <a:r>
              <a:rPr lang="en-US" sz="2000" dirty="0">
                <a:solidFill>
                  <a:schemeClr val="bg1"/>
                </a:solidFill>
                <a:latin typeface="Calibri" pitchFamily="34" charset="0"/>
                <a:ea typeface="Calibri" pitchFamily="34" charset="-122"/>
                <a:cs typeface="Calibri" pitchFamily="34" charset="-120"/>
              </a:rPr>
              <a:t>Installation inclinometers to monitor lateral deformation</a:t>
            </a:r>
          </a:p>
          <a:p>
            <a:pPr>
              <a:lnSpc>
                <a:spcPct val="150000"/>
              </a:lnSpc>
            </a:pPr>
            <a:r>
              <a:rPr lang="en-US" sz="2000" dirty="0">
                <a:solidFill>
                  <a:schemeClr val="bg1"/>
                </a:solidFill>
                <a:latin typeface="Calibri" pitchFamily="34" charset="0"/>
                <a:ea typeface="Calibri" pitchFamily="34" charset="-122"/>
                <a:cs typeface="Calibri" pitchFamily="34" charset="-120"/>
              </a:rPr>
              <a:t>Installation of survey monuments to track surface movement, displacement and settlement of TSF in real time.</a:t>
            </a:r>
            <a:endParaRPr lang="en-US" sz="2000" dirty="0">
              <a:solidFill>
                <a:schemeClr val="bg1"/>
              </a:solidFill>
            </a:endParaRPr>
          </a:p>
        </p:txBody>
      </p:sp>
      <p:pic>
        <p:nvPicPr>
          <p:cNvPr id="4" name="Picture 3">
            <a:extLst>
              <a:ext uri="{FF2B5EF4-FFF2-40B4-BE49-F238E27FC236}">
                <a16:creationId xmlns:a16="http://schemas.microsoft.com/office/drawing/2014/main" id="{DE40D215-0FF0-019E-D2FA-5713601CE93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255491" y="2062163"/>
            <a:ext cx="5715000" cy="4114800"/>
          </a:xfrm>
          <a:prstGeom prst="rect">
            <a:avLst/>
          </a:prstGeom>
        </p:spPr>
      </p:pic>
    </p:spTree>
    <p:extLst>
      <p:ext uri="{BB962C8B-B14F-4D97-AF65-F5344CB8AC3E}">
        <p14:creationId xmlns:p14="http://schemas.microsoft.com/office/powerpoint/2010/main" val="39958739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C52AFD5A-4082-4BE4-96FC-4C4C6076294A}" type="slidenum">
              <a:rPr lang="en-US" smtClean="0"/>
              <a:pPr/>
              <a:t>12</a:t>
            </a:fld>
            <a:endParaRPr lang="en-US"/>
          </a:p>
        </p:txBody>
      </p:sp>
      <p:sp>
        <p:nvSpPr>
          <p:cNvPr id="7" name="Text 1"/>
          <p:cNvSpPr/>
          <p:nvPr/>
        </p:nvSpPr>
        <p:spPr>
          <a:xfrm>
            <a:off x="808523" y="649224"/>
            <a:ext cx="10809170" cy="594360"/>
          </a:xfrm>
          <a:prstGeom prst="rect">
            <a:avLst/>
          </a:prstGeom>
          <a:noFill/>
          <a:ln/>
        </p:spPr>
        <p:txBody>
          <a:bodyPr wrap="square" lIns="0" tIns="0" rIns="0" bIns="0" rtlCol="0" anchor="b"/>
          <a:lstStyle/>
          <a:p>
            <a:pPr marL="0" indent="0">
              <a:buNone/>
            </a:pPr>
            <a:r>
              <a:rPr lang="en-US" sz="3200" b="1" dirty="0">
                <a:solidFill>
                  <a:schemeClr val="accent2"/>
                </a:solidFill>
                <a:latin typeface="Times New Roman" panose="02020603050405020304" pitchFamily="18" charset="0"/>
                <a:ea typeface="Cambria" pitchFamily="34" charset="-122"/>
                <a:cs typeface="Times New Roman" panose="02020603050405020304" pitchFamily="18" charset="0"/>
              </a:rPr>
              <a:t>ENVIRONMENTAL &amp; REGULATORY REQUIREMENTS</a:t>
            </a:r>
            <a:endParaRPr lang="en-US" sz="3200" dirty="0">
              <a:solidFill>
                <a:schemeClr val="accent2"/>
              </a:solidFill>
              <a:latin typeface="Times New Roman" panose="02020603050405020304" pitchFamily="18" charset="0"/>
              <a:cs typeface="Times New Roman" panose="02020603050405020304" pitchFamily="18" charset="0"/>
            </a:endParaRPr>
          </a:p>
        </p:txBody>
      </p:sp>
      <p:sp>
        <p:nvSpPr>
          <p:cNvPr id="13" name="Text 7"/>
          <p:cNvSpPr/>
          <p:nvPr/>
        </p:nvSpPr>
        <p:spPr>
          <a:xfrm>
            <a:off x="1371599" y="1746504"/>
            <a:ext cx="9408695" cy="640080"/>
          </a:xfrm>
          <a:prstGeom prst="rect">
            <a:avLst/>
          </a:prstGeom>
          <a:noFill/>
          <a:ln/>
        </p:spPr>
        <p:txBody>
          <a:bodyPr wrap="square" lIns="0" tIns="0" rIns="0" bIns="0" rtlCol="0" anchor="ctr"/>
          <a:lstStyle/>
          <a:p>
            <a:pPr marL="342900" indent="-342900">
              <a:buFont typeface="Wingdings" panose="05000000000000000000" pitchFamily="2" charset="2"/>
              <a:buChar char="v"/>
            </a:pPr>
            <a:r>
              <a:rPr lang="en-US" sz="2000" b="1" dirty="0">
                <a:solidFill>
                  <a:srgbClr val="009999"/>
                </a:solidFill>
                <a:latin typeface="Cambria" pitchFamily="34" charset="0"/>
                <a:ea typeface="Cambria" pitchFamily="34" charset="-122"/>
                <a:cs typeface="Cambria" pitchFamily="34" charset="-120"/>
              </a:rPr>
              <a:t>Environmental &amp; Social Impact Assessment: </a:t>
            </a:r>
          </a:p>
          <a:p>
            <a:r>
              <a:rPr lang="en-US" dirty="0">
                <a:solidFill>
                  <a:schemeClr val="bg1"/>
                </a:solidFill>
                <a:latin typeface="Calibri" pitchFamily="34" charset="0"/>
                <a:ea typeface="Calibri" pitchFamily="34" charset="-122"/>
                <a:cs typeface="Calibri" pitchFamily="34" charset="-120"/>
              </a:rPr>
              <a:t>Required before construction; sets baseline conditions and monitoring commitments.</a:t>
            </a:r>
            <a:endParaRPr lang="en-US" dirty="0">
              <a:solidFill>
                <a:schemeClr val="bg1"/>
              </a:solidFill>
            </a:endParaRPr>
          </a:p>
          <a:p>
            <a:pPr marL="0" indent="0">
              <a:buNone/>
            </a:pPr>
            <a:endParaRPr lang="en-US" sz="1300" dirty="0">
              <a:solidFill>
                <a:schemeClr val="bg1"/>
              </a:solidFill>
            </a:endParaRPr>
          </a:p>
        </p:txBody>
      </p:sp>
      <p:sp>
        <p:nvSpPr>
          <p:cNvPr id="18" name="Text 12"/>
          <p:cNvSpPr/>
          <p:nvPr/>
        </p:nvSpPr>
        <p:spPr>
          <a:xfrm>
            <a:off x="1371599" y="2615184"/>
            <a:ext cx="8850429" cy="640080"/>
          </a:xfrm>
          <a:prstGeom prst="rect">
            <a:avLst/>
          </a:prstGeom>
          <a:noFill/>
          <a:ln/>
        </p:spPr>
        <p:txBody>
          <a:bodyPr wrap="square" lIns="0" tIns="0" rIns="0" bIns="0" rtlCol="0" anchor="ctr"/>
          <a:lstStyle/>
          <a:p>
            <a:pPr marL="342900" indent="-342900">
              <a:buFont typeface="Wingdings" panose="05000000000000000000" pitchFamily="2" charset="2"/>
              <a:buChar char="v"/>
            </a:pPr>
            <a:r>
              <a:rPr lang="en-US" sz="2000" b="1" dirty="0">
                <a:solidFill>
                  <a:srgbClr val="009999"/>
                </a:solidFill>
                <a:latin typeface="Cambria" pitchFamily="34" charset="0"/>
                <a:ea typeface="Cambria" pitchFamily="34" charset="-122"/>
                <a:cs typeface="Cambria" pitchFamily="34" charset="-120"/>
              </a:rPr>
              <a:t>Global Industry Standard on Tailings Management (GISTM)</a:t>
            </a:r>
          </a:p>
          <a:p>
            <a:r>
              <a:rPr lang="en-US" dirty="0">
                <a:solidFill>
                  <a:schemeClr val="bg1"/>
                </a:solidFill>
                <a:latin typeface="Calibri" pitchFamily="34" charset="0"/>
                <a:ea typeface="Calibri" pitchFamily="34" charset="-122"/>
                <a:cs typeface="Calibri" pitchFamily="34" charset="-120"/>
              </a:rPr>
              <a:t>Consequence-based requirements co-developed by ICMM, UNEP and PRI after Brumadinho.</a:t>
            </a:r>
            <a:endParaRPr lang="en-US" dirty="0">
              <a:solidFill>
                <a:schemeClr val="bg1"/>
              </a:solidFill>
            </a:endParaRPr>
          </a:p>
          <a:p>
            <a:pPr marL="0" indent="0">
              <a:buNone/>
            </a:pPr>
            <a:endParaRPr lang="en-US" sz="1300" dirty="0">
              <a:solidFill>
                <a:schemeClr val="bg1"/>
              </a:solidFill>
            </a:endParaRPr>
          </a:p>
        </p:txBody>
      </p:sp>
      <p:sp>
        <p:nvSpPr>
          <p:cNvPr id="23" name="Text 17"/>
          <p:cNvSpPr/>
          <p:nvPr/>
        </p:nvSpPr>
        <p:spPr>
          <a:xfrm>
            <a:off x="1371600" y="3483864"/>
            <a:ext cx="8850428" cy="640080"/>
          </a:xfrm>
          <a:prstGeom prst="rect">
            <a:avLst/>
          </a:prstGeom>
          <a:noFill/>
          <a:ln/>
        </p:spPr>
        <p:txBody>
          <a:bodyPr wrap="square" lIns="0" tIns="0" rIns="0" bIns="0" rtlCol="0" anchor="ctr"/>
          <a:lstStyle/>
          <a:p>
            <a:pPr marL="342900" indent="-342900">
              <a:buFont typeface="Wingdings" panose="05000000000000000000" pitchFamily="2" charset="2"/>
              <a:buChar char="v"/>
            </a:pPr>
            <a:r>
              <a:rPr lang="en-US" sz="2000" b="1" dirty="0">
                <a:solidFill>
                  <a:srgbClr val="009999"/>
                </a:solidFill>
                <a:latin typeface="Cambria" pitchFamily="34" charset="0"/>
                <a:ea typeface="Cambria" pitchFamily="34" charset="-122"/>
                <a:cs typeface="Cambria" pitchFamily="34" charset="-120"/>
              </a:rPr>
              <a:t>National permits &amp; water discharge limits</a:t>
            </a:r>
          </a:p>
          <a:p>
            <a:r>
              <a:rPr lang="en-US" dirty="0">
                <a:solidFill>
                  <a:schemeClr val="bg1"/>
                </a:solidFill>
                <a:latin typeface="Calibri" pitchFamily="34" charset="0"/>
                <a:ea typeface="Calibri" pitchFamily="34" charset="-122"/>
                <a:cs typeface="Calibri" pitchFamily="34" charset="-120"/>
              </a:rPr>
              <a:t>Mining and environmental agencies license construction, operation and closure.</a:t>
            </a:r>
            <a:endParaRPr lang="en-US" dirty="0">
              <a:solidFill>
                <a:schemeClr val="bg1"/>
              </a:solidFill>
            </a:endParaRPr>
          </a:p>
          <a:p>
            <a:pPr marL="0" indent="0">
              <a:buNone/>
            </a:pPr>
            <a:endParaRPr lang="en-US" sz="1300" dirty="0">
              <a:solidFill>
                <a:schemeClr val="bg1"/>
              </a:solidFill>
            </a:endParaRPr>
          </a:p>
        </p:txBody>
      </p:sp>
      <p:sp>
        <p:nvSpPr>
          <p:cNvPr id="28" name="Text 22"/>
          <p:cNvSpPr/>
          <p:nvPr/>
        </p:nvSpPr>
        <p:spPr>
          <a:xfrm>
            <a:off x="1371600" y="4352544"/>
            <a:ext cx="9206564" cy="640080"/>
          </a:xfrm>
          <a:prstGeom prst="rect">
            <a:avLst/>
          </a:prstGeom>
          <a:noFill/>
          <a:ln/>
        </p:spPr>
        <p:txBody>
          <a:bodyPr wrap="square" lIns="0" tIns="0" rIns="0" bIns="0" rtlCol="0" anchor="ctr"/>
          <a:lstStyle/>
          <a:p>
            <a:pPr marL="342900" indent="-342900">
              <a:buFont typeface="Wingdings" panose="05000000000000000000" pitchFamily="2" charset="2"/>
              <a:buChar char="v"/>
            </a:pPr>
            <a:r>
              <a:rPr lang="en-US" sz="2000" b="1" dirty="0">
                <a:solidFill>
                  <a:srgbClr val="009999"/>
                </a:solidFill>
                <a:latin typeface="Cambria" pitchFamily="34" charset="0"/>
                <a:ea typeface="Cambria" pitchFamily="34" charset="-122"/>
                <a:cs typeface="Cambria" pitchFamily="34" charset="-120"/>
              </a:rPr>
              <a:t>Community consultation</a:t>
            </a:r>
          </a:p>
          <a:p>
            <a:r>
              <a:rPr lang="en-US" dirty="0">
                <a:solidFill>
                  <a:schemeClr val="bg1"/>
                </a:solidFill>
                <a:latin typeface="Calibri" pitchFamily="34" charset="0"/>
                <a:ea typeface="Calibri" pitchFamily="34" charset="-122"/>
                <a:cs typeface="Calibri" pitchFamily="34" charset="-120"/>
              </a:rPr>
              <a:t>Engagement with, and consent from, communities in the potential inundation footprint.</a:t>
            </a:r>
            <a:endParaRPr lang="en-US" dirty="0">
              <a:solidFill>
                <a:schemeClr val="bg1"/>
              </a:solidFill>
            </a:endParaRPr>
          </a:p>
          <a:p>
            <a:pPr marL="0" indent="0">
              <a:buNone/>
            </a:pPr>
            <a:endParaRPr lang="en-US" dirty="0">
              <a:solidFill>
                <a:schemeClr val="bg1"/>
              </a:solidFill>
            </a:endParaRPr>
          </a:p>
        </p:txBody>
      </p:sp>
      <p:sp>
        <p:nvSpPr>
          <p:cNvPr id="33" name="Text 27"/>
          <p:cNvSpPr/>
          <p:nvPr/>
        </p:nvSpPr>
        <p:spPr>
          <a:xfrm>
            <a:off x="1371600" y="5221224"/>
            <a:ext cx="9206564" cy="640080"/>
          </a:xfrm>
          <a:prstGeom prst="rect">
            <a:avLst/>
          </a:prstGeom>
          <a:noFill/>
          <a:ln/>
        </p:spPr>
        <p:txBody>
          <a:bodyPr wrap="square" lIns="0" tIns="0" rIns="0" bIns="0" rtlCol="0" anchor="ctr"/>
          <a:lstStyle/>
          <a:p>
            <a:pPr marL="342900" indent="-342900">
              <a:buFont typeface="Wingdings" panose="05000000000000000000" pitchFamily="2" charset="2"/>
              <a:buChar char="v"/>
            </a:pPr>
            <a:r>
              <a:rPr lang="en-US" sz="2000" b="1" dirty="0">
                <a:solidFill>
                  <a:srgbClr val="009999"/>
                </a:solidFill>
                <a:latin typeface="Cambria" pitchFamily="34" charset="0"/>
                <a:ea typeface="Cambria" pitchFamily="34" charset="-122"/>
                <a:cs typeface="Cambria" pitchFamily="34" charset="-120"/>
              </a:rPr>
              <a:t>Independent Tailings Review Board</a:t>
            </a:r>
          </a:p>
          <a:p>
            <a:r>
              <a:rPr lang="en-US" dirty="0">
                <a:solidFill>
                  <a:schemeClr val="bg1"/>
                </a:solidFill>
                <a:latin typeface="Calibri" pitchFamily="34" charset="0"/>
                <a:ea typeface="Calibri" pitchFamily="34" charset="-122"/>
                <a:cs typeface="Calibri" pitchFamily="34" charset="-120"/>
              </a:rPr>
              <a:t>External experts review design, construction and safety independent of the operator.</a:t>
            </a:r>
            <a:endParaRPr lang="en-US" dirty="0">
              <a:solidFill>
                <a:schemeClr val="bg1"/>
              </a:solidFill>
            </a:endParaRPr>
          </a:p>
          <a:p>
            <a:pPr marL="0" indent="0">
              <a:buNone/>
            </a:pPr>
            <a:endParaRPr lang="en-US" sz="1300" dirty="0">
              <a:solidFill>
                <a:schemeClr val="bg1"/>
              </a:solidFill>
            </a:endParaRPr>
          </a:p>
        </p:txBody>
      </p:sp>
      <p:sp>
        <p:nvSpPr>
          <p:cNvPr id="35" name="Text 29"/>
          <p:cNvSpPr/>
          <p:nvPr/>
        </p:nvSpPr>
        <p:spPr>
          <a:xfrm>
            <a:off x="11475720" y="6446520"/>
            <a:ext cx="548640" cy="320040"/>
          </a:xfrm>
          <a:prstGeom prst="rect">
            <a:avLst/>
          </a:prstGeom>
          <a:noFill/>
          <a:ln/>
        </p:spPr>
        <p:txBody>
          <a:bodyPr wrap="square" lIns="0" tIns="0" rIns="0" bIns="0" rtlCol="0" anchor="ctr"/>
          <a:lstStyle/>
          <a:p>
            <a:pPr marL="0" indent="0" algn="r">
              <a:buNone/>
            </a:pPr>
            <a:r>
              <a:rPr lang="en-US" sz="1000" dirty="0">
                <a:solidFill>
                  <a:srgbClr val="6E6459"/>
                </a:solidFill>
                <a:latin typeface="Calibri" pitchFamily="34" charset="0"/>
                <a:ea typeface="Calibri" pitchFamily="34" charset="-122"/>
                <a:cs typeface="Calibri" pitchFamily="34" charset="-120"/>
              </a:rPr>
              <a:t>07</a:t>
            </a:r>
            <a:endParaRPr lang="en-US" sz="1000" dirty="0"/>
          </a:p>
        </p:txBody>
      </p:sp>
    </p:spTree>
    <p:extLst>
      <p:ext uri="{BB962C8B-B14F-4D97-AF65-F5344CB8AC3E}">
        <p14:creationId xmlns:p14="http://schemas.microsoft.com/office/powerpoint/2010/main" val="23327638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C52AFD5A-4082-4BE4-96FC-4C4C6076294A}" type="slidenum">
              <a:rPr lang="en-US" smtClean="0"/>
              <a:pPr/>
              <a:t>13</a:t>
            </a:fld>
            <a:endParaRPr lang="en-US"/>
          </a:p>
        </p:txBody>
      </p:sp>
      <p:sp>
        <p:nvSpPr>
          <p:cNvPr id="7" name="Text 1"/>
          <p:cNvSpPr/>
          <p:nvPr/>
        </p:nvSpPr>
        <p:spPr>
          <a:xfrm>
            <a:off x="3105349" y="702645"/>
            <a:ext cx="6442912" cy="594360"/>
          </a:xfrm>
          <a:prstGeom prst="rect">
            <a:avLst/>
          </a:prstGeom>
          <a:noFill/>
          <a:ln/>
        </p:spPr>
        <p:txBody>
          <a:bodyPr wrap="square" lIns="0" tIns="0" rIns="0" bIns="0" rtlCol="0" anchor="b"/>
          <a:lstStyle/>
          <a:p>
            <a:pPr marL="0" indent="0" algn="ctr">
              <a:buNone/>
            </a:pPr>
            <a:r>
              <a:rPr lang="en-US" sz="3200" b="1" dirty="0">
                <a:solidFill>
                  <a:schemeClr val="accent2"/>
                </a:solidFill>
                <a:latin typeface="Cambria" pitchFamily="34" charset="0"/>
                <a:ea typeface="Cambria" pitchFamily="34" charset="-122"/>
                <a:cs typeface="Cambria" pitchFamily="34" charset="-120"/>
              </a:rPr>
              <a:t>CLOSURE &amp; REHABILITATION</a:t>
            </a:r>
            <a:endParaRPr lang="en-US" sz="3200" dirty="0">
              <a:solidFill>
                <a:schemeClr val="accent2"/>
              </a:solidFill>
            </a:endParaRPr>
          </a:p>
        </p:txBody>
      </p:sp>
      <p:sp>
        <p:nvSpPr>
          <p:cNvPr id="12" name="Text 6"/>
          <p:cNvSpPr/>
          <p:nvPr/>
        </p:nvSpPr>
        <p:spPr>
          <a:xfrm>
            <a:off x="1142999" y="1348741"/>
            <a:ext cx="10210801" cy="970947"/>
          </a:xfrm>
          <a:prstGeom prst="rect">
            <a:avLst/>
          </a:prstGeom>
          <a:noFill/>
          <a:ln/>
        </p:spPr>
        <p:txBody>
          <a:bodyPr wrap="square" lIns="0" tIns="0" rIns="0" bIns="0" rtlCol="0" anchor="ctr"/>
          <a:lstStyle/>
          <a:p>
            <a:pPr marL="342900" indent="-342900">
              <a:buFont typeface="Wingdings" panose="05000000000000000000" pitchFamily="2" charset="2"/>
              <a:buChar char="v"/>
            </a:pPr>
            <a:r>
              <a:rPr lang="en-US" sz="2000" b="1" dirty="0">
                <a:solidFill>
                  <a:srgbClr val="009999"/>
                </a:solidFill>
                <a:latin typeface="Cambria" pitchFamily="34" charset="0"/>
                <a:ea typeface="Cambria" pitchFamily="34" charset="-122"/>
                <a:cs typeface="Cambria" pitchFamily="34" charset="-120"/>
              </a:rPr>
              <a:t>Progressive Closure: </a:t>
            </a:r>
            <a:r>
              <a:rPr lang="en-US" sz="2000" dirty="0">
                <a:solidFill>
                  <a:schemeClr val="bg1"/>
                </a:solidFill>
                <a:latin typeface="Calibri" pitchFamily="34" charset="0"/>
                <a:ea typeface="Calibri" pitchFamily="34" charset="-122"/>
                <a:cs typeface="Calibri" pitchFamily="34" charset="-120"/>
              </a:rPr>
              <a:t>Capping and re-vegetating completed sections while the facility is still operating, rather than waiting until the end.</a:t>
            </a:r>
            <a:endParaRPr lang="en-US" sz="2000" dirty="0">
              <a:solidFill>
                <a:schemeClr val="bg1"/>
              </a:solidFill>
            </a:endParaRPr>
          </a:p>
          <a:p>
            <a:pPr marL="0" indent="0">
              <a:buNone/>
            </a:pPr>
            <a:endParaRPr lang="en-US" sz="2000" dirty="0">
              <a:solidFill>
                <a:schemeClr val="bg1"/>
              </a:solidFill>
            </a:endParaRPr>
          </a:p>
        </p:txBody>
      </p:sp>
      <p:sp>
        <p:nvSpPr>
          <p:cNvPr id="16" name="Text 10"/>
          <p:cNvSpPr/>
          <p:nvPr/>
        </p:nvSpPr>
        <p:spPr>
          <a:xfrm>
            <a:off x="1142999" y="2423160"/>
            <a:ext cx="10051181" cy="502920"/>
          </a:xfrm>
          <a:prstGeom prst="rect">
            <a:avLst/>
          </a:prstGeom>
          <a:noFill/>
          <a:ln/>
        </p:spPr>
        <p:txBody>
          <a:bodyPr wrap="square" lIns="0" tIns="0" rIns="0" bIns="0" rtlCol="0" anchor="ctr"/>
          <a:lstStyle/>
          <a:p>
            <a:pPr marL="342900" indent="-342900">
              <a:buFont typeface="Wingdings" panose="05000000000000000000" pitchFamily="2" charset="2"/>
              <a:buChar char="v"/>
            </a:pPr>
            <a:r>
              <a:rPr lang="en-US" sz="2000" b="1" dirty="0">
                <a:solidFill>
                  <a:srgbClr val="009999"/>
                </a:solidFill>
                <a:latin typeface="Cambria" pitchFamily="34" charset="0"/>
                <a:ea typeface="Cambria" pitchFamily="34" charset="-122"/>
                <a:cs typeface="Cambria" pitchFamily="34" charset="-120"/>
              </a:rPr>
              <a:t>Cover &amp; Capping Systems: </a:t>
            </a:r>
            <a:r>
              <a:rPr lang="en-US" sz="2000" dirty="0">
                <a:solidFill>
                  <a:schemeClr val="bg1"/>
                </a:solidFill>
                <a:latin typeface="Calibri" pitchFamily="34" charset="0"/>
                <a:ea typeface="Calibri" pitchFamily="34" charset="-122"/>
                <a:cs typeface="Calibri" pitchFamily="34" charset="-120"/>
              </a:rPr>
              <a:t>Erosion-resistant covers limit rainfall infiltration, oxidation and acid rock drainage from sulphide tailings.</a:t>
            </a:r>
            <a:endParaRPr lang="en-US" sz="2000" dirty="0">
              <a:solidFill>
                <a:schemeClr val="bg1"/>
              </a:solidFill>
            </a:endParaRPr>
          </a:p>
          <a:p>
            <a:pPr marL="0" indent="0">
              <a:buNone/>
            </a:pPr>
            <a:endParaRPr lang="en-US" sz="1350" dirty="0">
              <a:solidFill>
                <a:schemeClr val="bg1"/>
              </a:solidFill>
            </a:endParaRPr>
          </a:p>
        </p:txBody>
      </p:sp>
      <p:sp>
        <p:nvSpPr>
          <p:cNvPr id="20" name="Text 14"/>
          <p:cNvSpPr/>
          <p:nvPr/>
        </p:nvSpPr>
        <p:spPr>
          <a:xfrm>
            <a:off x="1143000" y="3200400"/>
            <a:ext cx="9935678" cy="502920"/>
          </a:xfrm>
          <a:prstGeom prst="rect">
            <a:avLst/>
          </a:prstGeom>
          <a:noFill/>
          <a:ln/>
        </p:spPr>
        <p:txBody>
          <a:bodyPr wrap="square" lIns="0" tIns="0" rIns="0" bIns="0" rtlCol="0" anchor="ctr"/>
          <a:lstStyle/>
          <a:p>
            <a:pPr marL="342900" indent="-342900">
              <a:buFont typeface="Wingdings" panose="05000000000000000000" pitchFamily="2" charset="2"/>
              <a:buChar char="v"/>
            </a:pPr>
            <a:r>
              <a:rPr lang="en-US" sz="2000" b="1" dirty="0">
                <a:solidFill>
                  <a:srgbClr val="009999"/>
                </a:solidFill>
                <a:latin typeface="Cambria" pitchFamily="34" charset="0"/>
                <a:ea typeface="Cambria" pitchFamily="34" charset="-122"/>
                <a:cs typeface="Cambria" pitchFamily="34" charset="-120"/>
              </a:rPr>
              <a:t>Re-vegetation &amp; Land Use: </a:t>
            </a:r>
            <a:r>
              <a:rPr lang="en-US" sz="2000" dirty="0">
                <a:solidFill>
                  <a:schemeClr val="bg1"/>
                </a:solidFill>
                <a:latin typeface="Calibri" pitchFamily="34" charset="0"/>
                <a:ea typeface="Calibri" pitchFamily="34" charset="-122"/>
                <a:cs typeface="Calibri" pitchFamily="34" charset="-120"/>
              </a:rPr>
              <a:t>Native species and agreed post-mining land use restore ecological and community value.</a:t>
            </a:r>
            <a:endParaRPr lang="en-US" sz="2000" dirty="0">
              <a:solidFill>
                <a:schemeClr val="bg1"/>
              </a:solidFill>
            </a:endParaRPr>
          </a:p>
          <a:p>
            <a:pPr marL="0" indent="0">
              <a:buNone/>
            </a:pPr>
            <a:endParaRPr lang="en-US" sz="1350" dirty="0">
              <a:solidFill>
                <a:schemeClr val="bg1"/>
              </a:solidFill>
            </a:endParaRPr>
          </a:p>
        </p:txBody>
      </p:sp>
      <p:sp>
        <p:nvSpPr>
          <p:cNvPr id="24" name="Text 18"/>
          <p:cNvSpPr/>
          <p:nvPr/>
        </p:nvSpPr>
        <p:spPr>
          <a:xfrm>
            <a:off x="1143000" y="3977640"/>
            <a:ext cx="10051180" cy="502920"/>
          </a:xfrm>
          <a:prstGeom prst="rect">
            <a:avLst/>
          </a:prstGeom>
          <a:noFill/>
          <a:ln/>
        </p:spPr>
        <p:txBody>
          <a:bodyPr wrap="square" lIns="0" tIns="0" rIns="0" bIns="0" rtlCol="0" anchor="ctr"/>
          <a:lstStyle/>
          <a:p>
            <a:pPr marL="342900" indent="-342900">
              <a:buFont typeface="Wingdings" panose="05000000000000000000" pitchFamily="2" charset="2"/>
              <a:buChar char="v"/>
            </a:pPr>
            <a:r>
              <a:rPr lang="en-US" sz="2000" b="1" dirty="0">
                <a:solidFill>
                  <a:srgbClr val="009999"/>
                </a:solidFill>
                <a:latin typeface="Cambria" pitchFamily="34" charset="0"/>
                <a:ea typeface="Cambria" pitchFamily="34" charset="-122"/>
                <a:cs typeface="Cambria" pitchFamily="34" charset="-120"/>
              </a:rPr>
              <a:t>Long-Term Monitoring: </a:t>
            </a:r>
            <a:r>
              <a:rPr lang="en-US" sz="2000" dirty="0">
                <a:solidFill>
                  <a:schemeClr val="bg1"/>
                </a:solidFill>
                <a:latin typeface="Calibri" pitchFamily="34" charset="0"/>
                <a:ea typeface="Calibri" pitchFamily="34" charset="-122"/>
                <a:cs typeface="Calibri" pitchFamily="34" charset="-120"/>
              </a:rPr>
              <a:t>Piezometers and surface monuments continue reading after closure until 'walk-away' stability is demonstrated.</a:t>
            </a:r>
            <a:endParaRPr lang="en-US" sz="2000" dirty="0">
              <a:solidFill>
                <a:schemeClr val="bg1"/>
              </a:solidFill>
            </a:endParaRPr>
          </a:p>
          <a:p>
            <a:pPr marL="0" indent="0">
              <a:buNone/>
            </a:pPr>
            <a:endParaRPr lang="en-US" sz="1350" dirty="0">
              <a:solidFill>
                <a:schemeClr val="bg1"/>
              </a:solidFill>
            </a:endParaRPr>
          </a:p>
        </p:txBody>
      </p:sp>
      <p:sp>
        <p:nvSpPr>
          <p:cNvPr id="28" name="Text 22"/>
          <p:cNvSpPr/>
          <p:nvPr/>
        </p:nvSpPr>
        <p:spPr>
          <a:xfrm>
            <a:off x="1142999" y="4754880"/>
            <a:ext cx="9165657" cy="502920"/>
          </a:xfrm>
          <a:prstGeom prst="rect">
            <a:avLst/>
          </a:prstGeom>
          <a:noFill/>
          <a:ln/>
        </p:spPr>
        <p:txBody>
          <a:bodyPr wrap="square" lIns="0" tIns="0" rIns="0" bIns="0" rtlCol="0" anchor="ctr"/>
          <a:lstStyle/>
          <a:p>
            <a:pPr marL="342900" indent="-342900">
              <a:buFont typeface="Wingdings" panose="05000000000000000000" pitchFamily="2" charset="2"/>
              <a:buChar char="v"/>
            </a:pPr>
            <a:r>
              <a:rPr lang="en-US" sz="2000" b="1" dirty="0">
                <a:solidFill>
                  <a:srgbClr val="009999"/>
                </a:solidFill>
                <a:latin typeface="Cambria" pitchFamily="34" charset="0"/>
                <a:ea typeface="Cambria" pitchFamily="34" charset="-122"/>
                <a:cs typeface="Cambria" pitchFamily="34" charset="-120"/>
              </a:rPr>
              <a:t>Financial Provision: </a:t>
            </a:r>
            <a:r>
              <a:rPr lang="en-US" sz="2000" dirty="0">
                <a:solidFill>
                  <a:schemeClr val="bg1"/>
                </a:solidFill>
                <a:latin typeface="Calibri" pitchFamily="34" charset="0"/>
                <a:ea typeface="Calibri" pitchFamily="34" charset="-122"/>
                <a:cs typeface="Calibri" pitchFamily="34" charset="-120"/>
              </a:rPr>
              <a:t>A closure bond or trust fund guarantees care continues even if the operator exits.</a:t>
            </a:r>
            <a:endParaRPr lang="en-US" sz="2000" dirty="0">
              <a:solidFill>
                <a:schemeClr val="bg1"/>
              </a:solidFill>
            </a:endParaRPr>
          </a:p>
          <a:p>
            <a:pPr marL="0" indent="0">
              <a:buNone/>
            </a:pPr>
            <a:endParaRPr lang="en-US" sz="1350" dirty="0">
              <a:solidFill>
                <a:schemeClr val="bg1"/>
              </a:solidFill>
            </a:endParaRPr>
          </a:p>
        </p:txBody>
      </p:sp>
      <p:sp>
        <p:nvSpPr>
          <p:cNvPr id="30" name="Text 24"/>
          <p:cNvSpPr/>
          <p:nvPr/>
        </p:nvSpPr>
        <p:spPr>
          <a:xfrm>
            <a:off x="11475720" y="6446520"/>
            <a:ext cx="548640" cy="320040"/>
          </a:xfrm>
          <a:prstGeom prst="rect">
            <a:avLst/>
          </a:prstGeom>
          <a:noFill/>
          <a:ln/>
        </p:spPr>
        <p:txBody>
          <a:bodyPr wrap="square" lIns="0" tIns="0" rIns="0" bIns="0" rtlCol="0" anchor="ctr"/>
          <a:lstStyle/>
          <a:p>
            <a:pPr marL="0" indent="0" algn="r">
              <a:buNone/>
            </a:pPr>
            <a:r>
              <a:rPr lang="en-US" sz="1000" dirty="0">
                <a:solidFill>
                  <a:srgbClr val="6E6459"/>
                </a:solidFill>
                <a:latin typeface="Calibri" pitchFamily="34" charset="0"/>
                <a:ea typeface="Calibri" pitchFamily="34" charset="-122"/>
                <a:cs typeface="Calibri" pitchFamily="34" charset="-120"/>
              </a:rPr>
              <a:t>09</a:t>
            </a:r>
            <a:endParaRPr lang="en-US" sz="1000" dirty="0"/>
          </a:p>
        </p:txBody>
      </p:sp>
    </p:spTree>
    <p:extLst>
      <p:ext uri="{BB962C8B-B14F-4D97-AF65-F5344CB8AC3E}">
        <p14:creationId xmlns:p14="http://schemas.microsoft.com/office/powerpoint/2010/main" val="40216484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C52AFD5A-4082-4BE4-96FC-4C4C6076294A}" type="slidenum">
              <a:rPr lang="en-US" smtClean="0"/>
              <a:pPr/>
              <a:t>14</a:t>
            </a:fld>
            <a:endParaRPr lang="en-US"/>
          </a:p>
        </p:txBody>
      </p:sp>
      <p:sp>
        <p:nvSpPr>
          <p:cNvPr id="7" name="Text 1"/>
          <p:cNvSpPr/>
          <p:nvPr/>
        </p:nvSpPr>
        <p:spPr>
          <a:xfrm>
            <a:off x="1992429" y="775970"/>
            <a:ext cx="8855243" cy="418699"/>
          </a:xfrm>
          <a:prstGeom prst="rect">
            <a:avLst/>
          </a:prstGeom>
          <a:noFill/>
          <a:ln/>
        </p:spPr>
        <p:txBody>
          <a:bodyPr wrap="square" lIns="0" tIns="0" rIns="0" bIns="0" rtlCol="0" anchor="b"/>
          <a:lstStyle/>
          <a:p>
            <a:pPr marL="0" indent="0" algn="ctr">
              <a:buNone/>
            </a:pPr>
            <a:r>
              <a:rPr lang="en-US" sz="2800" b="1" dirty="0">
                <a:solidFill>
                  <a:schemeClr val="accent2"/>
                </a:solidFill>
                <a:latin typeface="Cambria" pitchFamily="34" charset="0"/>
                <a:ea typeface="Cambria" pitchFamily="34" charset="-122"/>
                <a:cs typeface="Cambria" pitchFamily="34" charset="-120"/>
              </a:rPr>
              <a:t>CASE STUDY IN BRUMADINHO DAM I, BRAZIL</a:t>
            </a:r>
            <a:endParaRPr lang="en-US" sz="2800" dirty="0">
              <a:solidFill>
                <a:schemeClr val="accent2"/>
              </a:solidFill>
            </a:endParaRPr>
          </a:p>
        </p:txBody>
      </p:sp>
      <p:sp>
        <p:nvSpPr>
          <p:cNvPr id="10" name="Text 4"/>
          <p:cNvSpPr/>
          <p:nvPr/>
        </p:nvSpPr>
        <p:spPr>
          <a:xfrm>
            <a:off x="982980" y="1600200"/>
            <a:ext cx="2286000" cy="640080"/>
          </a:xfrm>
          <a:prstGeom prst="rect">
            <a:avLst/>
          </a:prstGeom>
          <a:noFill/>
          <a:ln/>
        </p:spPr>
        <p:txBody>
          <a:bodyPr wrap="square" lIns="0" tIns="0" rIns="0" bIns="0" rtlCol="0" anchor="ctr"/>
          <a:lstStyle/>
          <a:p>
            <a:pPr marL="0" indent="0" algn="ctr">
              <a:buNone/>
            </a:pPr>
            <a:r>
              <a:rPr lang="en-US" sz="2600" b="1" dirty="0">
                <a:solidFill>
                  <a:srgbClr val="009999"/>
                </a:solidFill>
                <a:latin typeface="Cambria" pitchFamily="34" charset="0"/>
                <a:ea typeface="Cambria" pitchFamily="34" charset="-122"/>
                <a:cs typeface="Cambria" pitchFamily="34" charset="-120"/>
              </a:rPr>
              <a:t>270</a:t>
            </a:r>
            <a:endParaRPr lang="en-US" sz="2600" dirty="0">
              <a:solidFill>
                <a:srgbClr val="009999"/>
              </a:solidFill>
            </a:endParaRPr>
          </a:p>
        </p:txBody>
      </p:sp>
      <p:sp>
        <p:nvSpPr>
          <p:cNvPr id="11" name="Text 5"/>
          <p:cNvSpPr/>
          <p:nvPr/>
        </p:nvSpPr>
        <p:spPr>
          <a:xfrm>
            <a:off x="1116530" y="2240280"/>
            <a:ext cx="2083869" cy="365760"/>
          </a:xfrm>
          <a:prstGeom prst="rect">
            <a:avLst/>
          </a:prstGeom>
          <a:noFill/>
          <a:ln/>
        </p:spPr>
        <p:txBody>
          <a:bodyPr wrap="square" lIns="0" tIns="0" rIns="0" bIns="0" rtlCol="0" anchor="ctr"/>
          <a:lstStyle/>
          <a:p>
            <a:pPr marL="0" indent="0" algn="ctr">
              <a:buNone/>
            </a:pPr>
            <a:r>
              <a:rPr lang="en-US" dirty="0">
                <a:solidFill>
                  <a:schemeClr val="accent2"/>
                </a:solidFill>
                <a:latin typeface="Calibri" pitchFamily="34" charset="0"/>
                <a:ea typeface="Calibri" pitchFamily="34" charset="-122"/>
                <a:cs typeface="Calibri" pitchFamily="34" charset="-120"/>
              </a:rPr>
              <a:t>lives lost</a:t>
            </a:r>
            <a:endParaRPr lang="en-US" dirty="0">
              <a:solidFill>
                <a:schemeClr val="accent2"/>
              </a:solidFill>
            </a:endParaRPr>
          </a:p>
        </p:txBody>
      </p:sp>
      <p:sp>
        <p:nvSpPr>
          <p:cNvPr id="12" name="Text 6"/>
          <p:cNvSpPr/>
          <p:nvPr/>
        </p:nvSpPr>
        <p:spPr>
          <a:xfrm>
            <a:off x="3337560" y="1645920"/>
            <a:ext cx="2399097" cy="640080"/>
          </a:xfrm>
          <a:prstGeom prst="rect">
            <a:avLst/>
          </a:prstGeom>
          <a:noFill/>
          <a:ln/>
        </p:spPr>
        <p:txBody>
          <a:bodyPr wrap="square" lIns="0" tIns="0" rIns="0" bIns="0" rtlCol="0" anchor="ctr"/>
          <a:lstStyle/>
          <a:p>
            <a:pPr marL="0" indent="0" algn="ctr">
              <a:buNone/>
            </a:pPr>
            <a:r>
              <a:rPr lang="en-US" sz="2600" b="1" dirty="0">
                <a:solidFill>
                  <a:srgbClr val="009999"/>
                </a:solidFill>
                <a:latin typeface="Cambria" pitchFamily="34" charset="0"/>
                <a:ea typeface="Cambria" pitchFamily="34" charset="-122"/>
                <a:cs typeface="Cambria" pitchFamily="34" charset="-120"/>
              </a:rPr>
              <a:t>9.7 Mm³</a:t>
            </a:r>
            <a:endParaRPr lang="en-US" sz="2600" dirty="0">
              <a:solidFill>
                <a:srgbClr val="009999"/>
              </a:solidFill>
            </a:endParaRPr>
          </a:p>
        </p:txBody>
      </p:sp>
      <p:sp>
        <p:nvSpPr>
          <p:cNvPr id="13" name="Text 7"/>
          <p:cNvSpPr/>
          <p:nvPr/>
        </p:nvSpPr>
        <p:spPr>
          <a:xfrm>
            <a:off x="3453063" y="2331720"/>
            <a:ext cx="2399097" cy="274320"/>
          </a:xfrm>
          <a:prstGeom prst="rect">
            <a:avLst/>
          </a:prstGeom>
          <a:noFill/>
          <a:ln/>
        </p:spPr>
        <p:txBody>
          <a:bodyPr wrap="square" lIns="0" tIns="0" rIns="0" bIns="0" rtlCol="0" anchor="ctr"/>
          <a:lstStyle/>
          <a:p>
            <a:pPr marL="0" indent="0" algn="ctr">
              <a:buNone/>
            </a:pPr>
            <a:r>
              <a:rPr lang="en-US" dirty="0">
                <a:solidFill>
                  <a:schemeClr val="accent2"/>
                </a:solidFill>
                <a:latin typeface="Calibri" pitchFamily="34" charset="0"/>
                <a:ea typeface="Calibri" pitchFamily="34" charset="-122"/>
                <a:cs typeface="Calibri" pitchFamily="34" charset="-120"/>
              </a:rPr>
              <a:t>tailings released</a:t>
            </a:r>
            <a:endParaRPr lang="en-US" dirty="0">
              <a:solidFill>
                <a:schemeClr val="accent2"/>
              </a:solidFill>
            </a:endParaRPr>
          </a:p>
        </p:txBody>
      </p:sp>
      <p:sp>
        <p:nvSpPr>
          <p:cNvPr id="14" name="Text 8"/>
          <p:cNvSpPr/>
          <p:nvPr/>
        </p:nvSpPr>
        <p:spPr>
          <a:xfrm>
            <a:off x="6126480" y="1645920"/>
            <a:ext cx="2391878" cy="640080"/>
          </a:xfrm>
          <a:prstGeom prst="rect">
            <a:avLst/>
          </a:prstGeom>
          <a:noFill/>
          <a:ln/>
        </p:spPr>
        <p:txBody>
          <a:bodyPr wrap="square" lIns="0" tIns="0" rIns="0" bIns="0" rtlCol="0" anchor="ctr"/>
          <a:lstStyle/>
          <a:p>
            <a:pPr marL="0" indent="0" algn="ctr">
              <a:buNone/>
            </a:pPr>
            <a:r>
              <a:rPr lang="en-US" sz="2600" b="1" dirty="0">
                <a:solidFill>
                  <a:srgbClr val="009999"/>
                </a:solidFill>
                <a:latin typeface="Cambria" pitchFamily="34" charset="0"/>
                <a:ea typeface="Cambria" pitchFamily="34" charset="-122"/>
                <a:cs typeface="Cambria" pitchFamily="34" charset="-120"/>
              </a:rPr>
              <a:t>86 m</a:t>
            </a:r>
            <a:endParaRPr lang="en-US" sz="2600" dirty="0">
              <a:solidFill>
                <a:srgbClr val="009999"/>
              </a:solidFill>
            </a:endParaRPr>
          </a:p>
        </p:txBody>
      </p:sp>
      <p:sp>
        <p:nvSpPr>
          <p:cNvPr id="15" name="Text 9"/>
          <p:cNvSpPr/>
          <p:nvPr/>
        </p:nvSpPr>
        <p:spPr>
          <a:xfrm>
            <a:off x="6126480" y="2240280"/>
            <a:ext cx="2651760" cy="365760"/>
          </a:xfrm>
          <a:prstGeom prst="rect">
            <a:avLst/>
          </a:prstGeom>
          <a:noFill/>
          <a:ln/>
        </p:spPr>
        <p:txBody>
          <a:bodyPr wrap="square" lIns="0" tIns="0" rIns="0" bIns="0" rtlCol="0" anchor="ctr"/>
          <a:lstStyle/>
          <a:p>
            <a:pPr marL="0" indent="0" algn="ctr">
              <a:buNone/>
            </a:pPr>
            <a:r>
              <a:rPr lang="en-US" dirty="0">
                <a:solidFill>
                  <a:schemeClr val="accent2"/>
                </a:solidFill>
                <a:latin typeface="Calibri" pitchFamily="34" charset="0"/>
                <a:ea typeface="Calibri" pitchFamily="34" charset="-122"/>
                <a:cs typeface="Calibri" pitchFamily="34" charset="-120"/>
              </a:rPr>
              <a:t>dam height</a:t>
            </a:r>
            <a:endParaRPr lang="en-US" dirty="0">
              <a:solidFill>
                <a:schemeClr val="accent2"/>
              </a:solidFill>
            </a:endParaRPr>
          </a:p>
        </p:txBody>
      </p:sp>
      <p:sp>
        <p:nvSpPr>
          <p:cNvPr id="16" name="Text 10"/>
          <p:cNvSpPr/>
          <p:nvPr/>
        </p:nvSpPr>
        <p:spPr>
          <a:xfrm>
            <a:off x="8915400" y="1645920"/>
            <a:ext cx="2240280" cy="640080"/>
          </a:xfrm>
          <a:prstGeom prst="rect">
            <a:avLst/>
          </a:prstGeom>
          <a:noFill/>
          <a:ln/>
        </p:spPr>
        <p:txBody>
          <a:bodyPr wrap="square" lIns="0" tIns="0" rIns="0" bIns="0" rtlCol="0" anchor="ctr"/>
          <a:lstStyle/>
          <a:p>
            <a:pPr marL="0" indent="0" algn="ctr">
              <a:buNone/>
            </a:pPr>
            <a:r>
              <a:rPr lang="en-US" sz="2600" b="1" dirty="0">
                <a:solidFill>
                  <a:srgbClr val="009999"/>
                </a:solidFill>
                <a:latin typeface="Cambria" pitchFamily="34" charset="0"/>
                <a:ea typeface="Cambria" pitchFamily="34" charset="-122"/>
                <a:cs typeface="Cambria" pitchFamily="34" charset="-120"/>
              </a:rPr>
              <a:t>1976–2019</a:t>
            </a:r>
            <a:endParaRPr lang="en-US" sz="2600" dirty="0">
              <a:solidFill>
                <a:srgbClr val="009999"/>
              </a:solidFill>
            </a:endParaRPr>
          </a:p>
        </p:txBody>
      </p:sp>
      <p:sp>
        <p:nvSpPr>
          <p:cNvPr id="17" name="Text 11"/>
          <p:cNvSpPr/>
          <p:nvPr/>
        </p:nvSpPr>
        <p:spPr>
          <a:xfrm>
            <a:off x="8915400" y="2258568"/>
            <a:ext cx="2317282" cy="347472"/>
          </a:xfrm>
          <a:prstGeom prst="rect">
            <a:avLst/>
          </a:prstGeom>
          <a:noFill/>
          <a:ln/>
        </p:spPr>
        <p:txBody>
          <a:bodyPr wrap="square" lIns="0" tIns="0" rIns="0" bIns="0" rtlCol="0" anchor="ctr"/>
          <a:lstStyle/>
          <a:p>
            <a:pPr marL="0" indent="0" algn="ctr">
              <a:buNone/>
            </a:pPr>
            <a:r>
              <a:rPr lang="en-US" dirty="0">
                <a:solidFill>
                  <a:schemeClr val="accent2"/>
                </a:solidFill>
                <a:latin typeface="Calibri" pitchFamily="34" charset="0"/>
                <a:ea typeface="Calibri" pitchFamily="34" charset="-122"/>
                <a:cs typeface="Calibri" pitchFamily="34" charset="-120"/>
              </a:rPr>
              <a:t>years in service</a:t>
            </a:r>
            <a:endParaRPr lang="en-US" dirty="0">
              <a:solidFill>
                <a:schemeClr val="accent2"/>
              </a:solidFill>
            </a:endParaRPr>
          </a:p>
        </p:txBody>
      </p:sp>
      <p:sp>
        <p:nvSpPr>
          <p:cNvPr id="19" name="Text 13"/>
          <p:cNvSpPr/>
          <p:nvPr/>
        </p:nvSpPr>
        <p:spPr>
          <a:xfrm>
            <a:off x="2107931" y="2766060"/>
            <a:ext cx="2184935" cy="548640"/>
          </a:xfrm>
          <a:prstGeom prst="rect">
            <a:avLst/>
          </a:prstGeom>
          <a:noFill/>
          <a:ln/>
        </p:spPr>
        <p:txBody>
          <a:bodyPr wrap="square" lIns="0" tIns="0" rIns="0" bIns="0" rtlCol="0" anchor="ctr"/>
          <a:lstStyle/>
          <a:p>
            <a:pPr marL="0" indent="0">
              <a:buNone/>
            </a:pPr>
            <a:r>
              <a:rPr lang="en-US" sz="2000" b="1" dirty="0">
                <a:solidFill>
                  <a:srgbClr val="006666"/>
                </a:solidFill>
                <a:latin typeface="Times New Roman" panose="02020603050405020304" pitchFamily="18" charset="0"/>
                <a:ea typeface="Cambria" pitchFamily="34" charset="-122"/>
                <a:cs typeface="Times New Roman" panose="02020603050405020304" pitchFamily="18" charset="0"/>
              </a:rPr>
              <a:t>What happened</a:t>
            </a:r>
            <a:endParaRPr lang="en-US" sz="2000" dirty="0">
              <a:solidFill>
                <a:srgbClr val="006666"/>
              </a:solidFill>
              <a:latin typeface="Times New Roman" panose="02020603050405020304" pitchFamily="18" charset="0"/>
              <a:cs typeface="Times New Roman" panose="02020603050405020304" pitchFamily="18" charset="0"/>
            </a:endParaRPr>
          </a:p>
        </p:txBody>
      </p:sp>
      <p:sp>
        <p:nvSpPr>
          <p:cNvPr id="20" name="Text 14"/>
          <p:cNvSpPr/>
          <p:nvPr/>
        </p:nvSpPr>
        <p:spPr>
          <a:xfrm>
            <a:off x="798896" y="3474720"/>
            <a:ext cx="5053263" cy="2088682"/>
          </a:xfrm>
          <a:prstGeom prst="rect">
            <a:avLst/>
          </a:prstGeom>
          <a:noFill/>
          <a:ln/>
        </p:spPr>
        <p:txBody>
          <a:bodyPr wrap="square" lIns="0" tIns="0" rIns="0" bIns="0" rtlCol="0" anchor="ctr"/>
          <a:lstStyle/>
          <a:p>
            <a:pPr marL="0" indent="0">
              <a:lnSpc>
                <a:spcPct val="130000"/>
              </a:lnSpc>
              <a:buNone/>
            </a:pPr>
            <a:r>
              <a:rPr lang="en-US" dirty="0">
                <a:solidFill>
                  <a:schemeClr val="bg1"/>
                </a:solidFill>
                <a:latin typeface="Times New Roman" panose="02020603050405020304" pitchFamily="18" charset="0"/>
                <a:ea typeface="Calibri" pitchFamily="34" charset="-122"/>
                <a:cs typeface="Times New Roman" panose="02020603050405020304" pitchFamily="18" charset="0"/>
              </a:rPr>
              <a:t>Dam was built using the upstream method and raised in stages from 1976. Tailings deposition stopped in 2016, but the dam failed three years later. Researchers attribute the delayed collapse to slow internal creep that grew a slip surface through weak, saturated tailings layers until it reached a critical length and the whole structure gave way suddenly.</a:t>
            </a:r>
            <a:endParaRPr lang="en-US" dirty="0">
              <a:solidFill>
                <a:schemeClr val="bg1"/>
              </a:solidFill>
              <a:latin typeface="Times New Roman" panose="02020603050405020304" pitchFamily="18" charset="0"/>
              <a:cs typeface="Times New Roman" panose="02020603050405020304" pitchFamily="18" charset="0"/>
            </a:endParaRPr>
          </a:p>
        </p:txBody>
      </p:sp>
      <p:sp>
        <p:nvSpPr>
          <p:cNvPr id="21" name="Text 15"/>
          <p:cNvSpPr/>
          <p:nvPr/>
        </p:nvSpPr>
        <p:spPr>
          <a:xfrm>
            <a:off x="6172200" y="3063240"/>
            <a:ext cx="5303520" cy="365760"/>
          </a:xfrm>
          <a:prstGeom prst="rect">
            <a:avLst/>
          </a:prstGeom>
          <a:noFill/>
          <a:ln/>
        </p:spPr>
        <p:txBody>
          <a:bodyPr wrap="square" lIns="0" tIns="0" rIns="0" bIns="0" rtlCol="0" anchor="ctr"/>
          <a:lstStyle/>
          <a:p>
            <a:pPr marL="0" indent="0">
              <a:buNone/>
            </a:pPr>
            <a:r>
              <a:rPr lang="en-US" sz="1500" b="1" dirty="0">
                <a:solidFill>
                  <a:srgbClr val="006666"/>
                </a:solidFill>
                <a:latin typeface="Times New Roman" panose="02020603050405020304" pitchFamily="18" charset="0"/>
                <a:ea typeface="Cambria" pitchFamily="34" charset="-122"/>
                <a:cs typeface="Times New Roman" panose="02020603050405020304" pitchFamily="18" charset="0"/>
              </a:rPr>
              <a:t>Design lessons</a:t>
            </a:r>
            <a:endParaRPr lang="en-US" sz="1500" dirty="0">
              <a:solidFill>
                <a:srgbClr val="006666"/>
              </a:solidFill>
              <a:latin typeface="Times New Roman" panose="02020603050405020304" pitchFamily="18" charset="0"/>
              <a:cs typeface="Times New Roman" panose="02020603050405020304" pitchFamily="18" charset="0"/>
            </a:endParaRPr>
          </a:p>
        </p:txBody>
      </p:sp>
      <p:sp>
        <p:nvSpPr>
          <p:cNvPr id="22" name="Shape 16"/>
          <p:cNvSpPr/>
          <p:nvPr/>
        </p:nvSpPr>
        <p:spPr>
          <a:xfrm>
            <a:off x="6172200" y="3529584"/>
            <a:ext cx="82296" cy="82296"/>
          </a:xfrm>
          <a:prstGeom prst="ellipse">
            <a:avLst/>
          </a:prstGeom>
          <a:solidFill>
            <a:srgbClr val="C1571F"/>
          </a:solidFill>
          <a:ln/>
        </p:spPr>
      </p:sp>
      <p:sp>
        <p:nvSpPr>
          <p:cNvPr id="23" name="Text 17"/>
          <p:cNvSpPr/>
          <p:nvPr/>
        </p:nvSpPr>
        <p:spPr>
          <a:xfrm>
            <a:off x="6400800" y="3401568"/>
            <a:ext cx="5029200" cy="548640"/>
          </a:xfrm>
          <a:prstGeom prst="rect">
            <a:avLst/>
          </a:prstGeom>
          <a:noFill/>
          <a:ln/>
        </p:spPr>
        <p:txBody>
          <a:bodyPr wrap="square" lIns="0" tIns="0" rIns="0" bIns="0" rtlCol="0" anchor="ctr"/>
          <a:lstStyle/>
          <a:p>
            <a:pPr marL="0" indent="0">
              <a:lnSpc>
                <a:spcPct val="115000"/>
              </a:lnSpc>
              <a:buNone/>
            </a:pPr>
            <a:r>
              <a:rPr lang="en-US" sz="1400" dirty="0">
                <a:solidFill>
                  <a:schemeClr val="bg1"/>
                </a:solidFill>
                <a:latin typeface="Times New Roman" panose="02020603050405020304" pitchFamily="18" charset="0"/>
                <a:ea typeface="Calibri" pitchFamily="34" charset="-122"/>
                <a:cs typeface="Times New Roman" panose="02020603050405020304" pitchFamily="18" charset="0"/>
              </a:rPr>
              <a:t>Upstream-raised embankments carry the highest inherent risk and are now banned or restricted in several jurisdictions</a:t>
            </a:r>
            <a:endParaRPr lang="en-US" sz="1400" dirty="0">
              <a:solidFill>
                <a:schemeClr val="bg1"/>
              </a:solidFill>
              <a:latin typeface="Times New Roman" panose="02020603050405020304" pitchFamily="18" charset="0"/>
              <a:cs typeface="Times New Roman" panose="02020603050405020304" pitchFamily="18" charset="0"/>
            </a:endParaRPr>
          </a:p>
        </p:txBody>
      </p:sp>
      <p:sp>
        <p:nvSpPr>
          <p:cNvPr id="24" name="Shape 18"/>
          <p:cNvSpPr/>
          <p:nvPr/>
        </p:nvSpPr>
        <p:spPr>
          <a:xfrm>
            <a:off x="6172200" y="4133088"/>
            <a:ext cx="82296" cy="82296"/>
          </a:xfrm>
          <a:prstGeom prst="ellipse">
            <a:avLst/>
          </a:prstGeom>
          <a:solidFill>
            <a:srgbClr val="C1571F"/>
          </a:solidFill>
          <a:ln/>
        </p:spPr>
      </p:sp>
      <p:sp>
        <p:nvSpPr>
          <p:cNvPr id="25" name="Text 19"/>
          <p:cNvSpPr/>
          <p:nvPr/>
        </p:nvSpPr>
        <p:spPr>
          <a:xfrm>
            <a:off x="6400800" y="4005072"/>
            <a:ext cx="5029200" cy="548640"/>
          </a:xfrm>
          <a:prstGeom prst="rect">
            <a:avLst/>
          </a:prstGeom>
          <a:noFill/>
          <a:ln/>
        </p:spPr>
        <p:txBody>
          <a:bodyPr wrap="square" lIns="0" tIns="0" rIns="0" bIns="0" rtlCol="0" anchor="ctr"/>
          <a:lstStyle/>
          <a:p>
            <a:pPr marL="0" indent="0">
              <a:lnSpc>
                <a:spcPct val="115000"/>
              </a:lnSpc>
              <a:buNone/>
            </a:pPr>
            <a:r>
              <a:rPr lang="en-US" sz="1400" dirty="0">
                <a:solidFill>
                  <a:schemeClr val="bg1"/>
                </a:solidFill>
                <a:latin typeface="Times New Roman" panose="02020603050405020304" pitchFamily="18" charset="0"/>
                <a:ea typeface="Calibri" pitchFamily="34" charset="-122"/>
                <a:cs typeface="Times New Roman" panose="02020603050405020304" pitchFamily="18" charset="0"/>
              </a:rPr>
              <a:t>Internal drainage and monitoring must continue well after deposition ends, not just during active operation</a:t>
            </a:r>
            <a:endParaRPr lang="en-US" sz="1400" dirty="0">
              <a:solidFill>
                <a:schemeClr val="bg1"/>
              </a:solidFill>
              <a:latin typeface="Times New Roman" panose="02020603050405020304" pitchFamily="18" charset="0"/>
              <a:cs typeface="Times New Roman" panose="02020603050405020304" pitchFamily="18" charset="0"/>
            </a:endParaRPr>
          </a:p>
        </p:txBody>
      </p:sp>
      <p:sp>
        <p:nvSpPr>
          <p:cNvPr id="26" name="Shape 20"/>
          <p:cNvSpPr/>
          <p:nvPr/>
        </p:nvSpPr>
        <p:spPr>
          <a:xfrm>
            <a:off x="6172200" y="4736592"/>
            <a:ext cx="82296" cy="82296"/>
          </a:xfrm>
          <a:prstGeom prst="ellipse">
            <a:avLst/>
          </a:prstGeom>
          <a:solidFill>
            <a:srgbClr val="C1571F"/>
          </a:solidFill>
          <a:ln/>
        </p:spPr>
      </p:sp>
      <p:sp>
        <p:nvSpPr>
          <p:cNvPr id="27" name="Text 21"/>
          <p:cNvSpPr/>
          <p:nvPr/>
        </p:nvSpPr>
        <p:spPr>
          <a:xfrm>
            <a:off x="6400800" y="4608576"/>
            <a:ext cx="5029200" cy="548640"/>
          </a:xfrm>
          <a:prstGeom prst="rect">
            <a:avLst/>
          </a:prstGeom>
          <a:noFill/>
          <a:ln/>
        </p:spPr>
        <p:txBody>
          <a:bodyPr wrap="square" lIns="0" tIns="0" rIns="0" bIns="0" rtlCol="0" anchor="ctr"/>
          <a:lstStyle/>
          <a:p>
            <a:pPr marL="0" indent="0">
              <a:lnSpc>
                <a:spcPct val="115000"/>
              </a:lnSpc>
              <a:buNone/>
            </a:pPr>
            <a:r>
              <a:rPr lang="en-US" sz="1400" dirty="0">
                <a:solidFill>
                  <a:schemeClr val="bg1"/>
                </a:solidFill>
                <a:latin typeface="Times New Roman" panose="02020603050405020304" pitchFamily="18" charset="0"/>
                <a:ea typeface="Calibri" pitchFamily="34" charset="-122"/>
                <a:cs typeface="Times New Roman" panose="02020603050405020304" pitchFamily="18" charset="0"/>
              </a:rPr>
              <a:t>Independent review and transparent hazard classification catch risks an operator alone may under-report</a:t>
            </a:r>
            <a:endParaRPr lang="en-US" sz="1400" dirty="0">
              <a:solidFill>
                <a:schemeClr val="bg1"/>
              </a:solidFill>
              <a:latin typeface="Times New Roman" panose="02020603050405020304" pitchFamily="18" charset="0"/>
              <a:cs typeface="Times New Roman" panose="02020603050405020304" pitchFamily="18" charset="0"/>
            </a:endParaRPr>
          </a:p>
        </p:txBody>
      </p:sp>
      <p:sp>
        <p:nvSpPr>
          <p:cNvPr id="28" name="Shape 22"/>
          <p:cNvSpPr/>
          <p:nvPr/>
        </p:nvSpPr>
        <p:spPr>
          <a:xfrm>
            <a:off x="6172200" y="5340096"/>
            <a:ext cx="82296" cy="82296"/>
          </a:xfrm>
          <a:prstGeom prst="ellipse">
            <a:avLst/>
          </a:prstGeom>
          <a:solidFill>
            <a:srgbClr val="C1571F"/>
          </a:solidFill>
          <a:ln/>
        </p:spPr>
      </p:sp>
      <p:sp>
        <p:nvSpPr>
          <p:cNvPr id="29" name="Text 23"/>
          <p:cNvSpPr/>
          <p:nvPr/>
        </p:nvSpPr>
        <p:spPr>
          <a:xfrm>
            <a:off x="6400800" y="5212080"/>
            <a:ext cx="5029200" cy="548640"/>
          </a:xfrm>
          <a:prstGeom prst="rect">
            <a:avLst/>
          </a:prstGeom>
          <a:noFill/>
          <a:ln/>
        </p:spPr>
        <p:txBody>
          <a:bodyPr wrap="square" lIns="0" tIns="0" rIns="0" bIns="0" rtlCol="0" anchor="ctr"/>
          <a:lstStyle/>
          <a:p>
            <a:pPr marL="0" indent="0">
              <a:lnSpc>
                <a:spcPct val="115000"/>
              </a:lnSpc>
              <a:buNone/>
            </a:pPr>
            <a:r>
              <a:rPr lang="en-US" sz="1400" dirty="0">
                <a:solidFill>
                  <a:schemeClr val="bg1"/>
                </a:solidFill>
                <a:latin typeface="Times New Roman" panose="02020603050405020304" pitchFamily="18" charset="0"/>
                <a:ea typeface="Calibri" pitchFamily="34" charset="-122"/>
                <a:cs typeface="Times New Roman" panose="02020603050405020304" pitchFamily="18" charset="0"/>
              </a:rPr>
              <a:t>The disaster directly led to the 2020 Global Industry Standard on Tailings Management (GISTM)</a:t>
            </a:r>
            <a:endParaRPr lang="en-US" sz="1400" dirty="0">
              <a:solidFill>
                <a:schemeClr val="bg1"/>
              </a:solidFill>
              <a:latin typeface="Times New Roman" panose="02020603050405020304" pitchFamily="18" charset="0"/>
              <a:cs typeface="Times New Roman" panose="02020603050405020304" pitchFamily="18" charset="0"/>
            </a:endParaRPr>
          </a:p>
        </p:txBody>
      </p:sp>
      <p:sp>
        <p:nvSpPr>
          <p:cNvPr id="30" name="Text 24"/>
          <p:cNvSpPr/>
          <p:nvPr/>
        </p:nvSpPr>
        <p:spPr>
          <a:xfrm>
            <a:off x="11475720" y="6446520"/>
            <a:ext cx="548640" cy="320040"/>
          </a:xfrm>
          <a:prstGeom prst="rect">
            <a:avLst/>
          </a:prstGeom>
          <a:noFill/>
          <a:ln/>
        </p:spPr>
        <p:txBody>
          <a:bodyPr wrap="square" lIns="0" tIns="0" rIns="0" bIns="0" rtlCol="0" anchor="ctr"/>
          <a:lstStyle/>
          <a:p>
            <a:pPr marL="0" indent="0" algn="r">
              <a:buNone/>
            </a:pPr>
            <a:r>
              <a:rPr lang="en-US" sz="1000" dirty="0">
                <a:latin typeface="Calibri" pitchFamily="34" charset="0"/>
                <a:ea typeface="Calibri" pitchFamily="34" charset="-122"/>
                <a:cs typeface="Calibri" pitchFamily="34" charset="-120"/>
              </a:rPr>
              <a:t>10</a:t>
            </a:r>
            <a:endParaRPr lang="en-US" sz="1000" dirty="0"/>
          </a:p>
        </p:txBody>
      </p:sp>
    </p:spTree>
    <p:extLst>
      <p:ext uri="{BB962C8B-B14F-4D97-AF65-F5344CB8AC3E}">
        <p14:creationId xmlns:p14="http://schemas.microsoft.com/office/powerpoint/2010/main" val="4646381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C52AFD5A-4082-4BE4-96FC-4C4C6076294A}" type="slidenum">
              <a:rPr lang="en-US" smtClean="0"/>
              <a:pPr/>
              <a:t>15</a:t>
            </a:fld>
            <a:endParaRPr lang="en-US"/>
          </a:p>
        </p:txBody>
      </p:sp>
      <p:pic>
        <p:nvPicPr>
          <p:cNvPr id="3" name="video_2026-07-29_08-59-59">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826443" y="1172910"/>
            <a:ext cx="10527357" cy="4930812"/>
          </a:xfrm>
          <a:prstGeom prst="rect">
            <a:avLst/>
          </a:prstGeom>
        </p:spPr>
      </p:pic>
      <p:sp>
        <p:nvSpPr>
          <p:cNvPr id="4" name="TextBox 3"/>
          <p:cNvSpPr txBox="1"/>
          <p:nvPr/>
        </p:nvSpPr>
        <p:spPr>
          <a:xfrm>
            <a:off x="3637866" y="597116"/>
            <a:ext cx="4904509" cy="646331"/>
          </a:xfrm>
          <a:prstGeom prst="rect">
            <a:avLst/>
          </a:prstGeom>
          <a:noFill/>
        </p:spPr>
        <p:txBody>
          <a:bodyPr wrap="square" rtlCol="0">
            <a:spAutoFit/>
          </a:bodyPr>
          <a:lstStyle/>
          <a:p>
            <a:pPr algn="ctr"/>
            <a:r>
              <a:rPr lang="en-US" b="1" dirty="0">
                <a:solidFill>
                  <a:srgbClr val="009999"/>
                </a:solidFill>
                <a:latin typeface="Cambria" pitchFamily="34" charset="0"/>
                <a:ea typeface="Cambria" pitchFamily="34" charset="-122"/>
                <a:cs typeface="Cambria" pitchFamily="34" charset="-120"/>
              </a:rPr>
              <a:t>CASE STUDY IN BRUMADINHO DAM I, BRAZIL</a:t>
            </a:r>
            <a:endParaRPr lang="en-US" dirty="0">
              <a:solidFill>
                <a:srgbClr val="009999"/>
              </a:solidFill>
            </a:endParaRPr>
          </a:p>
          <a:p>
            <a:pPr algn="ctr"/>
            <a:endParaRPr lang="en-US" dirty="0">
              <a:solidFill>
                <a:srgbClr val="009999"/>
              </a:solidFill>
            </a:endParaRPr>
          </a:p>
        </p:txBody>
      </p:sp>
    </p:spTree>
    <p:extLst>
      <p:ext uri="{BB962C8B-B14F-4D97-AF65-F5344CB8AC3E}">
        <p14:creationId xmlns:p14="http://schemas.microsoft.com/office/powerpoint/2010/main" val="20681043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62333"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C52AFD5A-4082-4BE4-96FC-4C4C6076294A}" type="slidenum">
              <a:rPr lang="en-US" sz="1800" smtClean="0">
                <a:latin typeface="Times New Roman" panose="02020603050405020304" pitchFamily="18" charset="0"/>
                <a:cs typeface="Times New Roman" panose="02020603050405020304" pitchFamily="18" charset="0"/>
              </a:rPr>
              <a:pPr/>
              <a:t>16</a:t>
            </a:fld>
            <a:endParaRPr lang="en-US" sz="1800">
              <a:latin typeface="Times New Roman" panose="02020603050405020304" pitchFamily="18" charset="0"/>
              <a:cs typeface="Times New Roman" panose="02020603050405020304" pitchFamily="18" charset="0"/>
            </a:endParaRPr>
          </a:p>
        </p:txBody>
      </p:sp>
      <p:sp>
        <p:nvSpPr>
          <p:cNvPr id="7" name="Text 1"/>
          <p:cNvSpPr/>
          <p:nvPr/>
        </p:nvSpPr>
        <p:spPr>
          <a:xfrm>
            <a:off x="4268804" y="812546"/>
            <a:ext cx="2757638" cy="594360"/>
          </a:xfrm>
          <a:prstGeom prst="rect">
            <a:avLst/>
          </a:prstGeom>
          <a:noFill/>
          <a:ln/>
        </p:spPr>
        <p:txBody>
          <a:bodyPr wrap="square" lIns="0" tIns="0" rIns="0" bIns="0" rtlCol="0" anchor="b"/>
          <a:lstStyle/>
          <a:p>
            <a:pPr marL="0" indent="0">
              <a:buNone/>
            </a:pPr>
            <a:r>
              <a:rPr lang="en-US" sz="3200" b="1" dirty="0">
                <a:solidFill>
                  <a:srgbClr val="009999"/>
                </a:solidFill>
                <a:latin typeface="Times New Roman" panose="02020603050405020304" pitchFamily="18" charset="0"/>
                <a:ea typeface="Cambria" pitchFamily="34" charset="-122"/>
                <a:cs typeface="Times New Roman" panose="02020603050405020304" pitchFamily="18" charset="0"/>
              </a:rPr>
              <a:t>CONCLUSION</a:t>
            </a:r>
            <a:endParaRPr lang="en-US" sz="3200" dirty="0">
              <a:solidFill>
                <a:srgbClr val="009999"/>
              </a:solidFill>
              <a:latin typeface="Times New Roman" panose="02020603050405020304" pitchFamily="18" charset="0"/>
              <a:cs typeface="Times New Roman" panose="02020603050405020304" pitchFamily="18" charset="0"/>
            </a:endParaRPr>
          </a:p>
        </p:txBody>
      </p:sp>
      <p:sp>
        <p:nvSpPr>
          <p:cNvPr id="11" name="Text 5"/>
          <p:cNvSpPr/>
          <p:nvPr/>
        </p:nvSpPr>
        <p:spPr>
          <a:xfrm>
            <a:off x="1143000" y="1856232"/>
            <a:ext cx="10332720" cy="685800"/>
          </a:xfrm>
          <a:prstGeom prst="rect">
            <a:avLst/>
          </a:prstGeom>
          <a:noFill/>
          <a:ln/>
        </p:spPr>
        <p:txBody>
          <a:bodyPr wrap="square" lIns="0" tIns="0" rIns="0" bIns="0" rtlCol="0" anchor="ctr"/>
          <a:lstStyle/>
          <a:p>
            <a:pPr marL="285750" indent="-285750">
              <a:lnSpc>
                <a:spcPct val="115000"/>
              </a:lnSpc>
              <a:buFont typeface="Wingdings" panose="05000000000000000000" pitchFamily="2" charset="2"/>
              <a:buChar char="v"/>
            </a:pPr>
            <a:r>
              <a:rPr lang="en-US" dirty="0">
                <a:solidFill>
                  <a:schemeClr val="bg1"/>
                </a:solidFill>
                <a:latin typeface="Times New Roman" panose="02020603050405020304" pitchFamily="18" charset="0"/>
                <a:ea typeface="Calibri" pitchFamily="34" charset="-122"/>
                <a:cs typeface="Times New Roman" panose="02020603050405020304" pitchFamily="18" charset="0"/>
              </a:rPr>
              <a:t>TSF design is a continuous discipline: siting, engineering, environmental compliance, construction, operation and closure are one integrated life-cycle, not separate stages</a:t>
            </a:r>
            <a:endParaRPr lang="en-US" dirty="0">
              <a:solidFill>
                <a:schemeClr val="bg1"/>
              </a:solidFill>
              <a:latin typeface="Times New Roman" panose="02020603050405020304" pitchFamily="18" charset="0"/>
              <a:cs typeface="Times New Roman" panose="02020603050405020304" pitchFamily="18" charset="0"/>
            </a:endParaRPr>
          </a:p>
        </p:txBody>
      </p:sp>
      <p:sp>
        <p:nvSpPr>
          <p:cNvPr id="14" name="Text 8"/>
          <p:cNvSpPr/>
          <p:nvPr/>
        </p:nvSpPr>
        <p:spPr>
          <a:xfrm>
            <a:off x="1143000" y="2697480"/>
            <a:ext cx="10332720" cy="685800"/>
          </a:xfrm>
          <a:prstGeom prst="rect">
            <a:avLst/>
          </a:prstGeom>
          <a:noFill/>
          <a:ln/>
        </p:spPr>
        <p:txBody>
          <a:bodyPr wrap="square" lIns="0" tIns="0" rIns="0" bIns="0" rtlCol="0" anchor="ctr"/>
          <a:lstStyle/>
          <a:p>
            <a:pPr marL="285750" indent="-285750">
              <a:lnSpc>
                <a:spcPct val="115000"/>
              </a:lnSpc>
              <a:buFont typeface="Wingdings" panose="05000000000000000000" pitchFamily="2" charset="2"/>
              <a:buChar char="v"/>
            </a:pPr>
            <a:r>
              <a:rPr lang="en-US" dirty="0">
                <a:solidFill>
                  <a:schemeClr val="bg1"/>
                </a:solidFill>
                <a:latin typeface="Times New Roman" panose="02020603050405020304" pitchFamily="18" charset="0"/>
                <a:ea typeface="Calibri" pitchFamily="34" charset="-122"/>
                <a:cs typeface="Times New Roman" panose="02020603050405020304" pitchFamily="18" charset="0"/>
              </a:rPr>
              <a:t>Foundation geology, water management and construction method (upstream, downstream, centerline or dry-stack) set the inherent risk of the facility</a:t>
            </a:r>
            <a:endParaRPr lang="en-US" dirty="0">
              <a:solidFill>
                <a:schemeClr val="bg1"/>
              </a:solidFill>
              <a:latin typeface="Times New Roman" panose="02020603050405020304" pitchFamily="18" charset="0"/>
              <a:cs typeface="Times New Roman" panose="02020603050405020304" pitchFamily="18" charset="0"/>
            </a:endParaRPr>
          </a:p>
        </p:txBody>
      </p:sp>
      <p:sp>
        <p:nvSpPr>
          <p:cNvPr id="17" name="Text 11"/>
          <p:cNvSpPr/>
          <p:nvPr/>
        </p:nvSpPr>
        <p:spPr>
          <a:xfrm>
            <a:off x="1143000" y="3538728"/>
            <a:ext cx="10332720" cy="685800"/>
          </a:xfrm>
          <a:prstGeom prst="rect">
            <a:avLst/>
          </a:prstGeom>
          <a:noFill/>
          <a:ln/>
        </p:spPr>
        <p:txBody>
          <a:bodyPr wrap="square" lIns="0" tIns="0" rIns="0" bIns="0" rtlCol="0" anchor="ctr"/>
          <a:lstStyle/>
          <a:p>
            <a:pPr marL="285750" indent="-285750">
              <a:lnSpc>
                <a:spcPct val="115000"/>
              </a:lnSpc>
              <a:buFont typeface="Wingdings" panose="05000000000000000000" pitchFamily="2" charset="2"/>
              <a:buChar char="v"/>
            </a:pPr>
            <a:r>
              <a:rPr lang="en-US" dirty="0">
                <a:solidFill>
                  <a:schemeClr val="bg1"/>
                </a:solidFill>
                <a:latin typeface="Times New Roman" panose="02020603050405020304" pitchFamily="18" charset="0"/>
                <a:ea typeface="Calibri" pitchFamily="34" charset="-122"/>
                <a:cs typeface="Times New Roman" panose="02020603050405020304" pitchFamily="18" charset="0"/>
              </a:rPr>
              <a:t>Instrumentation, independent review and emergency planning turn a design into a safe, operating facility</a:t>
            </a:r>
            <a:endParaRPr lang="en-US" dirty="0">
              <a:solidFill>
                <a:schemeClr val="bg1"/>
              </a:solidFill>
              <a:latin typeface="Times New Roman" panose="02020603050405020304" pitchFamily="18" charset="0"/>
              <a:cs typeface="Times New Roman" panose="02020603050405020304" pitchFamily="18" charset="0"/>
            </a:endParaRPr>
          </a:p>
        </p:txBody>
      </p:sp>
      <p:sp>
        <p:nvSpPr>
          <p:cNvPr id="20" name="Text 14"/>
          <p:cNvSpPr/>
          <p:nvPr/>
        </p:nvSpPr>
        <p:spPr>
          <a:xfrm>
            <a:off x="1143000" y="4379976"/>
            <a:ext cx="10332720" cy="685800"/>
          </a:xfrm>
          <a:prstGeom prst="rect">
            <a:avLst/>
          </a:prstGeom>
          <a:noFill/>
          <a:ln/>
        </p:spPr>
        <p:txBody>
          <a:bodyPr wrap="square" lIns="0" tIns="0" rIns="0" bIns="0" rtlCol="0" anchor="ctr"/>
          <a:lstStyle/>
          <a:p>
            <a:pPr marL="285750" indent="-285750">
              <a:lnSpc>
                <a:spcPct val="115000"/>
              </a:lnSpc>
              <a:buFont typeface="Wingdings" panose="05000000000000000000" pitchFamily="2" charset="2"/>
              <a:buChar char="v"/>
            </a:pPr>
            <a:r>
              <a:rPr lang="en-US" dirty="0">
                <a:solidFill>
                  <a:schemeClr val="bg1"/>
                </a:solidFill>
                <a:latin typeface="Times New Roman" panose="02020603050405020304" pitchFamily="18" charset="0"/>
                <a:ea typeface="Calibri" pitchFamily="34" charset="-122"/>
                <a:cs typeface="Times New Roman" panose="02020603050405020304" pitchFamily="18" charset="0"/>
              </a:rPr>
              <a:t>History from Brumadinho to earlier failures shows that cutting corners in design or oversight has catastrophic, irreversible consequences</a:t>
            </a:r>
            <a:endParaRPr lang="en-US" dirty="0">
              <a:solidFill>
                <a:schemeClr val="bg1"/>
              </a:solidFill>
              <a:latin typeface="Times New Roman" panose="02020603050405020304" pitchFamily="18" charset="0"/>
              <a:cs typeface="Times New Roman" panose="02020603050405020304" pitchFamily="18" charset="0"/>
            </a:endParaRPr>
          </a:p>
        </p:txBody>
      </p:sp>
      <p:sp>
        <p:nvSpPr>
          <p:cNvPr id="23" name="Text 17"/>
          <p:cNvSpPr/>
          <p:nvPr/>
        </p:nvSpPr>
        <p:spPr>
          <a:xfrm>
            <a:off x="1143000" y="5221224"/>
            <a:ext cx="10332720" cy="685800"/>
          </a:xfrm>
          <a:prstGeom prst="rect">
            <a:avLst/>
          </a:prstGeom>
          <a:noFill/>
          <a:ln/>
        </p:spPr>
        <p:txBody>
          <a:bodyPr wrap="square" lIns="0" tIns="0" rIns="0" bIns="0" rtlCol="0" anchor="ctr"/>
          <a:lstStyle/>
          <a:p>
            <a:pPr marL="285750" indent="-285750">
              <a:lnSpc>
                <a:spcPct val="115000"/>
              </a:lnSpc>
              <a:buFont typeface="Wingdings" panose="05000000000000000000" pitchFamily="2" charset="2"/>
              <a:buChar char="v"/>
            </a:pPr>
            <a:r>
              <a:rPr lang="en-US" dirty="0">
                <a:solidFill>
                  <a:schemeClr val="bg1"/>
                </a:solidFill>
                <a:latin typeface="Times New Roman" panose="02020603050405020304" pitchFamily="18" charset="0"/>
                <a:ea typeface="Calibri" pitchFamily="34" charset="-122"/>
                <a:cs typeface="Times New Roman" panose="02020603050405020304" pitchFamily="18" charset="0"/>
              </a:rPr>
              <a:t>Global standards such as GISTM now push the industry toward zero-harm tailings management</a:t>
            </a:r>
            <a:endParaRPr lang="en-US"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9110828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1_Site_Investigations_for_tailings_storage_facilities" id="{03B5F29D-A953-4C79-956A-8A91195C0FEF}" vid="{56A0ED04-00FD-4CF9-8C71-424C6548BEF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1_Site_Investigations_for_tailings_storage_facilities</Template>
  <TotalTime>2906</TotalTime>
  <Words>1053</Words>
  <Application>Microsoft Office PowerPoint</Application>
  <PresentationFormat>Widescreen</PresentationFormat>
  <Paragraphs>129</Paragraphs>
  <Slides>16</Slides>
  <Notes>0</Notes>
  <HiddenSlides>0</HiddenSlides>
  <MMClips>1</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16</vt:i4>
      </vt:variant>
    </vt:vector>
  </HeadingPairs>
  <TitlesOfParts>
    <vt:vector size="23" baseType="lpstr">
      <vt:lpstr>Arial</vt:lpstr>
      <vt:lpstr>Calibri</vt:lpstr>
      <vt:lpstr>Cambria</vt:lpstr>
      <vt:lpstr>DM Sans</vt:lpstr>
      <vt:lpstr>Times New Roman</vt:lpstr>
      <vt:lpstr>Wingdings</vt:lpstr>
      <vt:lpstr>Office Theme</vt:lpstr>
      <vt:lpstr>DESIGN OF TAILING STORAGE FACILITY </vt:lpstr>
      <vt:lpstr>OUTLINE</vt:lpstr>
      <vt:lpstr>PowerPoint Presentation</vt:lpstr>
      <vt:lpstr>PowerPoint Presentation</vt:lpstr>
      <vt:lpstr>PowerPoint Presentation</vt:lpstr>
      <vt:lpstr>DESIGN FUNDMENTAL</vt:lpstr>
      <vt:lpstr>DESIGN FUNDMENTAL</vt:lpstr>
      <vt:lpstr>DESIGN FUNDMENTAL</vt:lpstr>
      <vt:lpstr>DESIGN FUNDMENTAL</vt:lpstr>
      <vt:lpstr>DESIGN FUNDMENTAL</vt:lpstr>
      <vt:lpstr>DESIGN FUNDMENTAL</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Vincent Hope</dc:creator>
  <cp:lastModifiedBy>Anthony Essel Prepeh</cp:lastModifiedBy>
  <cp:revision>134</cp:revision>
  <dcterms:created xsi:type="dcterms:W3CDTF">2023-07-24T13:47:17Z</dcterms:created>
  <dcterms:modified xsi:type="dcterms:W3CDTF">2026-08-07T13:50:28Z</dcterms:modified>
</cp:coreProperties>
</file>
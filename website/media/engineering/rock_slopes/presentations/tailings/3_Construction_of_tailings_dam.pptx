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72"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B85FB6B-8EB9-7F0A-8687-9B236FE0520D}"/>
              </a:ext>
            </a:extLst>
          </p:cNvPr>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3957637" y="4319438"/>
            <a:ext cx="4276725" cy="390525"/>
          </a:xfrm>
          <a:prstGeom prst="rect">
            <a:avLst/>
          </a:prstGeom>
        </p:spPr>
      </p:pic>
      <p:sp>
        <p:nvSpPr>
          <p:cNvPr id="5" name="TextBox 4"/>
          <p:cNvSpPr txBox="1"/>
          <p:nvPr/>
        </p:nvSpPr>
        <p:spPr>
          <a:xfrm>
            <a:off x="1947981" y="2624137"/>
            <a:ext cx="8296036" cy="613320"/>
          </a:xfrm>
          <a:prstGeom prst="rect">
            <a:avLst/>
          </a:prstGeom>
          <a:noFill/>
        </p:spPr>
        <p:txBody>
          <a:bodyPr wrap="square" lIns="0" tIns="0" rIns="0" bIns="0" anchor="t">
            <a:spAutoFit/>
          </a:bodyPr>
          <a:lstStyle/>
          <a:p>
            <a:pPr algn="ctr">
              <a:lnSpc>
                <a:spcPts val="4830"/>
              </a:lnSpc>
            </a:pPr>
            <a:r>
              <a:rPr sz="4200" b="1" i="0" u="none" dirty="0">
                <a:solidFill>
                  <a:schemeClr val="accent6">
                    <a:lumMod val="75000"/>
                  </a:schemeClr>
                </a:solidFill>
                <a:latin typeface="Merriweather"/>
              </a:rPr>
              <a:t>Construction of Tailings Dams</a:t>
            </a:r>
          </a:p>
        </p:txBody>
      </p:sp>
      <p:sp>
        <p:nvSpPr>
          <p:cNvPr id="6" name="TextBox 5"/>
          <p:cNvSpPr txBox="1"/>
          <p:nvPr/>
        </p:nvSpPr>
        <p:spPr>
          <a:xfrm>
            <a:off x="1809750" y="3237458"/>
            <a:ext cx="8572500" cy="586680"/>
          </a:xfrm>
          <a:prstGeom prst="rect">
            <a:avLst/>
          </a:prstGeom>
          <a:noFill/>
        </p:spPr>
        <p:txBody>
          <a:bodyPr wrap="square" lIns="0" tIns="0" rIns="0" bIns="0" anchor="t">
            <a:spAutoFit/>
          </a:bodyPr>
          <a:lstStyle/>
          <a:p>
            <a:pPr algn="ctr">
              <a:lnSpc>
                <a:spcPts val="2310"/>
              </a:lnSpc>
            </a:pPr>
            <a:r>
              <a:rPr sz="1650" b="0" i="0" u="none" dirty="0">
                <a:solidFill>
                  <a:schemeClr val="bg1"/>
                </a:solidFill>
                <a:latin typeface="DM Sans"/>
              </a:rPr>
              <a:t>Engineering Design Principles, Sequential Embankment Raising Methods, and Geotechnical Risk Management</a:t>
            </a:r>
          </a:p>
        </p:txBody>
      </p:sp>
      <p:sp>
        <p:nvSpPr>
          <p:cNvPr id="7" name="TextBox 6"/>
          <p:cNvSpPr txBox="1"/>
          <p:nvPr/>
        </p:nvSpPr>
        <p:spPr>
          <a:xfrm>
            <a:off x="3957637" y="4519463"/>
            <a:ext cx="2295525" cy="173124"/>
          </a:xfrm>
          <a:prstGeom prst="rect">
            <a:avLst/>
          </a:prstGeom>
          <a:noFill/>
        </p:spPr>
        <p:txBody>
          <a:bodyPr wrap="square" lIns="180975" tIns="0" rIns="0" bIns="0" anchor="t">
            <a:spAutoFit/>
          </a:bodyPr>
          <a:lstStyle/>
          <a:p>
            <a:pPr algn="ctr"/>
            <a:r>
              <a:rPr sz="1125" b="0" i="0" u="none" dirty="0">
                <a:solidFill>
                  <a:srgbClr val="00B0F0"/>
                </a:solidFill>
                <a:latin typeface="DM Sans"/>
              </a:rPr>
              <a:t>Advanced Mining Geotechnics</a:t>
            </a:r>
          </a:p>
        </p:txBody>
      </p:sp>
      <p:sp>
        <p:nvSpPr>
          <p:cNvPr id="8" name="TextBox 7"/>
          <p:cNvSpPr txBox="1"/>
          <p:nvPr/>
        </p:nvSpPr>
        <p:spPr>
          <a:xfrm>
            <a:off x="6634162" y="4519463"/>
            <a:ext cx="1600200" cy="173124"/>
          </a:xfrm>
          <a:prstGeom prst="rect">
            <a:avLst/>
          </a:prstGeom>
          <a:noFill/>
        </p:spPr>
        <p:txBody>
          <a:bodyPr wrap="square" lIns="123825" tIns="0" rIns="0" bIns="0" anchor="t">
            <a:spAutoFit/>
          </a:bodyPr>
          <a:lstStyle/>
          <a:p>
            <a:pPr algn="ctr"/>
            <a:r>
              <a:rPr sz="1125" b="0" i="0" u="none" dirty="0">
                <a:solidFill>
                  <a:srgbClr val="00B0F0"/>
                </a:solidFill>
                <a:latin typeface="DM Sans"/>
              </a:rPr>
              <a:t>Technical Monograph</a:t>
            </a:r>
          </a:p>
        </p:txBody>
      </p:sp>
      <p:pic>
        <p:nvPicPr>
          <p:cNvPr id="9" name="Picture 8" descr="image.png"/>
          <p:cNvPicPr>
            <a:picLocks noChangeAspect="1"/>
          </p:cNvPicPr>
          <p:nvPr/>
        </p:nvPicPr>
        <p:blipFill>
          <a:blip r:embed="rId5"/>
          <a:stretch>
            <a:fillRect/>
          </a:stretch>
        </p:blipFill>
        <p:spPr>
          <a:xfrm>
            <a:off x="3957637" y="4538513"/>
            <a:ext cx="180975" cy="142875"/>
          </a:xfrm>
          <a:prstGeom prst="rect">
            <a:avLst/>
          </a:prstGeom>
        </p:spPr>
      </p:pic>
      <p:pic>
        <p:nvPicPr>
          <p:cNvPr id="10" name="Picture 9" descr="image.png"/>
          <p:cNvPicPr>
            <a:picLocks noChangeAspect="1"/>
          </p:cNvPicPr>
          <p:nvPr/>
        </p:nvPicPr>
        <p:blipFill>
          <a:blip r:embed="rId6"/>
          <a:stretch>
            <a:fillRect/>
          </a:stretch>
        </p:blipFill>
        <p:spPr>
          <a:xfrm>
            <a:off x="6634162" y="4538513"/>
            <a:ext cx="123825" cy="142875"/>
          </a:xfrm>
          <a:prstGeom prst="rect">
            <a:avLst/>
          </a:prstGeom>
        </p:spPr>
      </p:pic>
      <p:sp>
        <p:nvSpPr>
          <p:cNvPr id="11" name="Text 1">
            <a:extLst>
              <a:ext uri="{FF2B5EF4-FFF2-40B4-BE49-F238E27FC236}">
                <a16:creationId xmlns:a16="http://schemas.microsoft.com/office/drawing/2014/main" id="{2A21C666-3E67-4698-1854-E5088BEC3DD5}"/>
              </a:ext>
            </a:extLst>
          </p:cNvPr>
          <p:cNvSpPr/>
          <p:nvPr/>
        </p:nvSpPr>
        <p:spPr>
          <a:xfrm>
            <a:off x="457200" y="292373"/>
            <a:ext cx="5618053" cy="180975"/>
          </a:xfrm>
          <a:prstGeom prst="rect">
            <a:avLst/>
          </a:prstGeom>
          <a:noFill/>
          <a:ln/>
        </p:spPr>
        <p:txBody>
          <a:bodyPr wrap="none" lIns="0" tIns="0" rIns="0" bIns="0" rtlCol="0" anchor="ctr"/>
          <a:lstStyle/>
          <a:p>
            <a:pPr marL="0" indent="0" algn="l">
              <a:buNone/>
            </a:pPr>
            <a:r>
              <a:rPr lang="en-US" sz="1080" kern="0" spc="270" dirty="0">
                <a:solidFill>
                  <a:srgbClr val="7A8E92"/>
                </a:solidFill>
                <a:latin typeface="DM Sans" pitchFamily="34" charset="0"/>
                <a:ea typeface="DM Sans" pitchFamily="34" charset="-122"/>
                <a:cs typeface="DM Sans" pitchFamily="34" charset="-120"/>
              </a:rPr>
              <a:t>ADVANCED ENGINEERING GEOLOGY — GED 452</a:t>
            </a:r>
            <a:endParaRPr lang="en-US" sz="10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5715000" y="2671762"/>
            <a:ext cx="762000" cy="381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130629" y="2938462"/>
            <a:ext cx="5930741" cy="619125"/>
          </a:xfrm>
          <a:prstGeom prst="rect">
            <a:avLst/>
          </a:prstGeom>
          <a:noFill/>
        </p:spPr>
        <p:txBody>
          <a:bodyPr wrap="square" lIns="0" tIns="0" rIns="0" bIns="0" anchor="t">
            <a:spAutoFit/>
          </a:bodyPr>
          <a:lstStyle/>
          <a:p>
            <a:pPr algn="ctr"/>
            <a:r>
              <a:rPr sz="3900" b="1" i="0" u="none">
                <a:solidFill>
                  <a:srgbClr val="FFFFFF"/>
                </a:solidFill>
                <a:latin typeface="Merriweather"/>
              </a:rPr>
              <a:t>Engineering Principles</a:t>
            </a:r>
          </a:p>
        </p:txBody>
      </p:sp>
      <p:sp>
        <p:nvSpPr>
          <p:cNvPr id="6" name="TextBox 5"/>
          <p:cNvSpPr txBox="1"/>
          <p:nvPr/>
        </p:nvSpPr>
        <p:spPr>
          <a:xfrm>
            <a:off x="2524125" y="3709987"/>
            <a:ext cx="7143750" cy="590550"/>
          </a:xfrm>
          <a:prstGeom prst="rect">
            <a:avLst/>
          </a:prstGeom>
          <a:noFill/>
        </p:spPr>
        <p:txBody>
          <a:bodyPr wrap="square" lIns="0" tIns="0" rIns="0" bIns="0" anchor="t">
            <a:spAutoFit/>
          </a:bodyPr>
          <a:lstStyle/>
          <a:p>
            <a:pPr algn="ctr">
              <a:lnSpc>
                <a:spcPts val="2325"/>
              </a:lnSpc>
            </a:pPr>
            <a:r>
              <a:rPr sz="1500" b="0" i="0" u="none">
                <a:solidFill>
                  <a:srgbClr val="94A3B8"/>
                </a:solidFill>
                <a:latin typeface="DM Sans"/>
              </a:rPr>
              <a:t>Fundamental characteristics of mining waste slurries, starter embankment foundations, and hydraulic deposition dynamics.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6ECEA5F9-7FE7-E655-02C7-2FA79588309C}"/>
              </a:ext>
            </a:extLst>
          </p:cNvPr>
          <p:cNvSpPr/>
          <p:nvPr/>
        </p:nvSpPr>
        <p:spPr>
          <a:xfrm>
            <a:off x="6336907" y="2712714"/>
            <a:ext cx="5524500" cy="2321421"/>
          </a:xfrm>
          <a:prstGeom prst="roundRect">
            <a:avLst/>
          </a:prstGeom>
          <a:solidFill>
            <a:schemeClr val="accent6">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532B53C0-FC7D-677E-8037-75D8766D51BB}"/>
              </a:ext>
            </a:extLst>
          </p:cNvPr>
          <p:cNvSpPr/>
          <p:nvPr/>
        </p:nvSpPr>
        <p:spPr>
          <a:xfrm>
            <a:off x="571500" y="2729130"/>
            <a:ext cx="5524500" cy="2321421"/>
          </a:xfrm>
          <a:prstGeom prst="roundRect">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TextBox 4"/>
          <p:cNvSpPr txBox="1"/>
          <p:nvPr/>
        </p:nvSpPr>
        <p:spPr>
          <a:xfrm>
            <a:off x="895350" y="2967335"/>
            <a:ext cx="4950618" cy="253916"/>
          </a:xfrm>
          <a:prstGeom prst="rect">
            <a:avLst/>
          </a:prstGeom>
          <a:noFill/>
        </p:spPr>
        <p:txBody>
          <a:bodyPr wrap="square" lIns="0" tIns="0" rIns="0" bIns="0" anchor="t">
            <a:spAutoFit/>
          </a:bodyPr>
          <a:lstStyle/>
          <a:p>
            <a:pPr algn="l"/>
            <a:r>
              <a:rPr sz="1650" b="1" i="0" u="none" dirty="0">
                <a:solidFill>
                  <a:schemeClr val="bg1"/>
                </a:solidFill>
                <a:latin typeface="Merriweather"/>
              </a:rPr>
              <a:t>Tailings Slurry Characteristics</a:t>
            </a:r>
          </a:p>
        </p:txBody>
      </p:sp>
      <p:sp>
        <p:nvSpPr>
          <p:cNvPr id="6" name="TextBox 5"/>
          <p:cNvSpPr txBox="1"/>
          <p:nvPr/>
        </p:nvSpPr>
        <p:spPr>
          <a:xfrm>
            <a:off x="895350" y="3329285"/>
            <a:ext cx="4714875" cy="1254621"/>
          </a:xfrm>
          <a:prstGeom prst="rect">
            <a:avLst/>
          </a:prstGeom>
          <a:noFill/>
        </p:spPr>
        <p:txBody>
          <a:bodyPr wrap="square" lIns="0" tIns="0" rIns="0" bIns="0" anchor="t">
            <a:spAutoFit/>
          </a:bodyPr>
          <a:lstStyle/>
          <a:p>
            <a:pPr algn="l">
              <a:lnSpc>
                <a:spcPts val="1976"/>
              </a:lnSpc>
            </a:pPr>
            <a:r>
              <a:rPr sz="1275" b="0" i="0" u="none" dirty="0">
                <a:latin typeface="DM Sans"/>
              </a:rPr>
              <a:t>Tailings consist of fine-grained mineral process residue mixed with water. Unlike water-retention dams, tailings facilities store crushed rock particles ranging from coarse sands to ultra-fine clays with variable hydraulic conductivity and liquefaction susceptibility.</a:t>
            </a:r>
          </a:p>
        </p:txBody>
      </p:sp>
      <p:sp>
        <p:nvSpPr>
          <p:cNvPr id="7" name="TextBox 6"/>
          <p:cNvSpPr txBox="1"/>
          <p:nvPr/>
        </p:nvSpPr>
        <p:spPr>
          <a:xfrm>
            <a:off x="6610350" y="2967335"/>
            <a:ext cx="4950618" cy="253916"/>
          </a:xfrm>
          <a:prstGeom prst="rect">
            <a:avLst/>
          </a:prstGeom>
          <a:noFill/>
        </p:spPr>
        <p:txBody>
          <a:bodyPr wrap="square" lIns="0" tIns="0" rIns="0" bIns="0" anchor="t">
            <a:spAutoFit/>
          </a:bodyPr>
          <a:lstStyle/>
          <a:p>
            <a:pPr algn="l"/>
            <a:r>
              <a:rPr sz="1650" b="1" i="0" u="none" dirty="0">
                <a:solidFill>
                  <a:schemeClr val="bg1"/>
                </a:solidFill>
                <a:latin typeface="Merriweather"/>
              </a:rPr>
              <a:t>Starter Embankment Structure</a:t>
            </a:r>
          </a:p>
        </p:txBody>
      </p:sp>
      <p:sp>
        <p:nvSpPr>
          <p:cNvPr id="8" name="TextBox 7"/>
          <p:cNvSpPr txBox="1"/>
          <p:nvPr/>
        </p:nvSpPr>
        <p:spPr>
          <a:xfrm>
            <a:off x="6610350" y="3329285"/>
            <a:ext cx="4714875" cy="1254621"/>
          </a:xfrm>
          <a:prstGeom prst="rect">
            <a:avLst/>
          </a:prstGeom>
          <a:noFill/>
        </p:spPr>
        <p:txBody>
          <a:bodyPr wrap="square" lIns="0" tIns="0" rIns="0" bIns="0" anchor="t">
            <a:spAutoFit/>
          </a:bodyPr>
          <a:lstStyle/>
          <a:p>
            <a:pPr algn="l">
              <a:lnSpc>
                <a:spcPts val="1976"/>
              </a:lnSpc>
            </a:pPr>
            <a:r>
              <a:rPr sz="1275" b="0" i="0" u="none" dirty="0">
                <a:latin typeface="DM Sans"/>
              </a:rPr>
              <a:t>The initial starter dam is constructed on competent bedrock or engineered foundations using compacted rockfill or earth fill. It provides initial containment for decant pond formation and establishes the hydraulic drainage boundary for sequential raises.</a:t>
            </a:r>
          </a:p>
        </p:txBody>
      </p:sp>
      <p:sp>
        <p:nvSpPr>
          <p:cNvPr id="9" name="TextBox 8"/>
          <p:cNvSpPr txBox="1"/>
          <p:nvPr/>
        </p:nvSpPr>
        <p:spPr>
          <a:xfrm>
            <a:off x="571500" y="476250"/>
            <a:ext cx="11601450" cy="384592"/>
          </a:xfrm>
          <a:prstGeom prst="rect">
            <a:avLst/>
          </a:prstGeom>
          <a:noFill/>
        </p:spPr>
        <p:txBody>
          <a:bodyPr wrap="square" lIns="0" tIns="0" rIns="0" bIns="0" anchor="t">
            <a:spAutoFit/>
          </a:bodyPr>
          <a:lstStyle/>
          <a:p>
            <a:pPr algn="l">
              <a:lnSpc>
                <a:spcPts val="3060"/>
              </a:lnSpc>
            </a:pPr>
            <a:r>
              <a:rPr sz="2550" b="1" i="0" u="none" dirty="0">
                <a:solidFill>
                  <a:schemeClr val="accent6">
                    <a:lumMod val="75000"/>
                  </a:schemeClr>
                </a:solidFill>
                <a:latin typeface="Merriweather"/>
              </a:rPr>
              <a:t>Tailings &amp; Starter Dam Design</a:t>
            </a:r>
          </a:p>
        </p:txBody>
      </p:sp>
      <p:sp>
        <p:nvSpPr>
          <p:cNvPr id="10" name="Rectangle 9"/>
          <p:cNvSpPr/>
          <p:nvPr/>
        </p:nvSpPr>
        <p:spPr>
          <a:xfrm>
            <a:off x="571500" y="97914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6286500" y="2023020"/>
            <a:ext cx="5334000" cy="3619500"/>
          </a:xfrm>
          <a:prstGeom prst="rect">
            <a:avLst/>
          </a:prstGeom>
        </p:spPr>
      </p:pic>
      <p:sp>
        <p:nvSpPr>
          <p:cNvPr id="4" name="TextBox 3"/>
          <p:cNvSpPr txBox="1"/>
          <p:nvPr/>
        </p:nvSpPr>
        <p:spPr>
          <a:xfrm>
            <a:off x="571500" y="2023020"/>
            <a:ext cx="5600700" cy="253916"/>
          </a:xfrm>
          <a:prstGeom prst="rect">
            <a:avLst/>
          </a:prstGeom>
          <a:noFill/>
        </p:spPr>
        <p:txBody>
          <a:bodyPr wrap="square" lIns="0" tIns="0" rIns="0" bIns="0" anchor="t">
            <a:spAutoFit/>
          </a:bodyPr>
          <a:lstStyle/>
          <a:p>
            <a:pPr algn="l"/>
            <a:r>
              <a:rPr sz="1650" b="1" i="0" u="none" dirty="0">
                <a:solidFill>
                  <a:schemeClr val="accent5">
                    <a:lumMod val="75000"/>
                  </a:schemeClr>
                </a:solidFill>
                <a:latin typeface="Merriweather"/>
              </a:rPr>
              <a:t>Sequential Sub-Upstream Raises</a:t>
            </a:r>
          </a:p>
        </p:txBody>
      </p:sp>
      <p:sp>
        <p:nvSpPr>
          <p:cNvPr id="5" name="TextBox 4"/>
          <p:cNvSpPr txBox="1"/>
          <p:nvPr/>
        </p:nvSpPr>
        <p:spPr>
          <a:xfrm>
            <a:off x="571500" y="2384970"/>
            <a:ext cx="5334000" cy="501848"/>
          </a:xfrm>
          <a:prstGeom prst="rect">
            <a:avLst/>
          </a:prstGeom>
          <a:noFill/>
        </p:spPr>
        <p:txBody>
          <a:bodyPr wrap="square" lIns="0" tIns="0" rIns="0" bIns="0" anchor="t">
            <a:spAutoFit/>
          </a:bodyPr>
          <a:lstStyle/>
          <a:p>
            <a:pPr algn="l">
              <a:lnSpc>
                <a:spcPts val="1976"/>
              </a:lnSpc>
            </a:pPr>
            <a:r>
              <a:rPr sz="1275" b="0" i="0" u="none" dirty="0">
                <a:solidFill>
                  <a:schemeClr val="bg1"/>
                </a:solidFill>
                <a:latin typeface="DM Sans"/>
              </a:rPr>
              <a:t>The upstream method begins with a starter dike, after which tailings slurry is </a:t>
            </a:r>
            <a:r>
              <a:rPr sz="1275" b="0" i="0" u="none" dirty="0" err="1">
                <a:solidFill>
                  <a:schemeClr val="bg1"/>
                </a:solidFill>
                <a:latin typeface="DM Sans"/>
              </a:rPr>
              <a:t>spigotted</a:t>
            </a:r>
            <a:r>
              <a:rPr sz="1275" b="0" i="0" u="none" dirty="0">
                <a:solidFill>
                  <a:schemeClr val="bg1"/>
                </a:solidFill>
                <a:latin typeface="DM Sans"/>
              </a:rPr>
              <a:t> along the inner crest to form a beach.</a:t>
            </a:r>
          </a:p>
        </p:txBody>
      </p:sp>
      <p:sp>
        <p:nvSpPr>
          <p:cNvPr id="6" name="TextBox 5"/>
          <p:cNvSpPr txBox="1"/>
          <p:nvPr/>
        </p:nvSpPr>
        <p:spPr>
          <a:xfrm>
            <a:off x="571500" y="3001119"/>
            <a:ext cx="5334000" cy="501848"/>
          </a:xfrm>
          <a:prstGeom prst="rect">
            <a:avLst/>
          </a:prstGeom>
          <a:noFill/>
        </p:spPr>
        <p:txBody>
          <a:bodyPr wrap="square" lIns="0" tIns="0" rIns="0" bIns="0" anchor="t">
            <a:spAutoFit/>
          </a:bodyPr>
          <a:lstStyle/>
          <a:p>
            <a:pPr algn="l">
              <a:lnSpc>
                <a:spcPts val="1976"/>
              </a:lnSpc>
            </a:pPr>
            <a:r>
              <a:rPr sz="1275" b="0" i="0" u="none" dirty="0">
                <a:solidFill>
                  <a:schemeClr val="bg1"/>
                </a:solidFill>
                <a:latin typeface="DM Sans"/>
              </a:rPr>
              <a:t>Successive dike raises are constructed directly step-wise over the previously deposited, consolidated tailings beach.</a:t>
            </a:r>
          </a:p>
        </p:txBody>
      </p:sp>
      <p:sp>
        <p:nvSpPr>
          <p:cNvPr id="7" name="TextBox 6"/>
          <p:cNvSpPr txBox="1"/>
          <p:nvPr/>
        </p:nvSpPr>
        <p:spPr>
          <a:xfrm>
            <a:off x="571500" y="3617267"/>
            <a:ext cx="5334000" cy="752772"/>
          </a:xfrm>
          <a:prstGeom prst="rect">
            <a:avLst/>
          </a:prstGeom>
          <a:noFill/>
        </p:spPr>
        <p:txBody>
          <a:bodyPr wrap="square" lIns="0" tIns="0" rIns="0" bIns="0" anchor="t">
            <a:spAutoFit/>
          </a:bodyPr>
          <a:lstStyle/>
          <a:p>
            <a:pPr algn="l">
              <a:lnSpc>
                <a:spcPts val="1976"/>
              </a:lnSpc>
            </a:pPr>
            <a:r>
              <a:rPr sz="1275" b="0" i="0" u="none" dirty="0">
                <a:solidFill>
                  <a:schemeClr val="bg1"/>
                </a:solidFill>
                <a:latin typeface="DM Sans"/>
              </a:rPr>
              <a:t>While exceptionally cost-effective and requiring minimal borrow fill, it exhibits high sensitivity to rapid raise rates, high water tables, and seismic liquefaction.</a:t>
            </a:r>
          </a:p>
        </p:txBody>
      </p:sp>
      <p:pic>
        <p:nvPicPr>
          <p:cNvPr id="8" name="Picture 7" descr="image.png"/>
          <p:cNvPicPr>
            <a:picLocks noChangeAspect="1"/>
          </p:cNvPicPr>
          <p:nvPr/>
        </p:nvPicPr>
        <p:blipFill>
          <a:blip r:embed="rId4"/>
          <a:stretch>
            <a:fillRect/>
          </a:stretch>
        </p:blipFill>
        <p:spPr>
          <a:xfrm>
            <a:off x="6296025" y="2032545"/>
            <a:ext cx="5314950" cy="3600450"/>
          </a:xfrm>
          <a:prstGeom prst="rect">
            <a:avLst/>
          </a:prstGeom>
        </p:spPr>
      </p:pic>
      <p:sp>
        <p:nvSpPr>
          <p:cNvPr id="9" name="TextBox 8"/>
          <p:cNvSpPr txBox="1"/>
          <p:nvPr/>
        </p:nvSpPr>
        <p:spPr>
          <a:xfrm>
            <a:off x="571500" y="476250"/>
            <a:ext cx="11601450" cy="384592"/>
          </a:xfrm>
          <a:prstGeom prst="rect">
            <a:avLst/>
          </a:prstGeom>
          <a:noFill/>
        </p:spPr>
        <p:txBody>
          <a:bodyPr wrap="square" lIns="0" tIns="0" rIns="0" bIns="0" anchor="t">
            <a:spAutoFit/>
          </a:bodyPr>
          <a:lstStyle/>
          <a:p>
            <a:pPr algn="l">
              <a:lnSpc>
                <a:spcPts val="3060"/>
              </a:lnSpc>
            </a:pPr>
            <a:r>
              <a:rPr sz="2550" b="1" i="0" u="none" dirty="0">
                <a:solidFill>
                  <a:schemeClr val="accent6">
                    <a:lumMod val="75000"/>
                  </a:schemeClr>
                </a:solidFill>
                <a:latin typeface="Merriweather"/>
              </a:rPr>
              <a:t>Upstream Construction Method</a:t>
            </a:r>
          </a:p>
        </p:txBody>
      </p:sp>
      <p:sp>
        <p:nvSpPr>
          <p:cNvPr id="10" name="Rectangle 9"/>
          <p:cNvSpPr/>
          <p:nvPr/>
        </p:nvSpPr>
        <p:spPr>
          <a:xfrm>
            <a:off x="571500" y="97914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p:nvSpPr>
        <p:spPr>
          <a:xfrm>
            <a:off x="571500" y="476250"/>
            <a:ext cx="5550693" cy="384592"/>
          </a:xfrm>
          <a:prstGeom prst="rect">
            <a:avLst/>
          </a:prstGeom>
          <a:noFill/>
        </p:spPr>
        <p:txBody>
          <a:bodyPr wrap="square" lIns="0" tIns="0" rIns="0" bIns="0" anchor="t">
            <a:spAutoFit/>
          </a:bodyPr>
          <a:lstStyle/>
          <a:p>
            <a:pPr algn="l">
              <a:lnSpc>
                <a:spcPts val="3060"/>
              </a:lnSpc>
            </a:pPr>
            <a:r>
              <a:rPr sz="2550" b="1" i="0" u="none" dirty="0">
                <a:solidFill>
                  <a:schemeClr val="accent6">
                    <a:lumMod val="75000"/>
                  </a:schemeClr>
                </a:solidFill>
                <a:latin typeface="Merriweather"/>
              </a:rPr>
              <a:t>Downstream Construction Method</a:t>
            </a:r>
          </a:p>
        </p:txBody>
      </p:sp>
      <p:sp>
        <p:nvSpPr>
          <p:cNvPr id="4" name="Rectangle 3"/>
          <p:cNvSpPr/>
          <p:nvPr/>
        </p:nvSpPr>
        <p:spPr>
          <a:xfrm>
            <a:off x="571500" y="1367730"/>
            <a:ext cx="5286375"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1500" y="3074342"/>
            <a:ext cx="5550693" cy="253916"/>
          </a:xfrm>
          <a:prstGeom prst="rect">
            <a:avLst/>
          </a:prstGeom>
          <a:noFill/>
        </p:spPr>
        <p:txBody>
          <a:bodyPr wrap="square" lIns="0" tIns="0" rIns="0" bIns="0" anchor="t">
            <a:spAutoFit/>
          </a:bodyPr>
          <a:lstStyle/>
          <a:p>
            <a:pPr algn="l"/>
            <a:r>
              <a:rPr sz="1650" b="1" i="0" u="none" dirty="0">
                <a:solidFill>
                  <a:schemeClr val="accent5">
                    <a:lumMod val="75000"/>
                  </a:schemeClr>
                </a:solidFill>
                <a:latin typeface="Merriweather"/>
              </a:rPr>
              <a:t>High Structural Stability</a:t>
            </a:r>
          </a:p>
        </p:txBody>
      </p:sp>
      <p:sp>
        <p:nvSpPr>
          <p:cNvPr id="7" name="TextBox 6"/>
          <p:cNvSpPr txBox="1"/>
          <p:nvPr/>
        </p:nvSpPr>
        <p:spPr>
          <a:xfrm>
            <a:off x="571500" y="3436292"/>
            <a:ext cx="5286375" cy="752772"/>
          </a:xfrm>
          <a:prstGeom prst="rect">
            <a:avLst/>
          </a:prstGeom>
          <a:noFill/>
        </p:spPr>
        <p:txBody>
          <a:bodyPr wrap="square" lIns="0" tIns="0" rIns="0" bIns="0" anchor="t">
            <a:spAutoFit/>
          </a:bodyPr>
          <a:lstStyle/>
          <a:p>
            <a:pPr algn="l">
              <a:lnSpc>
                <a:spcPts val="1976"/>
              </a:lnSpc>
            </a:pPr>
            <a:r>
              <a:rPr sz="1275" b="0" i="0" u="none" dirty="0">
                <a:solidFill>
                  <a:schemeClr val="bg1"/>
                </a:solidFill>
                <a:latin typeface="DM Sans"/>
              </a:rPr>
              <a:t>Downstream dams are sequentially raised away from the impoundment, with each new raise founded entirely on compacted structural fill or coarse tailings sand downstream of the starter crest.</a:t>
            </a:r>
          </a:p>
        </p:txBody>
      </p:sp>
      <p:sp>
        <p:nvSpPr>
          <p:cNvPr id="8" name="TextBox 7"/>
          <p:cNvSpPr txBox="1"/>
          <p:nvPr/>
        </p:nvSpPr>
        <p:spPr>
          <a:xfrm>
            <a:off x="571500" y="4303365"/>
            <a:ext cx="5286375" cy="752772"/>
          </a:xfrm>
          <a:prstGeom prst="rect">
            <a:avLst/>
          </a:prstGeom>
          <a:noFill/>
        </p:spPr>
        <p:txBody>
          <a:bodyPr wrap="square" lIns="0" tIns="0" rIns="0" bIns="0" anchor="t">
            <a:spAutoFit/>
          </a:bodyPr>
          <a:lstStyle/>
          <a:p>
            <a:pPr algn="l">
              <a:lnSpc>
                <a:spcPts val="1976"/>
              </a:lnSpc>
            </a:pPr>
            <a:r>
              <a:rPr sz="1275" b="0" i="0" u="none" dirty="0">
                <a:solidFill>
                  <a:schemeClr val="bg1"/>
                </a:solidFill>
                <a:latin typeface="DM Sans"/>
              </a:rPr>
              <a:t>This design allows the inclusion of internal sand-gravel filters, low-permeability cores, and toe drain systems, rendering it resilient against extreme seismic shaking and storm events.</a:t>
            </a:r>
          </a:p>
        </p:txBody>
      </p:sp>
      <p:pic>
        <p:nvPicPr>
          <p:cNvPr id="10" name="Picture 9">
            <a:extLst>
              <a:ext uri="{FF2B5EF4-FFF2-40B4-BE49-F238E27FC236}">
                <a16:creationId xmlns:a16="http://schemas.microsoft.com/office/drawing/2014/main" id="{FCAA0E41-4607-E01F-BC67-EAD2E9BD37C6}"/>
              </a:ext>
            </a:extLst>
          </p:cNvPr>
          <p:cNvPicPr>
            <a:picLocks noChangeAspect="1"/>
          </p:cNvPicPr>
          <p:nvPr/>
        </p:nvPicPr>
        <p:blipFill>
          <a:blip r:embed="rId3"/>
          <a:stretch>
            <a:fillRect/>
          </a:stretch>
        </p:blipFill>
        <p:spPr>
          <a:xfrm>
            <a:off x="6858000" y="1715966"/>
            <a:ext cx="4762500" cy="3848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71500" y="2176760"/>
            <a:ext cx="3530649" cy="3312021"/>
          </a:xfrm>
          <a:prstGeom prst="rect">
            <a:avLst/>
          </a:prstGeom>
        </p:spPr>
      </p:pic>
      <p:pic>
        <p:nvPicPr>
          <p:cNvPr id="4" name="Picture 3" descr="image.png"/>
          <p:cNvPicPr>
            <a:picLocks noChangeAspect="1"/>
          </p:cNvPicPr>
          <p:nvPr/>
        </p:nvPicPr>
        <p:blipFill>
          <a:blip r:embed="rId4"/>
          <a:stretch>
            <a:fillRect/>
          </a:stretch>
        </p:blipFill>
        <p:spPr>
          <a:xfrm>
            <a:off x="4330749" y="2176760"/>
            <a:ext cx="3530649" cy="3312021"/>
          </a:xfrm>
          <a:prstGeom prst="rect">
            <a:avLst/>
          </a:prstGeom>
        </p:spPr>
      </p:pic>
      <p:pic>
        <p:nvPicPr>
          <p:cNvPr id="5" name="Picture 4" descr="image.png"/>
          <p:cNvPicPr>
            <a:picLocks noChangeAspect="1"/>
          </p:cNvPicPr>
          <p:nvPr/>
        </p:nvPicPr>
        <p:blipFill>
          <a:blip r:embed="rId5"/>
          <a:stretch>
            <a:fillRect/>
          </a:stretch>
        </p:blipFill>
        <p:spPr>
          <a:xfrm>
            <a:off x="8089999" y="2176760"/>
            <a:ext cx="3530649" cy="3312021"/>
          </a:xfrm>
          <a:prstGeom prst="rect">
            <a:avLst/>
          </a:prstGeom>
        </p:spPr>
      </p:pic>
      <p:pic>
        <p:nvPicPr>
          <p:cNvPr id="6" name="Picture 5" descr="image.png"/>
          <p:cNvPicPr>
            <a:picLocks noChangeAspect="1"/>
          </p:cNvPicPr>
          <p:nvPr/>
        </p:nvPicPr>
        <p:blipFill>
          <a:blip r:embed="rId6"/>
          <a:stretch>
            <a:fillRect/>
          </a:stretch>
        </p:blipFill>
        <p:spPr>
          <a:xfrm>
            <a:off x="847725" y="2452985"/>
            <a:ext cx="609600" cy="609600"/>
          </a:xfrm>
          <a:prstGeom prst="rect">
            <a:avLst/>
          </a:prstGeom>
        </p:spPr>
      </p:pic>
      <p:sp>
        <p:nvSpPr>
          <p:cNvPr id="7" name="TextBox 6"/>
          <p:cNvSpPr txBox="1"/>
          <p:nvPr/>
        </p:nvSpPr>
        <p:spPr>
          <a:xfrm>
            <a:off x="847725" y="3214985"/>
            <a:ext cx="2240280" cy="266700"/>
          </a:xfrm>
          <a:prstGeom prst="rect">
            <a:avLst/>
          </a:prstGeom>
          <a:noFill/>
        </p:spPr>
        <p:txBody>
          <a:bodyPr wrap="square" lIns="0" tIns="0" rIns="0" bIns="0" anchor="t">
            <a:spAutoFit/>
          </a:bodyPr>
          <a:lstStyle/>
          <a:p>
            <a:pPr algn="l"/>
            <a:r>
              <a:rPr sz="1650" b="1" i="0" u="none">
                <a:solidFill>
                  <a:srgbClr val="0369A1"/>
                </a:solidFill>
                <a:latin typeface="Merriweather"/>
              </a:rPr>
              <a:t>Vertical Wall Raising</a:t>
            </a:r>
          </a:p>
        </p:txBody>
      </p:sp>
      <p:sp>
        <p:nvSpPr>
          <p:cNvPr id="8" name="TextBox 7"/>
          <p:cNvSpPr txBox="1"/>
          <p:nvPr/>
        </p:nvSpPr>
        <p:spPr>
          <a:xfrm>
            <a:off x="847725" y="3576935"/>
            <a:ext cx="2978199" cy="1003696"/>
          </a:xfrm>
          <a:prstGeom prst="rect">
            <a:avLst/>
          </a:prstGeom>
          <a:noFill/>
        </p:spPr>
        <p:txBody>
          <a:bodyPr wrap="square" lIns="0" tIns="0" rIns="0" bIns="0" anchor="t">
            <a:spAutoFit/>
          </a:bodyPr>
          <a:lstStyle/>
          <a:p>
            <a:pPr algn="l">
              <a:lnSpc>
                <a:spcPts val="1976"/>
              </a:lnSpc>
            </a:pPr>
            <a:r>
              <a:rPr sz="1275" b="0" i="0" u="none" dirty="0">
                <a:solidFill>
                  <a:srgbClr val="334155"/>
                </a:solidFill>
                <a:latin typeface="DM Sans"/>
              </a:rPr>
              <a:t>The dam axis remains constant as sequential raises are placed directly above the starter dam centerline, balancing material usage and stability.</a:t>
            </a:r>
          </a:p>
        </p:txBody>
      </p:sp>
      <p:pic>
        <p:nvPicPr>
          <p:cNvPr id="9" name="Picture 8" descr="image.png"/>
          <p:cNvPicPr>
            <a:picLocks noChangeAspect="1"/>
          </p:cNvPicPr>
          <p:nvPr/>
        </p:nvPicPr>
        <p:blipFill>
          <a:blip r:embed="rId7"/>
          <a:stretch>
            <a:fillRect/>
          </a:stretch>
        </p:blipFill>
        <p:spPr>
          <a:xfrm>
            <a:off x="4606974" y="2452985"/>
            <a:ext cx="609600" cy="609600"/>
          </a:xfrm>
          <a:prstGeom prst="rect">
            <a:avLst/>
          </a:prstGeom>
        </p:spPr>
      </p:pic>
      <p:sp>
        <p:nvSpPr>
          <p:cNvPr id="10" name="TextBox 9"/>
          <p:cNvSpPr txBox="1"/>
          <p:nvPr/>
        </p:nvSpPr>
        <p:spPr>
          <a:xfrm>
            <a:off x="4606974" y="3214985"/>
            <a:ext cx="2680335" cy="266700"/>
          </a:xfrm>
          <a:prstGeom prst="rect">
            <a:avLst/>
          </a:prstGeom>
          <a:noFill/>
        </p:spPr>
        <p:txBody>
          <a:bodyPr wrap="square" lIns="0" tIns="0" rIns="0" bIns="0" anchor="t">
            <a:spAutoFit/>
          </a:bodyPr>
          <a:lstStyle/>
          <a:p>
            <a:pPr algn="l"/>
            <a:r>
              <a:rPr sz="1650" b="1" i="0" u="none">
                <a:solidFill>
                  <a:srgbClr val="0369A1"/>
                </a:solidFill>
                <a:latin typeface="Merriweather"/>
              </a:rPr>
              <a:t>Cyclone Sand Separation</a:t>
            </a:r>
          </a:p>
        </p:txBody>
      </p:sp>
      <p:sp>
        <p:nvSpPr>
          <p:cNvPr id="11" name="TextBox 10"/>
          <p:cNvSpPr txBox="1"/>
          <p:nvPr/>
        </p:nvSpPr>
        <p:spPr>
          <a:xfrm>
            <a:off x="4606974" y="3576935"/>
            <a:ext cx="2978199" cy="1003696"/>
          </a:xfrm>
          <a:prstGeom prst="rect">
            <a:avLst/>
          </a:prstGeom>
          <a:noFill/>
        </p:spPr>
        <p:txBody>
          <a:bodyPr wrap="square" lIns="0" tIns="0" rIns="0" bIns="0" anchor="t">
            <a:spAutoFit/>
          </a:bodyPr>
          <a:lstStyle/>
          <a:p>
            <a:pPr algn="l">
              <a:lnSpc>
                <a:spcPts val="1976"/>
              </a:lnSpc>
            </a:pPr>
            <a:r>
              <a:rPr sz="1275" b="0" i="0" u="none">
                <a:solidFill>
                  <a:srgbClr val="334155"/>
                </a:solidFill>
                <a:latin typeface="DM Sans"/>
              </a:rPr>
              <a:t>Coarse sand fractions separated via hydrocyclones are placed on the downstream slope, while fine slime tailings flow into the upstream pond.</a:t>
            </a:r>
          </a:p>
        </p:txBody>
      </p:sp>
      <p:pic>
        <p:nvPicPr>
          <p:cNvPr id="12" name="Picture 11" descr="image.png"/>
          <p:cNvPicPr>
            <a:picLocks noChangeAspect="1"/>
          </p:cNvPicPr>
          <p:nvPr/>
        </p:nvPicPr>
        <p:blipFill>
          <a:blip r:embed="rId8"/>
          <a:stretch>
            <a:fillRect/>
          </a:stretch>
        </p:blipFill>
        <p:spPr>
          <a:xfrm>
            <a:off x="8366224" y="2452985"/>
            <a:ext cx="609600" cy="609600"/>
          </a:xfrm>
          <a:prstGeom prst="rect">
            <a:avLst/>
          </a:prstGeom>
        </p:spPr>
      </p:pic>
      <p:sp>
        <p:nvSpPr>
          <p:cNvPr id="13" name="TextBox 12"/>
          <p:cNvSpPr txBox="1"/>
          <p:nvPr/>
        </p:nvSpPr>
        <p:spPr>
          <a:xfrm>
            <a:off x="8366224" y="3214985"/>
            <a:ext cx="3127109" cy="533400"/>
          </a:xfrm>
          <a:prstGeom prst="rect">
            <a:avLst/>
          </a:prstGeom>
          <a:noFill/>
        </p:spPr>
        <p:txBody>
          <a:bodyPr wrap="square" lIns="0" tIns="0" rIns="0" bIns="0" anchor="t">
            <a:spAutoFit/>
          </a:bodyPr>
          <a:lstStyle/>
          <a:p>
            <a:pPr algn="l"/>
            <a:r>
              <a:rPr sz="1650" b="1" i="0" u="none">
                <a:solidFill>
                  <a:srgbClr val="0369A1"/>
                </a:solidFill>
                <a:latin typeface="Merriweather"/>
              </a:rPr>
              <a:t>Moderate Seismic Resistance</a:t>
            </a:r>
          </a:p>
        </p:txBody>
      </p:sp>
      <p:sp>
        <p:nvSpPr>
          <p:cNvPr id="14" name="TextBox 13"/>
          <p:cNvSpPr txBox="1"/>
          <p:nvPr/>
        </p:nvSpPr>
        <p:spPr>
          <a:xfrm>
            <a:off x="8366224" y="3843635"/>
            <a:ext cx="2978199" cy="1254621"/>
          </a:xfrm>
          <a:prstGeom prst="rect">
            <a:avLst/>
          </a:prstGeom>
          <a:noFill/>
        </p:spPr>
        <p:txBody>
          <a:bodyPr wrap="square" lIns="0" tIns="0" rIns="0" bIns="0" anchor="t">
            <a:spAutoFit/>
          </a:bodyPr>
          <a:lstStyle/>
          <a:p>
            <a:pPr algn="l">
              <a:lnSpc>
                <a:spcPts val="1976"/>
              </a:lnSpc>
            </a:pPr>
            <a:r>
              <a:rPr sz="1275" b="0" i="0" u="none">
                <a:solidFill>
                  <a:srgbClr val="334155"/>
                </a:solidFill>
                <a:latin typeface="DM Sans"/>
              </a:rPr>
              <a:t>Offers significantly greater resistance to static and dynamic liquefaction than upstream designs with smaller physical footprint than downstream dams.</a:t>
            </a:r>
          </a:p>
        </p:txBody>
      </p:sp>
      <p:pic>
        <p:nvPicPr>
          <p:cNvPr id="15" name="Picture 14" descr="image.png"/>
          <p:cNvPicPr>
            <a:picLocks noChangeAspect="1"/>
          </p:cNvPicPr>
          <p:nvPr/>
        </p:nvPicPr>
        <p:blipFill>
          <a:blip r:embed="rId9"/>
          <a:stretch>
            <a:fillRect/>
          </a:stretch>
        </p:blipFill>
        <p:spPr>
          <a:xfrm>
            <a:off x="1042987" y="2586335"/>
            <a:ext cx="219075" cy="342900"/>
          </a:xfrm>
          <a:prstGeom prst="rect">
            <a:avLst/>
          </a:prstGeom>
        </p:spPr>
      </p:pic>
      <p:pic>
        <p:nvPicPr>
          <p:cNvPr id="16" name="Picture 15" descr="image.png"/>
          <p:cNvPicPr>
            <a:picLocks noChangeAspect="1"/>
          </p:cNvPicPr>
          <p:nvPr/>
        </p:nvPicPr>
        <p:blipFill>
          <a:blip r:embed="rId10"/>
          <a:stretch>
            <a:fillRect/>
          </a:stretch>
        </p:blipFill>
        <p:spPr>
          <a:xfrm>
            <a:off x="4740324" y="2586335"/>
            <a:ext cx="342900" cy="342900"/>
          </a:xfrm>
          <a:prstGeom prst="rect">
            <a:avLst/>
          </a:prstGeom>
        </p:spPr>
      </p:pic>
      <p:pic>
        <p:nvPicPr>
          <p:cNvPr id="17" name="Picture 16" descr="image.png"/>
          <p:cNvPicPr>
            <a:picLocks noChangeAspect="1"/>
          </p:cNvPicPr>
          <p:nvPr/>
        </p:nvPicPr>
        <p:blipFill>
          <a:blip r:embed="rId11"/>
          <a:stretch>
            <a:fillRect/>
          </a:stretch>
        </p:blipFill>
        <p:spPr>
          <a:xfrm>
            <a:off x="8499574" y="2586335"/>
            <a:ext cx="342900" cy="342900"/>
          </a:xfrm>
          <a:prstGeom prst="rect">
            <a:avLst/>
          </a:prstGeom>
        </p:spPr>
      </p:pic>
      <p:sp>
        <p:nvSpPr>
          <p:cNvPr id="18" name="TextBox 17"/>
          <p:cNvSpPr txBox="1"/>
          <p:nvPr/>
        </p:nvSpPr>
        <p:spPr>
          <a:xfrm>
            <a:off x="571500" y="476250"/>
            <a:ext cx="11601450" cy="384592"/>
          </a:xfrm>
          <a:prstGeom prst="rect">
            <a:avLst/>
          </a:prstGeom>
          <a:noFill/>
        </p:spPr>
        <p:txBody>
          <a:bodyPr wrap="square" lIns="0" tIns="0" rIns="0" bIns="0" anchor="t">
            <a:spAutoFit/>
          </a:bodyPr>
          <a:lstStyle/>
          <a:p>
            <a:pPr algn="l">
              <a:lnSpc>
                <a:spcPts val="3060"/>
              </a:lnSpc>
            </a:pPr>
            <a:r>
              <a:rPr sz="2550" b="1" i="0" u="none" dirty="0">
                <a:solidFill>
                  <a:schemeClr val="accent6">
                    <a:lumMod val="75000"/>
                  </a:schemeClr>
                </a:solidFill>
                <a:latin typeface="Merriweather"/>
              </a:rPr>
              <a:t>Centerline Construction Method</a:t>
            </a:r>
          </a:p>
        </p:txBody>
      </p:sp>
      <p:sp>
        <p:nvSpPr>
          <p:cNvPr id="19" name="Rectangle 18"/>
          <p:cNvSpPr/>
          <p:nvPr/>
        </p:nvSpPr>
        <p:spPr>
          <a:xfrm>
            <a:off x="571500" y="97914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71500" y="2341512"/>
            <a:ext cx="5334000" cy="2982515"/>
          </a:xfrm>
          <a:prstGeom prst="rect">
            <a:avLst/>
          </a:prstGeom>
        </p:spPr>
      </p:pic>
      <p:pic>
        <p:nvPicPr>
          <p:cNvPr id="4" name="Picture 3" descr="image.png"/>
          <p:cNvPicPr>
            <a:picLocks noChangeAspect="1"/>
          </p:cNvPicPr>
          <p:nvPr/>
        </p:nvPicPr>
        <p:blipFill>
          <a:blip r:embed="rId4"/>
          <a:stretch>
            <a:fillRect/>
          </a:stretch>
        </p:blipFill>
        <p:spPr>
          <a:xfrm>
            <a:off x="771525" y="4341762"/>
            <a:ext cx="4933950" cy="591740"/>
          </a:xfrm>
          <a:prstGeom prst="rect">
            <a:avLst/>
          </a:prstGeom>
        </p:spPr>
      </p:pic>
      <p:sp>
        <p:nvSpPr>
          <p:cNvPr id="5" name="TextBox 4"/>
          <p:cNvSpPr txBox="1"/>
          <p:nvPr/>
        </p:nvSpPr>
        <p:spPr>
          <a:xfrm>
            <a:off x="771525" y="2732037"/>
            <a:ext cx="4933950" cy="1078052"/>
          </a:xfrm>
          <a:prstGeom prst="rect">
            <a:avLst/>
          </a:prstGeom>
          <a:noFill/>
        </p:spPr>
        <p:txBody>
          <a:bodyPr wrap="square" lIns="0" tIns="0" rIns="0" bIns="0" anchor="t">
            <a:spAutoFit/>
          </a:bodyPr>
          <a:lstStyle/>
          <a:p>
            <a:pPr algn="ctr">
              <a:lnSpc>
                <a:spcPts val="8250"/>
              </a:lnSpc>
            </a:pPr>
            <a:r>
              <a:rPr sz="8250" b="1" i="0" u="none" dirty="0">
                <a:solidFill>
                  <a:schemeClr val="accent5">
                    <a:lumMod val="75000"/>
                  </a:schemeClr>
                </a:solidFill>
                <a:latin typeface="Merriweather"/>
              </a:rPr>
              <a:t>1.50</a:t>
            </a:r>
          </a:p>
        </p:txBody>
      </p:sp>
      <p:sp>
        <p:nvSpPr>
          <p:cNvPr id="6" name="TextBox 5"/>
          <p:cNvSpPr txBox="1"/>
          <p:nvPr/>
        </p:nvSpPr>
        <p:spPr>
          <a:xfrm>
            <a:off x="771525" y="3875037"/>
            <a:ext cx="4933950" cy="253916"/>
          </a:xfrm>
          <a:prstGeom prst="rect">
            <a:avLst/>
          </a:prstGeom>
          <a:noFill/>
        </p:spPr>
        <p:txBody>
          <a:bodyPr wrap="square" lIns="0" tIns="0" rIns="0" bIns="0" anchor="t">
            <a:spAutoFit/>
          </a:bodyPr>
          <a:lstStyle/>
          <a:p>
            <a:pPr algn="ctr"/>
            <a:r>
              <a:rPr sz="1650" b="1" i="0" u="none" dirty="0">
                <a:solidFill>
                  <a:schemeClr val="accent5">
                    <a:lumMod val="75000"/>
                  </a:schemeClr>
                </a:solidFill>
                <a:latin typeface="DM Sans"/>
              </a:rPr>
              <a:t>Minimum Factor of Safety (</a:t>
            </a:r>
            <a:r>
              <a:rPr sz="1650" b="1" i="0" u="none" dirty="0" err="1">
                <a:solidFill>
                  <a:schemeClr val="accent5">
                    <a:lumMod val="75000"/>
                  </a:schemeClr>
                </a:solidFill>
                <a:latin typeface="DM Sans"/>
              </a:rPr>
              <a:t>FoS</a:t>
            </a:r>
            <a:r>
              <a:rPr sz="1650" b="1" i="0" u="none" dirty="0">
                <a:solidFill>
                  <a:schemeClr val="accent5">
                    <a:lumMod val="75000"/>
                  </a:schemeClr>
                </a:solidFill>
                <a:latin typeface="DM Sans"/>
              </a:rPr>
              <a:t>)</a:t>
            </a:r>
          </a:p>
        </p:txBody>
      </p:sp>
      <p:sp>
        <p:nvSpPr>
          <p:cNvPr id="7" name="TextBox 6"/>
          <p:cNvSpPr txBox="1"/>
          <p:nvPr/>
        </p:nvSpPr>
        <p:spPr>
          <a:xfrm>
            <a:off x="6286500" y="2341512"/>
            <a:ext cx="5600700" cy="253916"/>
          </a:xfrm>
          <a:prstGeom prst="rect">
            <a:avLst/>
          </a:prstGeom>
          <a:noFill/>
        </p:spPr>
        <p:txBody>
          <a:bodyPr wrap="square" lIns="0" tIns="0" rIns="0" bIns="0" anchor="t">
            <a:spAutoFit/>
          </a:bodyPr>
          <a:lstStyle/>
          <a:p>
            <a:pPr algn="l"/>
            <a:r>
              <a:rPr sz="1650" b="1" i="0" u="none" dirty="0">
                <a:solidFill>
                  <a:schemeClr val="accent5">
                    <a:lumMod val="75000"/>
                  </a:schemeClr>
                </a:solidFill>
                <a:latin typeface="Merriweather"/>
              </a:rPr>
              <a:t>Piezometric Level Control</a:t>
            </a:r>
          </a:p>
        </p:txBody>
      </p:sp>
      <p:sp>
        <p:nvSpPr>
          <p:cNvPr id="8" name="TextBox 7"/>
          <p:cNvSpPr txBox="1"/>
          <p:nvPr/>
        </p:nvSpPr>
        <p:spPr>
          <a:xfrm>
            <a:off x="6286500" y="2703462"/>
            <a:ext cx="5334000" cy="752772"/>
          </a:xfrm>
          <a:prstGeom prst="rect">
            <a:avLst/>
          </a:prstGeom>
          <a:noFill/>
        </p:spPr>
        <p:txBody>
          <a:bodyPr wrap="square" lIns="0" tIns="0" rIns="0" bIns="0" anchor="t">
            <a:spAutoFit/>
          </a:bodyPr>
          <a:lstStyle/>
          <a:p>
            <a:pPr algn="l">
              <a:lnSpc>
                <a:spcPts val="1976"/>
              </a:lnSpc>
            </a:pPr>
            <a:r>
              <a:rPr sz="1275" b="0" i="0" u="none" dirty="0">
                <a:solidFill>
                  <a:schemeClr val="bg1"/>
                </a:solidFill>
                <a:latin typeface="DM Sans"/>
              </a:rPr>
              <a:t>Internal seepage management is the single most critical factor in slope stability. The phreatic line must be kept deep within the embankment shell.</a:t>
            </a:r>
          </a:p>
        </p:txBody>
      </p:sp>
      <p:sp>
        <p:nvSpPr>
          <p:cNvPr id="9" name="TextBox 8"/>
          <p:cNvSpPr txBox="1"/>
          <p:nvPr/>
        </p:nvSpPr>
        <p:spPr>
          <a:xfrm>
            <a:off x="6286500" y="3570535"/>
            <a:ext cx="5334000" cy="1003696"/>
          </a:xfrm>
          <a:prstGeom prst="rect">
            <a:avLst/>
          </a:prstGeom>
          <a:noFill/>
        </p:spPr>
        <p:txBody>
          <a:bodyPr wrap="square" lIns="0" tIns="0" rIns="0" bIns="0" anchor="t">
            <a:spAutoFit/>
          </a:bodyPr>
          <a:lstStyle/>
          <a:p>
            <a:pPr algn="l">
              <a:lnSpc>
                <a:spcPts val="1976"/>
              </a:lnSpc>
            </a:pPr>
            <a:r>
              <a:rPr sz="1275" b="0" i="0" u="none" dirty="0">
                <a:solidFill>
                  <a:schemeClr val="bg1"/>
                </a:solidFill>
                <a:latin typeface="DM Sans"/>
              </a:rPr>
              <a:t>High pore-water pressures reduce effective normal stress along potential slip surfaces, leading to slope failure or piping erosion. Basal blanket drains and chimney drains are installed to safely discharge seepage water.</a:t>
            </a:r>
          </a:p>
        </p:txBody>
      </p:sp>
      <p:pic>
        <p:nvPicPr>
          <p:cNvPr id="10" name="Picture 9" descr="image.png"/>
          <p:cNvPicPr>
            <a:picLocks noChangeAspect="1"/>
          </p:cNvPicPr>
          <p:nvPr/>
        </p:nvPicPr>
        <p:blipFill>
          <a:blip r:embed="rId5"/>
          <a:stretch>
            <a:fillRect/>
          </a:stretch>
        </p:blipFill>
        <p:spPr>
          <a:xfrm>
            <a:off x="2719685" y="4501008"/>
            <a:ext cx="1037480" cy="280094"/>
          </a:xfrm>
          <a:prstGeom prst="rect">
            <a:avLst/>
          </a:prstGeom>
        </p:spPr>
      </p:pic>
      <p:sp>
        <p:nvSpPr>
          <p:cNvPr id="11" name="TextBox 10"/>
          <p:cNvSpPr txBox="1"/>
          <p:nvPr/>
        </p:nvSpPr>
        <p:spPr>
          <a:xfrm>
            <a:off x="571500" y="476250"/>
            <a:ext cx="11601450" cy="384592"/>
          </a:xfrm>
          <a:prstGeom prst="rect">
            <a:avLst/>
          </a:prstGeom>
          <a:noFill/>
        </p:spPr>
        <p:txBody>
          <a:bodyPr wrap="square" lIns="0" tIns="0" rIns="0" bIns="0" anchor="t">
            <a:spAutoFit/>
          </a:bodyPr>
          <a:lstStyle/>
          <a:p>
            <a:pPr algn="l">
              <a:lnSpc>
                <a:spcPts val="3060"/>
              </a:lnSpc>
            </a:pPr>
            <a:r>
              <a:rPr sz="2550" b="1" i="0" u="none" dirty="0">
                <a:solidFill>
                  <a:schemeClr val="accent6">
                    <a:lumMod val="75000"/>
                  </a:schemeClr>
                </a:solidFill>
                <a:latin typeface="Merriweather"/>
              </a:rPr>
              <a:t>Phreatic Surface &amp; Seepage</a:t>
            </a:r>
          </a:p>
        </p:txBody>
      </p:sp>
      <p:sp>
        <p:nvSpPr>
          <p:cNvPr id="12" name="Rectangle 11"/>
          <p:cNvSpPr/>
          <p:nvPr/>
        </p:nvSpPr>
        <p:spPr>
          <a:xfrm>
            <a:off x="571500" y="97914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p:nvSpPr>
        <p:spPr>
          <a:xfrm>
            <a:off x="1000125" y="2518320"/>
            <a:ext cx="10620375" cy="485775"/>
          </a:xfrm>
          <a:prstGeom prst="rect">
            <a:avLst/>
          </a:prstGeom>
          <a:noFill/>
        </p:spPr>
        <p:txBody>
          <a:bodyPr wrap="square" lIns="0" tIns="0" rIns="0" bIns="0" anchor="t">
            <a:spAutoFit/>
          </a:bodyPr>
          <a:lstStyle/>
          <a:p>
            <a:pPr algn="l">
              <a:lnSpc>
                <a:spcPts val="1912"/>
              </a:lnSpc>
            </a:pPr>
            <a:r>
              <a:rPr sz="1275" b="1" i="0" u="none" dirty="0">
                <a:solidFill>
                  <a:schemeClr val="accent5">
                    <a:lumMod val="75000"/>
                  </a:schemeClr>
                </a:solidFill>
                <a:latin typeface="DM Sans"/>
              </a:rPr>
              <a:t>Vibrating Wire Piezometers:</a:t>
            </a:r>
            <a:r>
              <a:rPr sz="1275" b="0" i="0" u="none" dirty="0">
                <a:solidFill>
                  <a:schemeClr val="accent5">
                    <a:lumMod val="75000"/>
                  </a:schemeClr>
                </a:solidFill>
                <a:latin typeface="DM Sans"/>
              </a:rPr>
              <a:t> </a:t>
            </a:r>
            <a:r>
              <a:rPr sz="1275" b="0" i="0" u="none" dirty="0">
                <a:solidFill>
                  <a:schemeClr val="bg1"/>
                </a:solidFill>
                <a:latin typeface="DM Sans"/>
              </a:rPr>
              <a:t>Installed at multiple vertical and horizontal grid points to provide real-time monitoring of internal pore water pressures and water table elevations.</a:t>
            </a:r>
          </a:p>
        </p:txBody>
      </p:sp>
      <p:sp>
        <p:nvSpPr>
          <p:cNvPr id="4" name="TextBox 3"/>
          <p:cNvSpPr txBox="1"/>
          <p:nvPr/>
        </p:nvSpPr>
        <p:spPr>
          <a:xfrm>
            <a:off x="1000125" y="3175545"/>
            <a:ext cx="10620375" cy="485775"/>
          </a:xfrm>
          <a:prstGeom prst="rect">
            <a:avLst/>
          </a:prstGeom>
          <a:noFill/>
        </p:spPr>
        <p:txBody>
          <a:bodyPr wrap="square" lIns="0" tIns="0" rIns="0" bIns="0" anchor="t">
            <a:spAutoFit/>
          </a:bodyPr>
          <a:lstStyle/>
          <a:p>
            <a:pPr algn="l">
              <a:lnSpc>
                <a:spcPts val="1912"/>
              </a:lnSpc>
            </a:pPr>
            <a:r>
              <a:rPr sz="1275" b="1" i="0" u="none" dirty="0">
                <a:solidFill>
                  <a:schemeClr val="accent5">
                    <a:lumMod val="75000"/>
                  </a:schemeClr>
                </a:solidFill>
                <a:latin typeface="DM Sans"/>
              </a:rPr>
              <a:t>Inclinometers &amp; Extensometers:</a:t>
            </a:r>
            <a:r>
              <a:rPr sz="1275" b="0" i="0" u="none" dirty="0">
                <a:solidFill>
                  <a:schemeClr val="accent5">
                    <a:lumMod val="75000"/>
                  </a:schemeClr>
                </a:solidFill>
                <a:latin typeface="DM Sans"/>
              </a:rPr>
              <a:t> </a:t>
            </a:r>
            <a:r>
              <a:rPr sz="1275" b="0" i="0" u="none" dirty="0">
                <a:solidFill>
                  <a:schemeClr val="bg1"/>
                </a:solidFill>
                <a:latin typeface="DM Sans"/>
              </a:rPr>
              <a:t>Measure lateral subsurface deformation and settlement within the embankment zones to detect early creep or shearing signs.</a:t>
            </a:r>
          </a:p>
        </p:txBody>
      </p:sp>
      <p:sp>
        <p:nvSpPr>
          <p:cNvPr id="5" name="TextBox 4"/>
          <p:cNvSpPr txBox="1"/>
          <p:nvPr/>
        </p:nvSpPr>
        <p:spPr>
          <a:xfrm>
            <a:off x="1000125" y="3832770"/>
            <a:ext cx="10620375" cy="485775"/>
          </a:xfrm>
          <a:prstGeom prst="rect">
            <a:avLst/>
          </a:prstGeom>
          <a:noFill/>
        </p:spPr>
        <p:txBody>
          <a:bodyPr wrap="square" lIns="0" tIns="0" rIns="0" bIns="0" anchor="t">
            <a:spAutoFit/>
          </a:bodyPr>
          <a:lstStyle/>
          <a:p>
            <a:pPr algn="l">
              <a:lnSpc>
                <a:spcPts val="1912"/>
              </a:lnSpc>
            </a:pPr>
            <a:r>
              <a:rPr sz="1275" b="1" i="0" u="none" dirty="0">
                <a:solidFill>
                  <a:schemeClr val="accent5">
                    <a:lumMod val="75000"/>
                  </a:schemeClr>
                </a:solidFill>
                <a:latin typeface="DM Sans"/>
              </a:rPr>
              <a:t>InSAR &amp; GNSS Automated Surveys:</a:t>
            </a:r>
            <a:r>
              <a:rPr sz="1275" b="0" i="0" u="none" dirty="0">
                <a:solidFill>
                  <a:schemeClr val="accent5">
                    <a:lumMod val="75000"/>
                  </a:schemeClr>
                </a:solidFill>
                <a:latin typeface="DM Sans"/>
              </a:rPr>
              <a:t> </a:t>
            </a:r>
            <a:r>
              <a:rPr sz="1275" b="0" i="0" u="none" dirty="0">
                <a:solidFill>
                  <a:schemeClr val="bg1"/>
                </a:solidFill>
                <a:latin typeface="DM Sans"/>
              </a:rPr>
              <a:t>Millimeter-accurate satellite radar interferometry and continuous GPS station arrays track surface movement across the entire impoundment.</a:t>
            </a:r>
          </a:p>
        </p:txBody>
      </p:sp>
      <p:sp>
        <p:nvSpPr>
          <p:cNvPr id="6" name="TextBox 5"/>
          <p:cNvSpPr txBox="1"/>
          <p:nvPr/>
        </p:nvSpPr>
        <p:spPr>
          <a:xfrm>
            <a:off x="1000125" y="4489995"/>
            <a:ext cx="10620375" cy="485775"/>
          </a:xfrm>
          <a:prstGeom prst="rect">
            <a:avLst/>
          </a:prstGeom>
          <a:noFill/>
        </p:spPr>
        <p:txBody>
          <a:bodyPr wrap="square" lIns="0" tIns="0" rIns="0" bIns="0" anchor="t">
            <a:spAutoFit/>
          </a:bodyPr>
          <a:lstStyle/>
          <a:p>
            <a:pPr algn="l">
              <a:lnSpc>
                <a:spcPts val="1912"/>
              </a:lnSpc>
            </a:pPr>
            <a:r>
              <a:rPr sz="1275" b="1" i="0" u="none" dirty="0">
                <a:solidFill>
                  <a:schemeClr val="accent5">
                    <a:lumMod val="75000"/>
                  </a:schemeClr>
                </a:solidFill>
                <a:latin typeface="DM Sans"/>
              </a:rPr>
              <a:t>Seepage Flow Weirs:</a:t>
            </a:r>
            <a:r>
              <a:rPr sz="1275" b="0" i="0" u="none" dirty="0">
                <a:solidFill>
                  <a:schemeClr val="accent5">
                    <a:lumMod val="75000"/>
                  </a:schemeClr>
                </a:solidFill>
                <a:latin typeface="DM Sans"/>
              </a:rPr>
              <a:t> </a:t>
            </a:r>
            <a:r>
              <a:rPr sz="1275" b="0" i="0" u="none" dirty="0">
                <a:solidFill>
                  <a:schemeClr val="bg1"/>
                </a:solidFill>
                <a:latin typeface="DM Sans"/>
              </a:rPr>
              <a:t>V-notch flumes measure turbidity and volumetric flow rate of drained water to verify filter integrity and catch piping </a:t>
            </a:r>
            <a:r>
              <a:rPr sz="1275" b="0" i="0" u="none" dirty="0" err="1">
                <a:solidFill>
                  <a:schemeClr val="bg1"/>
                </a:solidFill>
                <a:latin typeface="DM Sans"/>
              </a:rPr>
              <a:t>piping</a:t>
            </a:r>
            <a:r>
              <a:rPr sz="1275" b="0" i="0" u="none" dirty="0">
                <a:solidFill>
                  <a:schemeClr val="bg1"/>
                </a:solidFill>
                <a:latin typeface="DM Sans"/>
              </a:rPr>
              <a:t> early.</a:t>
            </a:r>
          </a:p>
        </p:txBody>
      </p:sp>
      <p:pic>
        <p:nvPicPr>
          <p:cNvPr id="7" name="Picture 6" descr="image.png"/>
          <p:cNvPicPr>
            <a:picLocks noChangeAspect="1"/>
          </p:cNvPicPr>
          <p:nvPr/>
        </p:nvPicPr>
        <p:blipFill>
          <a:blip r:embed="rId3"/>
          <a:stretch>
            <a:fillRect/>
          </a:stretch>
        </p:blipFill>
        <p:spPr>
          <a:xfrm>
            <a:off x="571500" y="2532608"/>
            <a:ext cx="209550" cy="219075"/>
          </a:xfrm>
          <a:prstGeom prst="rect">
            <a:avLst/>
          </a:prstGeom>
        </p:spPr>
      </p:pic>
      <p:pic>
        <p:nvPicPr>
          <p:cNvPr id="8" name="Picture 7" descr="image.png"/>
          <p:cNvPicPr>
            <a:picLocks noChangeAspect="1"/>
          </p:cNvPicPr>
          <p:nvPr/>
        </p:nvPicPr>
        <p:blipFill>
          <a:blip r:embed="rId4"/>
          <a:stretch>
            <a:fillRect/>
          </a:stretch>
        </p:blipFill>
        <p:spPr>
          <a:xfrm>
            <a:off x="571500" y="3189833"/>
            <a:ext cx="209550" cy="219075"/>
          </a:xfrm>
          <a:prstGeom prst="rect">
            <a:avLst/>
          </a:prstGeom>
        </p:spPr>
      </p:pic>
      <p:pic>
        <p:nvPicPr>
          <p:cNvPr id="9" name="Picture 8" descr="image.png"/>
          <p:cNvPicPr>
            <a:picLocks noChangeAspect="1"/>
          </p:cNvPicPr>
          <p:nvPr/>
        </p:nvPicPr>
        <p:blipFill>
          <a:blip r:embed="rId5"/>
          <a:stretch>
            <a:fillRect/>
          </a:stretch>
        </p:blipFill>
        <p:spPr>
          <a:xfrm>
            <a:off x="571500" y="3847058"/>
            <a:ext cx="209550" cy="219075"/>
          </a:xfrm>
          <a:prstGeom prst="rect">
            <a:avLst/>
          </a:prstGeom>
        </p:spPr>
      </p:pic>
      <p:pic>
        <p:nvPicPr>
          <p:cNvPr id="10" name="Picture 9" descr="image.png"/>
          <p:cNvPicPr>
            <a:picLocks noChangeAspect="1"/>
          </p:cNvPicPr>
          <p:nvPr/>
        </p:nvPicPr>
        <p:blipFill>
          <a:blip r:embed="rId6"/>
          <a:stretch>
            <a:fillRect/>
          </a:stretch>
        </p:blipFill>
        <p:spPr>
          <a:xfrm>
            <a:off x="571500" y="4504283"/>
            <a:ext cx="238125" cy="219075"/>
          </a:xfrm>
          <a:prstGeom prst="rect">
            <a:avLst/>
          </a:prstGeom>
        </p:spPr>
      </p:pic>
      <p:sp>
        <p:nvSpPr>
          <p:cNvPr id="11" name="TextBox 10"/>
          <p:cNvSpPr txBox="1"/>
          <p:nvPr/>
        </p:nvSpPr>
        <p:spPr>
          <a:xfrm>
            <a:off x="571500" y="476250"/>
            <a:ext cx="11601450" cy="384592"/>
          </a:xfrm>
          <a:prstGeom prst="rect">
            <a:avLst/>
          </a:prstGeom>
          <a:noFill/>
        </p:spPr>
        <p:txBody>
          <a:bodyPr wrap="square" lIns="0" tIns="0" rIns="0" bIns="0" anchor="t">
            <a:spAutoFit/>
          </a:bodyPr>
          <a:lstStyle/>
          <a:p>
            <a:pPr algn="l">
              <a:lnSpc>
                <a:spcPts val="3060"/>
              </a:lnSpc>
            </a:pPr>
            <a:r>
              <a:rPr sz="2550" b="1" i="0" u="none" dirty="0">
                <a:solidFill>
                  <a:schemeClr val="accent6">
                    <a:lumMod val="75000"/>
                  </a:schemeClr>
                </a:solidFill>
                <a:latin typeface="Merriweather"/>
              </a:rPr>
              <a:t>Instrumentation &amp; Monitoring</a:t>
            </a:r>
          </a:p>
        </p:txBody>
      </p:sp>
      <p:sp>
        <p:nvSpPr>
          <p:cNvPr id="12" name="Rectangle 11"/>
          <p:cNvSpPr/>
          <p:nvPr/>
        </p:nvSpPr>
        <p:spPr>
          <a:xfrm>
            <a:off x="571500" y="97914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71500" y="2249239"/>
            <a:ext cx="11049000" cy="3167211"/>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1142472151"/>
              </p:ext>
            </p:extLst>
          </p:nvPr>
        </p:nvGraphicFramePr>
        <p:xfrm>
          <a:off x="581025" y="2258764"/>
          <a:ext cx="11029948" cy="3148161"/>
        </p:xfrm>
        <a:graphic>
          <a:graphicData uri="http://schemas.openxmlformats.org/drawingml/2006/table">
            <a:tbl>
              <a:tblPr firstRow="1" bandRow="1">
                <a:tableStyleId>{5C22544A-7EE6-4342-B048-85BDC9FD1C3A}</a:tableStyleId>
              </a:tblPr>
              <a:tblGrid>
                <a:gridCol w="2781002">
                  <a:extLst>
                    <a:ext uri="{9D8B030D-6E8A-4147-A177-3AD203B41FA5}">
                      <a16:colId xmlns:a16="http://schemas.microsoft.com/office/drawing/2014/main" val="20000"/>
                    </a:ext>
                  </a:extLst>
                </a:gridCol>
                <a:gridCol w="2991445">
                  <a:extLst>
                    <a:ext uri="{9D8B030D-6E8A-4147-A177-3AD203B41FA5}">
                      <a16:colId xmlns:a16="http://schemas.microsoft.com/office/drawing/2014/main" val="20001"/>
                    </a:ext>
                  </a:extLst>
                </a:gridCol>
                <a:gridCol w="2398662">
                  <a:extLst>
                    <a:ext uri="{9D8B030D-6E8A-4147-A177-3AD203B41FA5}">
                      <a16:colId xmlns:a16="http://schemas.microsoft.com/office/drawing/2014/main" val="20002"/>
                    </a:ext>
                  </a:extLst>
                </a:gridCol>
                <a:gridCol w="2858839">
                  <a:extLst>
                    <a:ext uri="{9D8B030D-6E8A-4147-A177-3AD203B41FA5}">
                      <a16:colId xmlns:a16="http://schemas.microsoft.com/office/drawing/2014/main" val="20003"/>
                    </a:ext>
                  </a:extLst>
                </a:gridCol>
              </a:tblGrid>
              <a:tr h="524693">
                <a:tc>
                  <a:txBody>
                    <a:bodyPr/>
                    <a:lstStyle/>
                    <a:p>
                      <a:pPr algn="l"/>
                      <a:r>
                        <a:rPr sz="1200" b="1" i="0" u="none">
                          <a:solidFill>
                            <a:srgbClr val="FFFFFF"/>
                          </a:solidFill>
                          <a:latin typeface="DM Sans"/>
                        </a:rPr>
                        <a:t>Design Criterion</a:t>
                      </a:r>
                    </a:p>
                  </a:txBody>
                  <a:tcPr marL="63500" marR="63500" marT="25400" marB="25400" anchor="ctr">
                    <a:lnL>
                      <a:noFill/>
                    </a:lnL>
                    <a:lnR>
                      <a:noFill/>
                    </a:lnR>
                    <a:lnT>
                      <a:noFill/>
                    </a:lnT>
                    <a:lnB>
                      <a:noFill/>
                    </a:lnB>
                    <a:solidFill>
                      <a:srgbClr val="0F172A"/>
                    </a:solidFill>
                  </a:tcPr>
                </a:tc>
                <a:tc>
                  <a:txBody>
                    <a:bodyPr/>
                    <a:lstStyle/>
                    <a:p>
                      <a:pPr algn="l"/>
                      <a:r>
                        <a:rPr sz="1200" b="1" i="0" u="none">
                          <a:solidFill>
                            <a:srgbClr val="FFFFFF"/>
                          </a:solidFill>
                          <a:latin typeface="DM Sans"/>
                        </a:rPr>
                        <a:t>Upstream Method</a:t>
                      </a:r>
                    </a:p>
                  </a:txBody>
                  <a:tcPr marL="63500" marR="63500" marT="25400" marB="25400" anchor="ctr">
                    <a:lnL>
                      <a:noFill/>
                    </a:lnL>
                    <a:lnR>
                      <a:noFill/>
                    </a:lnR>
                    <a:lnT>
                      <a:noFill/>
                    </a:lnT>
                    <a:lnB>
                      <a:noFill/>
                    </a:lnB>
                    <a:solidFill>
                      <a:srgbClr val="0F172A"/>
                    </a:solidFill>
                  </a:tcPr>
                </a:tc>
                <a:tc>
                  <a:txBody>
                    <a:bodyPr/>
                    <a:lstStyle/>
                    <a:p>
                      <a:pPr algn="l"/>
                      <a:r>
                        <a:rPr sz="1200" b="1" i="0" u="none">
                          <a:solidFill>
                            <a:srgbClr val="FFFFFF"/>
                          </a:solidFill>
                          <a:latin typeface="DM Sans"/>
                        </a:rPr>
                        <a:t>Centerline Method</a:t>
                      </a:r>
                    </a:p>
                  </a:txBody>
                  <a:tcPr marL="63500" marR="63500" marT="25400" marB="25400" anchor="ctr">
                    <a:lnL>
                      <a:noFill/>
                    </a:lnL>
                    <a:lnR>
                      <a:noFill/>
                    </a:lnR>
                    <a:lnT>
                      <a:noFill/>
                    </a:lnT>
                    <a:lnB>
                      <a:noFill/>
                    </a:lnB>
                    <a:solidFill>
                      <a:srgbClr val="0F172A"/>
                    </a:solidFill>
                  </a:tcPr>
                </a:tc>
                <a:tc>
                  <a:txBody>
                    <a:bodyPr/>
                    <a:lstStyle/>
                    <a:p>
                      <a:pPr algn="l"/>
                      <a:r>
                        <a:rPr sz="1200" b="1" i="0" u="none">
                          <a:solidFill>
                            <a:srgbClr val="FFFFFF"/>
                          </a:solidFill>
                          <a:latin typeface="DM Sans"/>
                        </a:rPr>
                        <a:t>Downstream Method</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524693">
                <a:tc>
                  <a:txBody>
                    <a:bodyPr/>
                    <a:lstStyle/>
                    <a:p>
                      <a:pPr algn="l"/>
                      <a:r>
                        <a:rPr sz="1275" b="1" i="0" u="none" dirty="0">
                          <a:solidFill>
                            <a:schemeClr val="bg1"/>
                          </a:solidFill>
                          <a:latin typeface="DM Sans"/>
                        </a:rPr>
                        <a:t>Fill Volume Needed</a:t>
                      </a:r>
                    </a:p>
                  </a:txBody>
                  <a:tcPr marL="63500" marR="63500" marT="25400" marB="25400" anchor="ctr">
                    <a:lnL>
                      <a:noFill/>
                    </a:lnL>
                    <a:lnR>
                      <a:noFill/>
                    </a:lnR>
                    <a:lnT>
                      <a:noFill/>
                    </a:lnT>
                    <a:lnB>
                      <a:noFill/>
                    </a:lnB>
                    <a:noFill/>
                  </a:tcPr>
                </a:tc>
                <a:tc>
                  <a:txBody>
                    <a:bodyPr/>
                    <a:lstStyle/>
                    <a:p>
                      <a:pPr algn="l"/>
                      <a:r>
                        <a:rPr sz="1275" b="0" i="0" u="none" dirty="0">
                          <a:solidFill>
                            <a:schemeClr val="bg1"/>
                          </a:solidFill>
                          <a:latin typeface="DM Sans"/>
                        </a:rPr>
                        <a:t>Very Low (Most Economical)</a:t>
                      </a:r>
                    </a:p>
                  </a:txBody>
                  <a:tcPr marL="63500" marR="63500" marT="25400" marB="25400" anchor="ctr">
                    <a:lnL>
                      <a:noFill/>
                    </a:lnL>
                    <a:lnR>
                      <a:noFill/>
                    </a:lnR>
                    <a:lnT>
                      <a:noFill/>
                    </a:lnT>
                    <a:lnB>
                      <a:noFill/>
                    </a:lnB>
                    <a:noFill/>
                  </a:tcPr>
                </a:tc>
                <a:tc>
                  <a:txBody>
                    <a:bodyPr/>
                    <a:lstStyle/>
                    <a:p>
                      <a:pPr algn="l"/>
                      <a:r>
                        <a:rPr sz="1275" b="0" i="0" u="none" dirty="0">
                          <a:solidFill>
                            <a:schemeClr val="bg1"/>
                          </a:solidFill>
                          <a:latin typeface="DM Sans"/>
                        </a:rPr>
                        <a:t>Moderate</a:t>
                      </a:r>
                    </a:p>
                  </a:txBody>
                  <a:tcPr marL="63500" marR="63500" marT="25400" marB="25400" anchor="ctr">
                    <a:lnL>
                      <a:noFill/>
                    </a:lnL>
                    <a:lnR>
                      <a:noFill/>
                    </a:lnR>
                    <a:lnT>
                      <a:noFill/>
                    </a:lnT>
                    <a:lnB>
                      <a:noFill/>
                    </a:lnB>
                    <a:noFill/>
                  </a:tcPr>
                </a:tc>
                <a:tc>
                  <a:txBody>
                    <a:bodyPr/>
                    <a:lstStyle/>
                    <a:p>
                      <a:pPr algn="l"/>
                      <a:r>
                        <a:rPr sz="1275" b="0" i="0" u="none" dirty="0">
                          <a:solidFill>
                            <a:schemeClr val="bg1"/>
                          </a:solidFill>
                          <a:latin typeface="DM Sans"/>
                        </a:rPr>
                        <a:t>High (Largest Footprint)</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524693">
                <a:tc>
                  <a:txBody>
                    <a:bodyPr/>
                    <a:lstStyle/>
                    <a:p>
                      <a:pPr algn="l"/>
                      <a:r>
                        <a:rPr sz="1275" b="1" i="0" u="none" dirty="0">
                          <a:solidFill>
                            <a:schemeClr val="accent6">
                              <a:lumMod val="75000"/>
                            </a:schemeClr>
                          </a:solidFill>
                          <a:latin typeface="DM Sans"/>
                        </a:rPr>
                        <a:t>Seismic Liquefaction Risk</a:t>
                      </a:r>
                    </a:p>
                  </a:txBody>
                  <a:tcPr marL="63500" marR="63500" marT="25400" marB="25400" anchor="ctr">
                    <a:lnL>
                      <a:noFill/>
                    </a:lnL>
                    <a:lnR>
                      <a:noFill/>
                    </a:lnR>
                    <a:lnT>
                      <a:noFill/>
                    </a:lnT>
                    <a:lnB>
                      <a:noFill/>
                    </a:lnB>
                    <a:solidFill>
                      <a:srgbClr val="F8FAFC"/>
                    </a:solidFill>
                  </a:tcPr>
                </a:tc>
                <a:tc>
                  <a:txBody>
                    <a:bodyPr/>
                    <a:lstStyle/>
                    <a:p>
                      <a:pPr algn="l"/>
                      <a:r>
                        <a:rPr sz="1275" b="1" i="0" u="none" dirty="0">
                          <a:solidFill>
                            <a:schemeClr val="accent6">
                              <a:lumMod val="75000"/>
                            </a:schemeClr>
                          </a:solidFill>
                          <a:latin typeface="DM Sans"/>
                        </a:rPr>
                        <a:t>High / Vulnerable</a:t>
                      </a:r>
                    </a:p>
                  </a:txBody>
                  <a:tcPr marL="63500" marR="63500" marT="25400" marB="25400" anchor="ctr">
                    <a:lnL>
                      <a:noFill/>
                    </a:lnL>
                    <a:lnR>
                      <a:noFill/>
                    </a:lnR>
                    <a:lnT>
                      <a:noFill/>
                    </a:lnT>
                    <a:lnB>
                      <a:noFill/>
                    </a:lnB>
                    <a:solidFill>
                      <a:srgbClr val="F8FAFC"/>
                    </a:solidFill>
                  </a:tcPr>
                </a:tc>
                <a:tc>
                  <a:txBody>
                    <a:bodyPr/>
                    <a:lstStyle/>
                    <a:p>
                      <a:pPr algn="l"/>
                      <a:r>
                        <a:rPr sz="1275" b="1" i="0" u="none" dirty="0">
                          <a:solidFill>
                            <a:schemeClr val="accent6">
                              <a:lumMod val="75000"/>
                            </a:schemeClr>
                          </a:solidFill>
                          <a:latin typeface="DM Sans"/>
                        </a:rPr>
                        <a:t>Moderate Resistance</a:t>
                      </a:r>
                    </a:p>
                  </a:txBody>
                  <a:tcPr marL="63500" marR="63500" marT="25400" marB="25400" anchor="ctr">
                    <a:lnL>
                      <a:noFill/>
                    </a:lnL>
                    <a:lnR>
                      <a:noFill/>
                    </a:lnR>
                    <a:lnT>
                      <a:noFill/>
                    </a:lnT>
                    <a:lnB>
                      <a:noFill/>
                    </a:lnB>
                    <a:solidFill>
                      <a:srgbClr val="F8FAFC"/>
                    </a:solidFill>
                  </a:tcPr>
                </a:tc>
                <a:tc>
                  <a:txBody>
                    <a:bodyPr/>
                    <a:lstStyle/>
                    <a:p>
                      <a:pPr algn="l"/>
                      <a:r>
                        <a:rPr sz="1275" b="1" i="0" u="none" dirty="0">
                          <a:solidFill>
                            <a:schemeClr val="accent6">
                              <a:lumMod val="75000"/>
                            </a:schemeClr>
                          </a:solidFill>
                          <a:latin typeface="DM Sans"/>
                        </a:rPr>
                        <a:t>Very Low / High Resistance</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524693">
                <a:tc>
                  <a:txBody>
                    <a:bodyPr/>
                    <a:lstStyle/>
                    <a:p>
                      <a:pPr algn="l"/>
                      <a:r>
                        <a:rPr sz="1275" b="1" i="0" u="none" dirty="0">
                          <a:solidFill>
                            <a:schemeClr val="bg1"/>
                          </a:solidFill>
                          <a:latin typeface="DM Sans"/>
                        </a:rPr>
                        <a:t>Water Storage Capacity</a:t>
                      </a:r>
                    </a:p>
                  </a:txBody>
                  <a:tcPr marL="63500" marR="63500" marT="25400" marB="25400" anchor="ctr">
                    <a:lnL>
                      <a:noFill/>
                    </a:lnL>
                    <a:lnR>
                      <a:noFill/>
                    </a:lnR>
                    <a:lnT>
                      <a:noFill/>
                    </a:lnT>
                    <a:lnB>
                      <a:noFill/>
                    </a:lnB>
                    <a:noFill/>
                  </a:tcPr>
                </a:tc>
                <a:tc>
                  <a:txBody>
                    <a:bodyPr/>
                    <a:lstStyle/>
                    <a:p>
                      <a:pPr algn="l"/>
                      <a:r>
                        <a:rPr sz="1275" b="0" i="0" u="none" dirty="0">
                          <a:solidFill>
                            <a:schemeClr val="bg1"/>
                          </a:solidFill>
                          <a:latin typeface="DM Sans"/>
                        </a:rPr>
                        <a:t>Poor (Requires wide beach)</a:t>
                      </a:r>
                    </a:p>
                  </a:txBody>
                  <a:tcPr marL="63500" marR="63500" marT="25400" marB="25400" anchor="ctr">
                    <a:lnL>
                      <a:noFill/>
                    </a:lnL>
                    <a:lnR>
                      <a:noFill/>
                    </a:lnR>
                    <a:lnT>
                      <a:noFill/>
                    </a:lnT>
                    <a:lnB>
                      <a:noFill/>
                    </a:lnB>
                    <a:noFill/>
                  </a:tcPr>
                </a:tc>
                <a:tc>
                  <a:txBody>
                    <a:bodyPr/>
                    <a:lstStyle/>
                    <a:p>
                      <a:pPr algn="l"/>
                      <a:r>
                        <a:rPr sz="1275" b="0" i="0" u="none" dirty="0">
                          <a:solidFill>
                            <a:schemeClr val="bg1"/>
                          </a:solidFill>
                          <a:latin typeface="DM Sans"/>
                        </a:rPr>
                        <a:t>Fair</a:t>
                      </a:r>
                    </a:p>
                  </a:txBody>
                  <a:tcPr marL="63500" marR="63500" marT="25400" marB="25400" anchor="ctr">
                    <a:lnL>
                      <a:noFill/>
                    </a:lnL>
                    <a:lnR>
                      <a:noFill/>
                    </a:lnR>
                    <a:lnT>
                      <a:noFill/>
                    </a:lnT>
                    <a:lnB>
                      <a:noFill/>
                    </a:lnB>
                    <a:noFill/>
                  </a:tcPr>
                </a:tc>
                <a:tc>
                  <a:txBody>
                    <a:bodyPr/>
                    <a:lstStyle/>
                    <a:p>
                      <a:pPr algn="l"/>
                      <a:r>
                        <a:rPr sz="1275" b="0" i="0" u="none" dirty="0">
                          <a:solidFill>
                            <a:schemeClr val="bg1"/>
                          </a:solidFill>
                          <a:latin typeface="DM Sans"/>
                        </a:rPr>
                        <a:t>Excellent (Can retain pond)</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524693">
                <a:tc>
                  <a:txBody>
                    <a:bodyPr/>
                    <a:lstStyle/>
                    <a:p>
                      <a:pPr algn="l"/>
                      <a:r>
                        <a:rPr sz="1275" b="1" i="0" u="none" dirty="0">
                          <a:solidFill>
                            <a:schemeClr val="accent6">
                              <a:lumMod val="75000"/>
                            </a:schemeClr>
                          </a:solidFill>
                          <a:latin typeface="DM Sans"/>
                        </a:rPr>
                        <a:t>Rate of Raise Constraint</a:t>
                      </a:r>
                    </a:p>
                  </a:txBody>
                  <a:tcPr marL="63500" marR="63500" marT="25400" marB="25400" anchor="ctr">
                    <a:lnL>
                      <a:noFill/>
                    </a:lnL>
                    <a:lnR>
                      <a:noFill/>
                    </a:lnR>
                    <a:lnT>
                      <a:noFill/>
                    </a:lnT>
                    <a:lnB>
                      <a:noFill/>
                    </a:lnB>
                    <a:solidFill>
                      <a:srgbClr val="F8FAFC"/>
                    </a:solidFill>
                  </a:tcPr>
                </a:tc>
                <a:tc>
                  <a:txBody>
                    <a:bodyPr/>
                    <a:lstStyle/>
                    <a:p>
                      <a:pPr algn="l"/>
                      <a:r>
                        <a:rPr sz="1275" b="1" i="0" u="none" dirty="0">
                          <a:solidFill>
                            <a:schemeClr val="accent6">
                              <a:lumMod val="75000"/>
                            </a:schemeClr>
                          </a:solidFill>
                          <a:latin typeface="DM Sans"/>
                        </a:rPr>
                        <a:t>Slow (Requires drying time)</a:t>
                      </a:r>
                    </a:p>
                  </a:txBody>
                  <a:tcPr marL="63500" marR="63500" marT="25400" marB="25400" anchor="ctr">
                    <a:lnL>
                      <a:noFill/>
                    </a:lnL>
                    <a:lnR>
                      <a:noFill/>
                    </a:lnR>
                    <a:lnT>
                      <a:noFill/>
                    </a:lnT>
                    <a:lnB>
                      <a:noFill/>
                    </a:lnB>
                    <a:solidFill>
                      <a:srgbClr val="F8FAFC"/>
                    </a:solidFill>
                  </a:tcPr>
                </a:tc>
                <a:tc>
                  <a:txBody>
                    <a:bodyPr/>
                    <a:lstStyle/>
                    <a:p>
                      <a:pPr algn="l"/>
                      <a:r>
                        <a:rPr sz="1275" b="1" i="0" u="none" dirty="0">
                          <a:solidFill>
                            <a:schemeClr val="accent6">
                              <a:lumMod val="75000"/>
                            </a:schemeClr>
                          </a:solidFill>
                          <a:latin typeface="DM Sans"/>
                        </a:rPr>
                        <a:t>Moderate</a:t>
                      </a:r>
                    </a:p>
                  </a:txBody>
                  <a:tcPr marL="63500" marR="63500" marT="25400" marB="25400" anchor="ctr">
                    <a:lnL>
                      <a:noFill/>
                    </a:lnL>
                    <a:lnR>
                      <a:noFill/>
                    </a:lnR>
                    <a:lnT>
                      <a:noFill/>
                    </a:lnT>
                    <a:lnB>
                      <a:noFill/>
                    </a:lnB>
                    <a:solidFill>
                      <a:srgbClr val="F8FAFC"/>
                    </a:solidFill>
                  </a:tcPr>
                </a:tc>
                <a:tc>
                  <a:txBody>
                    <a:bodyPr/>
                    <a:lstStyle/>
                    <a:p>
                      <a:pPr algn="l"/>
                      <a:r>
                        <a:rPr sz="1275" b="1" i="0" u="none" dirty="0">
                          <a:solidFill>
                            <a:schemeClr val="accent6">
                              <a:lumMod val="75000"/>
                            </a:schemeClr>
                          </a:solidFill>
                          <a:latin typeface="DM Sans"/>
                        </a:rPr>
                        <a:t>Flexible / Fast</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r h="524696">
                <a:tc>
                  <a:txBody>
                    <a:bodyPr/>
                    <a:lstStyle/>
                    <a:p>
                      <a:pPr algn="l"/>
                      <a:r>
                        <a:rPr sz="1275" b="1" i="0" u="none" dirty="0">
                          <a:solidFill>
                            <a:schemeClr val="bg1"/>
                          </a:solidFill>
                          <a:latin typeface="DM Sans"/>
                        </a:rPr>
                        <a:t>Regulatory Acceptance</a:t>
                      </a:r>
                    </a:p>
                  </a:txBody>
                  <a:tcPr marL="63500" marR="63500" marT="25400" marB="25400" anchor="ctr">
                    <a:lnL>
                      <a:noFill/>
                    </a:lnL>
                    <a:lnR>
                      <a:noFill/>
                    </a:lnR>
                    <a:lnT>
                      <a:noFill/>
                    </a:lnT>
                    <a:lnB>
                      <a:noFill/>
                    </a:lnB>
                    <a:noFill/>
                  </a:tcPr>
                </a:tc>
                <a:tc>
                  <a:txBody>
                    <a:bodyPr/>
                    <a:lstStyle/>
                    <a:p>
                      <a:pPr algn="l"/>
                      <a:r>
                        <a:rPr sz="1275" b="0" i="0" u="none" dirty="0">
                          <a:solidFill>
                            <a:schemeClr val="bg1"/>
                          </a:solidFill>
                          <a:latin typeface="DM Sans"/>
                        </a:rPr>
                        <a:t>Banned in many jurisdictions</a:t>
                      </a:r>
                    </a:p>
                  </a:txBody>
                  <a:tcPr marL="63500" marR="63500" marT="25400" marB="25400" anchor="ctr">
                    <a:lnL>
                      <a:noFill/>
                    </a:lnL>
                    <a:lnR>
                      <a:noFill/>
                    </a:lnR>
                    <a:lnT>
                      <a:noFill/>
                    </a:lnT>
                    <a:lnB>
                      <a:noFill/>
                    </a:lnB>
                    <a:noFill/>
                  </a:tcPr>
                </a:tc>
                <a:tc>
                  <a:txBody>
                    <a:bodyPr/>
                    <a:lstStyle/>
                    <a:p>
                      <a:pPr algn="l"/>
                      <a:r>
                        <a:rPr sz="1275" b="0" i="0" u="none" dirty="0">
                          <a:solidFill>
                            <a:schemeClr val="bg1"/>
                          </a:solidFill>
                          <a:latin typeface="DM Sans"/>
                        </a:rPr>
                        <a:t>Conditional Approval</a:t>
                      </a:r>
                    </a:p>
                  </a:txBody>
                  <a:tcPr marL="63500" marR="63500" marT="25400" marB="25400" anchor="ctr">
                    <a:lnL>
                      <a:noFill/>
                    </a:lnL>
                    <a:lnR>
                      <a:noFill/>
                    </a:lnR>
                    <a:lnT>
                      <a:noFill/>
                    </a:lnT>
                    <a:lnB>
                      <a:noFill/>
                    </a:lnB>
                    <a:noFill/>
                  </a:tcPr>
                </a:tc>
                <a:tc>
                  <a:txBody>
                    <a:bodyPr/>
                    <a:lstStyle/>
                    <a:p>
                      <a:pPr algn="l"/>
                      <a:r>
                        <a:rPr sz="1275" b="0" i="0" u="none" dirty="0">
                          <a:solidFill>
                            <a:schemeClr val="bg1"/>
                          </a:solidFill>
                          <a:latin typeface="DM Sans"/>
                        </a:rPr>
                        <a:t>Widely Accepted Globally</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
        <p:nvSpPr>
          <p:cNvPr id="5" name="Rectangle 4"/>
          <p:cNvSpPr/>
          <p:nvPr/>
        </p:nvSpPr>
        <p:spPr>
          <a:xfrm>
            <a:off x="581025" y="2756892"/>
            <a:ext cx="2781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362027" y="2756892"/>
            <a:ext cx="29914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353472" y="2756892"/>
            <a:ext cx="23986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2135" y="2756892"/>
            <a:ext cx="28588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81025" y="3284041"/>
            <a:ext cx="2781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62027" y="3284041"/>
            <a:ext cx="29914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53472" y="3284041"/>
            <a:ext cx="23986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752135" y="3284041"/>
            <a:ext cx="28588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81025" y="3811190"/>
            <a:ext cx="2781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62027" y="3811190"/>
            <a:ext cx="29914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53472" y="3811190"/>
            <a:ext cx="23986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752135" y="3811190"/>
            <a:ext cx="28588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81025" y="4338339"/>
            <a:ext cx="2781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362027" y="4338339"/>
            <a:ext cx="29914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53472" y="4338339"/>
            <a:ext cx="23986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752135" y="4338339"/>
            <a:ext cx="28588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81025" y="4865489"/>
            <a:ext cx="2781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362027" y="4865489"/>
            <a:ext cx="29914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353472" y="4865489"/>
            <a:ext cx="23986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752135" y="4865489"/>
            <a:ext cx="28588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81025" y="5392638"/>
            <a:ext cx="2781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362027" y="5392638"/>
            <a:ext cx="29914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53472" y="5392638"/>
            <a:ext cx="23986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752135" y="5392638"/>
            <a:ext cx="28588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71500" y="476250"/>
            <a:ext cx="11601450" cy="384592"/>
          </a:xfrm>
          <a:prstGeom prst="rect">
            <a:avLst/>
          </a:prstGeom>
          <a:noFill/>
        </p:spPr>
        <p:txBody>
          <a:bodyPr wrap="square" lIns="0" tIns="0" rIns="0" bIns="0" anchor="t">
            <a:spAutoFit/>
          </a:bodyPr>
          <a:lstStyle/>
          <a:p>
            <a:pPr algn="l">
              <a:lnSpc>
                <a:spcPts val="3060"/>
              </a:lnSpc>
            </a:pPr>
            <a:r>
              <a:rPr sz="2550" b="1" i="0" u="none" dirty="0">
                <a:solidFill>
                  <a:schemeClr val="accent6">
                    <a:lumMod val="75000"/>
                  </a:schemeClr>
                </a:solidFill>
                <a:latin typeface="Merriweather"/>
              </a:rPr>
              <a:t>Comparison of Raise Methods</a:t>
            </a:r>
          </a:p>
        </p:txBody>
      </p:sp>
      <p:sp>
        <p:nvSpPr>
          <p:cNvPr id="30" name="Rectangle 29"/>
          <p:cNvSpPr/>
          <p:nvPr/>
        </p:nvSpPr>
        <p:spPr>
          <a:xfrm>
            <a:off x="571500" y="97914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71500" y="2124223"/>
            <a:ext cx="3530649" cy="3417093"/>
          </a:xfrm>
          <a:prstGeom prst="rect">
            <a:avLst/>
          </a:prstGeom>
        </p:spPr>
      </p:pic>
      <p:pic>
        <p:nvPicPr>
          <p:cNvPr id="4" name="Picture 3" descr="image.png"/>
          <p:cNvPicPr>
            <a:picLocks noChangeAspect="1"/>
          </p:cNvPicPr>
          <p:nvPr/>
        </p:nvPicPr>
        <p:blipFill>
          <a:blip r:embed="rId4"/>
          <a:stretch>
            <a:fillRect/>
          </a:stretch>
        </p:blipFill>
        <p:spPr>
          <a:xfrm>
            <a:off x="4330749" y="2124223"/>
            <a:ext cx="3530649" cy="3417093"/>
          </a:xfrm>
          <a:prstGeom prst="rect">
            <a:avLst/>
          </a:prstGeom>
        </p:spPr>
      </p:pic>
      <p:pic>
        <p:nvPicPr>
          <p:cNvPr id="5" name="Picture 4" descr="image.png"/>
          <p:cNvPicPr>
            <a:picLocks noChangeAspect="1"/>
          </p:cNvPicPr>
          <p:nvPr/>
        </p:nvPicPr>
        <p:blipFill>
          <a:blip r:embed="rId5"/>
          <a:stretch>
            <a:fillRect/>
          </a:stretch>
        </p:blipFill>
        <p:spPr>
          <a:xfrm>
            <a:off x="8089999" y="2124223"/>
            <a:ext cx="3530649" cy="3417093"/>
          </a:xfrm>
          <a:prstGeom prst="rect">
            <a:avLst/>
          </a:prstGeom>
        </p:spPr>
      </p:pic>
      <p:pic>
        <p:nvPicPr>
          <p:cNvPr id="6" name="Picture 5" descr="image.png"/>
          <p:cNvPicPr>
            <a:picLocks noChangeAspect="1"/>
          </p:cNvPicPr>
          <p:nvPr/>
        </p:nvPicPr>
        <p:blipFill>
          <a:blip r:embed="rId6"/>
          <a:stretch>
            <a:fillRect/>
          </a:stretch>
        </p:blipFill>
        <p:spPr>
          <a:xfrm>
            <a:off x="733425" y="2286148"/>
            <a:ext cx="3206799" cy="1905000"/>
          </a:xfrm>
          <a:prstGeom prst="rect">
            <a:avLst/>
          </a:prstGeom>
        </p:spPr>
      </p:pic>
      <p:pic>
        <p:nvPicPr>
          <p:cNvPr id="7" name="Picture 6" descr="image.png"/>
          <p:cNvPicPr>
            <a:picLocks noChangeAspect="1"/>
          </p:cNvPicPr>
          <p:nvPr/>
        </p:nvPicPr>
        <p:blipFill>
          <a:blip r:embed="rId7"/>
          <a:stretch>
            <a:fillRect/>
          </a:stretch>
        </p:blipFill>
        <p:spPr>
          <a:xfrm>
            <a:off x="4492674" y="2286148"/>
            <a:ext cx="3206799" cy="1905000"/>
          </a:xfrm>
          <a:prstGeom prst="rect">
            <a:avLst/>
          </a:prstGeom>
        </p:spPr>
      </p:pic>
      <p:pic>
        <p:nvPicPr>
          <p:cNvPr id="8" name="Picture 7" descr="image.png"/>
          <p:cNvPicPr>
            <a:picLocks noChangeAspect="1"/>
          </p:cNvPicPr>
          <p:nvPr/>
        </p:nvPicPr>
        <p:blipFill>
          <a:blip r:embed="rId8"/>
          <a:stretch>
            <a:fillRect/>
          </a:stretch>
        </p:blipFill>
        <p:spPr>
          <a:xfrm>
            <a:off x="8251924" y="2286148"/>
            <a:ext cx="3206799" cy="1905000"/>
          </a:xfrm>
          <a:prstGeom prst="rect">
            <a:avLst/>
          </a:prstGeom>
        </p:spPr>
      </p:pic>
      <p:sp>
        <p:nvSpPr>
          <p:cNvPr id="9" name="TextBox 8"/>
          <p:cNvSpPr txBox="1"/>
          <p:nvPr/>
        </p:nvSpPr>
        <p:spPr>
          <a:xfrm>
            <a:off x="733425" y="4324498"/>
            <a:ext cx="3367139" cy="219075"/>
          </a:xfrm>
          <a:prstGeom prst="rect">
            <a:avLst/>
          </a:prstGeom>
          <a:noFill/>
        </p:spPr>
        <p:txBody>
          <a:bodyPr wrap="square" lIns="0" tIns="0" rIns="0" bIns="0" anchor="t">
            <a:spAutoFit/>
          </a:bodyPr>
          <a:lstStyle/>
          <a:p>
            <a:pPr algn="l"/>
            <a:r>
              <a:rPr sz="1350" b="1" i="0" u="none">
                <a:solidFill>
                  <a:srgbClr val="0369A1"/>
                </a:solidFill>
                <a:latin typeface="Merriweather"/>
              </a:rPr>
              <a:t>Filtered / Dry Stack</a:t>
            </a:r>
          </a:p>
        </p:txBody>
      </p:sp>
      <p:sp>
        <p:nvSpPr>
          <p:cNvPr id="10" name="TextBox 9"/>
          <p:cNvSpPr txBox="1"/>
          <p:nvPr/>
        </p:nvSpPr>
        <p:spPr>
          <a:xfrm>
            <a:off x="733425" y="4600723"/>
            <a:ext cx="3206799" cy="664368"/>
          </a:xfrm>
          <a:prstGeom prst="rect">
            <a:avLst/>
          </a:prstGeom>
          <a:noFill/>
        </p:spPr>
        <p:txBody>
          <a:bodyPr wrap="square" lIns="0" tIns="0" rIns="0" bIns="0" anchor="t">
            <a:spAutoFit/>
          </a:bodyPr>
          <a:lstStyle/>
          <a:p>
            <a:pPr algn="l">
              <a:lnSpc>
                <a:spcPts val="1743"/>
              </a:lnSpc>
            </a:pPr>
            <a:r>
              <a:rPr sz="1125" b="0" i="0" u="none">
                <a:solidFill>
                  <a:srgbClr val="475569"/>
                </a:solidFill>
                <a:latin typeface="DM Sans"/>
              </a:rPr>
              <a:t>Mechanical vacuum or pressure filtration reduces moisture content below 20%, allowing non-slurry dry stacking without retaining dams.</a:t>
            </a:r>
          </a:p>
        </p:txBody>
      </p:sp>
      <p:sp>
        <p:nvSpPr>
          <p:cNvPr id="11" name="TextBox 10"/>
          <p:cNvSpPr txBox="1"/>
          <p:nvPr/>
        </p:nvSpPr>
        <p:spPr>
          <a:xfrm>
            <a:off x="4492674" y="4324498"/>
            <a:ext cx="3367139" cy="219075"/>
          </a:xfrm>
          <a:prstGeom prst="rect">
            <a:avLst/>
          </a:prstGeom>
          <a:noFill/>
        </p:spPr>
        <p:txBody>
          <a:bodyPr wrap="square" lIns="0" tIns="0" rIns="0" bIns="0" anchor="t">
            <a:spAutoFit/>
          </a:bodyPr>
          <a:lstStyle/>
          <a:p>
            <a:pPr algn="l"/>
            <a:r>
              <a:rPr sz="1350" b="1" i="0" u="none">
                <a:solidFill>
                  <a:srgbClr val="0369A1"/>
                </a:solidFill>
                <a:latin typeface="Merriweather"/>
              </a:rPr>
              <a:t>Thickened / Paste Tailings</a:t>
            </a:r>
          </a:p>
        </p:txBody>
      </p:sp>
      <p:sp>
        <p:nvSpPr>
          <p:cNvPr id="12" name="TextBox 11"/>
          <p:cNvSpPr txBox="1"/>
          <p:nvPr/>
        </p:nvSpPr>
        <p:spPr>
          <a:xfrm>
            <a:off x="4492674" y="4600723"/>
            <a:ext cx="3206799" cy="664368"/>
          </a:xfrm>
          <a:prstGeom prst="rect">
            <a:avLst/>
          </a:prstGeom>
          <a:noFill/>
        </p:spPr>
        <p:txBody>
          <a:bodyPr wrap="square" lIns="0" tIns="0" rIns="0" bIns="0" anchor="t">
            <a:spAutoFit/>
          </a:bodyPr>
          <a:lstStyle/>
          <a:p>
            <a:pPr algn="l">
              <a:lnSpc>
                <a:spcPts val="1743"/>
              </a:lnSpc>
            </a:pPr>
            <a:r>
              <a:rPr sz="1125" b="0" i="0" u="none">
                <a:solidFill>
                  <a:srgbClr val="475569"/>
                </a:solidFill>
                <a:latin typeface="DM Sans"/>
              </a:rPr>
              <a:t>High-rate thickeners dewater slurries to a non-segregating paste consistency, reducing free water and footprint area.</a:t>
            </a:r>
          </a:p>
        </p:txBody>
      </p:sp>
      <p:sp>
        <p:nvSpPr>
          <p:cNvPr id="13" name="TextBox 12"/>
          <p:cNvSpPr txBox="1"/>
          <p:nvPr/>
        </p:nvSpPr>
        <p:spPr>
          <a:xfrm>
            <a:off x="8251924" y="4324498"/>
            <a:ext cx="3367139" cy="219075"/>
          </a:xfrm>
          <a:prstGeom prst="rect">
            <a:avLst/>
          </a:prstGeom>
          <a:noFill/>
        </p:spPr>
        <p:txBody>
          <a:bodyPr wrap="square" lIns="0" tIns="0" rIns="0" bIns="0" anchor="t">
            <a:spAutoFit/>
          </a:bodyPr>
          <a:lstStyle/>
          <a:p>
            <a:pPr algn="l"/>
            <a:r>
              <a:rPr sz="1350" b="1" i="0" u="none">
                <a:solidFill>
                  <a:srgbClr val="0369A1"/>
                </a:solidFill>
                <a:latin typeface="Merriweather"/>
              </a:rPr>
              <a:t>In-Pit Backfilling</a:t>
            </a:r>
          </a:p>
        </p:txBody>
      </p:sp>
      <p:sp>
        <p:nvSpPr>
          <p:cNvPr id="14" name="TextBox 13"/>
          <p:cNvSpPr txBox="1"/>
          <p:nvPr/>
        </p:nvSpPr>
        <p:spPr>
          <a:xfrm>
            <a:off x="8251924" y="4600723"/>
            <a:ext cx="3206799" cy="664368"/>
          </a:xfrm>
          <a:prstGeom prst="rect">
            <a:avLst/>
          </a:prstGeom>
          <a:noFill/>
        </p:spPr>
        <p:txBody>
          <a:bodyPr wrap="square" lIns="0" tIns="0" rIns="0" bIns="0" anchor="t">
            <a:spAutoFit/>
          </a:bodyPr>
          <a:lstStyle/>
          <a:p>
            <a:pPr algn="l">
              <a:lnSpc>
                <a:spcPts val="1743"/>
              </a:lnSpc>
            </a:pPr>
            <a:r>
              <a:rPr sz="1125" b="0" i="0" u="none">
                <a:solidFill>
                  <a:srgbClr val="475569"/>
                </a:solidFill>
                <a:latin typeface="DM Sans"/>
              </a:rPr>
              <a:t>Deposition directly into exhausted open pit voids or underground stopes, eliminating surface dam structures entirely.</a:t>
            </a:r>
          </a:p>
        </p:txBody>
      </p:sp>
      <p:pic>
        <p:nvPicPr>
          <p:cNvPr id="15" name="Picture 14" descr="image.png"/>
          <p:cNvPicPr>
            <a:picLocks noChangeAspect="1"/>
          </p:cNvPicPr>
          <p:nvPr/>
        </p:nvPicPr>
        <p:blipFill>
          <a:blip r:embed="rId9"/>
          <a:stretch>
            <a:fillRect/>
          </a:stretch>
        </p:blipFill>
        <p:spPr>
          <a:xfrm>
            <a:off x="742950" y="2295673"/>
            <a:ext cx="3187749" cy="1885950"/>
          </a:xfrm>
          <a:prstGeom prst="rect">
            <a:avLst/>
          </a:prstGeom>
        </p:spPr>
      </p:pic>
      <p:pic>
        <p:nvPicPr>
          <p:cNvPr id="16" name="Picture 15" descr="image.png"/>
          <p:cNvPicPr>
            <a:picLocks noChangeAspect="1"/>
          </p:cNvPicPr>
          <p:nvPr/>
        </p:nvPicPr>
        <p:blipFill>
          <a:blip r:embed="rId10"/>
          <a:stretch>
            <a:fillRect/>
          </a:stretch>
        </p:blipFill>
        <p:spPr>
          <a:xfrm>
            <a:off x="4502199" y="2295673"/>
            <a:ext cx="3187749" cy="1885950"/>
          </a:xfrm>
          <a:prstGeom prst="rect">
            <a:avLst/>
          </a:prstGeom>
        </p:spPr>
      </p:pic>
      <p:pic>
        <p:nvPicPr>
          <p:cNvPr id="17" name="Picture 16" descr="image.png"/>
          <p:cNvPicPr>
            <a:picLocks noChangeAspect="1"/>
          </p:cNvPicPr>
          <p:nvPr/>
        </p:nvPicPr>
        <p:blipFill>
          <a:blip r:embed="rId11"/>
          <a:stretch>
            <a:fillRect/>
          </a:stretch>
        </p:blipFill>
        <p:spPr>
          <a:xfrm>
            <a:off x="8261449" y="2295673"/>
            <a:ext cx="3187749" cy="1885950"/>
          </a:xfrm>
          <a:prstGeom prst="rect">
            <a:avLst/>
          </a:prstGeom>
        </p:spPr>
      </p:pic>
      <p:sp>
        <p:nvSpPr>
          <p:cNvPr id="18" name="TextBox 17"/>
          <p:cNvSpPr txBox="1"/>
          <p:nvPr/>
        </p:nvSpPr>
        <p:spPr>
          <a:xfrm>
            <a:off x="571500" y="476250"/>
            <a:ext cx="11601450" cy="384592"/>
          </a:xfrm>
          <a:prstGeom prst="rect">
            <a:avLst/>
          </a:prstGeom>
          <a:noFill/>
        </p:spPr>
        <p:txBody>
          <a:bodyPr wrap="square" lIns="0" tIns="0" rIns="0" bIns="0" anchor="t">
            <a:spAutoFit/>
          </a:bodyPr>
          <a:lstStyle/>
          <a:p>
            <a:pPr algn="l">
              <a:lnSpc>
                <a:spcPts val="3060"/>
              </a:lnSpc>
            </a:pPr>
            <a:r>
              <a:rPr sz="2550" b="1" i="0" u="none" dirty="0">
                <a:solidFill>
                  <a:schemeClr val="accent6">
                    <a:lumMod val="75000"/>
                  </a:schemeClr>
                </a:solidFill>
                <a:latin typeface="Merriweather"/>
              </a:rPr>
              <a:t>Alternative Tailings Storage</a:t>
            </a:r>
          </a:p>
        </p:txBody>
      </p:sp>
      <p:sp>
        <p:nvSpPr>
          <p:cNvPr id="19" name="Rectangle 18"/>
          <p:cNvSpPr/>
          <p:nvPr/>
        </p:nvSpPr>
        <p:spPr>
          <a:xfrm>
            <a:off x="571500" y="97914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4604295"/>
            <a:ext cx="11049000" cy="666750"/>
          </a:xfrm>
          <a:prstGeom prst="rect">
            <a:avLst/>
          </a:prstGeom>
        </p:spPr>
      </p:pic>
      <p:pic>
        <p:nvPicPr>
          <p:cNvPr id="4" name="Picture 3" descr="image.png"/>
          <p:cNvPicPr>
            <a:picLocks noChangeAspect="1"/>
          </p:cNvPicPr>
          <p:nvPr/>
        </p:nvPicPr>
        <p:blipFill>
          <a:blip r:embed="rId4"/>
          <a:stretch>
            <a:fillRect/>
          </a:stretch>
        </p:blipFill>
        <p:spPr>
          <a:xfrm>
            <a:off x="571500" y="1283940"/>
            <a:ext cx="11049000" cy="5097809"/>
          </a:xfrm>
          <a:prstGeom prst="rect">
            <a:avLst/>
          </a:prstGeom>
        </p:spPr>
      </p:pic>
      <p:sp>
        <p:nvSpPr>
          <p:cNvPr id="5" name="TextBox 4"/>
          <p:cNvSpPr txBox="1"/>
          <p:nvPr/>
        </p:nvSpPr>
        <p:spPr>
          <a:xfrm>
            <a:off x="571500" y="476250"/>
            <a:ext cx="11601450" cy="384592"/>
          </a:xfrm>
          <a:prstGeom prst="rect">
            <a:avLst/>
          </a:prstGeom>
          <a:noFill/>
        </p:spPr>
        <p:txBody>
          <a:bodyPr wrap="square" lIns="0" tIns="0" rIns="0" bIns="0" anchor="t">
            <a:spAutoFit/>
          </a:bodyPr>
          <a:lstStyle/>
          <a:p>
            <a:pPr algn="l">
              <a:lnSpc>
                <a:spcPts val="3060"/>
              </a:lnSpc>
            </a:pPr>
            <a:r>
              <a:rPr sz="2550" b="1" i="0" u="none" dirty="0">
                <a:solidFill>
                  <a:schemeClr val="accent6">
                    <a:lumMod val="75000"/>
                  </a:schemeClr>
                </a:solidFill>
                <a:latin typeface="Merriweather"/>
              </a:rPr>
              <a:t>Stability &amp; Seismic Safety</a:t>
            </a:r>
          </a:p>
        </p:txBody>
      </p:sp>
      <p:sp>
        <p:nvSpPr>
          <p:cNvPr id="6" name="Rectangle 5"/>
          <p:cNvSpPr/>
          <p:nvPr/>
        </p:nvSpPr>
        <p:spPr>
          <a:xfrm>
            <a:off x="571500" y="97914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3733800" y="2210692"/>
            <a:ext cx="4724400" cy="628650"/>
          </a:xfrm>
          <a:prstGeom prst="rect">
            <a:avLst/>
          </a:prstGeom>
        </p:spPr>
      </p:pic>
      <p:sp>
        <p:nvSpPr>
          <p:cNvPr id="4" name="TextBox 3"/>
          <p:cNvSpPr txBox="1"/>
          <p:nvPr/>
        </p:nvSpPr>
        <p:spPr>
          <a:xfrm>
            <a:off x="295275" y="476250"/>
            <a:ext cx="11601450" cy="762000"/>
          </a:xfrm>
          <a:prstGeom prst="rect">
            <a:avLst/>
          </a:prstGeom>
          <a:noFill/>
        </p:spPr>
        <p:txBody>
          <a:bodyPr wrap="square" lIns="0" tIns="0" rIns="0" bIns="0" anchor="t">
            <a:spAutoFit/>
          </a:bodyPr>
          <a:lstStyle/>
          <a:p>
            <a:pPr algn="ctr"/>
            <a:r>
              <a:rPr sz="4800" b="1" i="0" u="none">
                <a:solidFill>
                  <a:srgbClr val="0F172A"/>
                </a:solidFill>
                <a:latin typeface="Merriweather"/>
              </a:rPr>
              <a:t>Questions &amp; Discussion</a:t>
            </a:r>
          </a:p>
        </p:txBody>
      </p:sp>
      <p:sp>
        <p:nvSpPr>
          <p:cNvPr id="5" name="TextBox 4"/>
          <p:cNvSpPr txBox="1"/>
          <p:nvPr/>
        </p:nvSpPr>
        <p:spPr>
          <a:xfrm>
            <a:off x="571500" y="1390650"/>
            <a:ext cx="11049000" cy="324742"/>
          </a:xfrm>
          <a:prstGeom prst="rect">
            <a:avLst/>
          </a:prstGeom>
          <a:noFill/>
        </p:spPr>
        <p:txBody>
          <a:bodyPr wrap="square" lIns="0" tIns="0" rIns="0" bIns="0" anchor="t">
            <a:spAutoFit/>
          </a:bodyPr>
          <a:lstStyle/>
          <a:p>
            <a:pPr algn="ctr">
              <a:lnSpc>
                <a:spcPts val="2557"/>
              </a:lnSpc>
            </a:pPr>
            <a:r>
              <a:rPr sz="1650" b="0" i="0" u="none" dirty="0">
                <a:solidFill>
                  <a:srgbClr val="475569"/>
                </a:solidFill>
                <a:latin typeface="DM Sans"/>
              </a:rPr>
              <a:t>Global Industry Standard on Tailings Management (GTRM) Compliance &amp; Best Practices</a:t>
            </a:r>
          </a:p>
        </p:txBody>
      </p:sp>
      <p:pic>
        <p:nvPicPr>
          <p:cNvPr id="6" name="Picture 5" descr="image.png"/>
          <p:cNvPicPr>
            <a:picLocks noChangeAspect="1"/>
          </p:cNvPicPr>
          <p:nvPr/>
        </p:nvPicPr>
        <p:blipFill>
          <a:blip r:embed="rId4"/>
          <a:stretch>
            <a:fillRect/>
          </a:stretch>
        </p:blipFill>
        <p:spPr>
          <a:xfrm>
            <a:off x="4124325" y="2439292"/>
            <a:ext cx="171450" cy="1714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 y="1813173"/>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1500" y="2584698"/>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71500" y="3356223"/>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71500" y="4127748"/>
            <a:ext cx="11049000" cy="96276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71500" y="257517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71500" y="257517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1500" y="3346698"/>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71500" y="3346698"/>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71500" y="411822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411822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71500" y="5080992"/>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71500" y="5080992"/>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3"/>
          <a:stretch>
            <a:fillRect/>
          </a:stretch>
        </p:blipFill>
        <p:spPr>
          <a:xfrm>
            <a:off x="571500" y="1956048"/>
            <a:ext cx="857250" cy="476250"/>
          </a:xfrm>
          <a:prstGeom prst="rect">
            <a:avLst/>
          </a:prstGeom>
        </p:spPr>
      </p:pic>
      <p:sp>
        <p:nvSpPr>
          <p:cNvPr id="16" name="TextBox 15"/>
          <p:cNvSpPr txBox="1"/>
          <p:nvPr/>
        </p:nvSpPr>
        <p:spPr>
          <a:xfrm>
            <a:off x="1666875" y="1956345"/>
            <a:ext cx="9953625" cy="191839"/>
          </a:xfrm>
          <a:prstGeom prst="rect">
            <a:avLst/>
          </a:prstGeom>
          <a:noFill/>
        </p:spPr>
        <p:txBody>
          <a:bodyPr wrap="square" lIns="0" tIns="0" rIns="0" bIns="0" anchor="t">
            <a:spAutoFit/>
          </a:bodyPr>
          <a:lstStyle/>
          <a:p>
            <a:pPr algn="l">
              <a:lnSpc>
                <a:spcPts val="1511"/>
              </a:lnSpc>
            </a:pPr>
            <a:r>
              <a:rPr sz="975" b="0" i="0" u="none">
                <a:solidFill>
                  <a:srgbClr val="334155"/>
                </a:solidFill>
                <a:latin typeface="DM Sans"/>
              </a:rPr>
              <a:t>https://www.tailings.info/images/assets/content/upstream.jpg</a:t>
            </a:r>
          </a:p>
        </p:txBody>
      </p:sp>
      <p:sp>
        <p:nvSpPr>
          <p:cNvPr id="17" name="TextBox 16"/>
          <p:cNvSpPr txBox="1"/>
          <p:nvPr/>
        </p:nvSpPr>
        <p:spPr>
          <a:xfrm>
            <a:off x="1666875" y="2195810"/>
            <a:ext cx="9953625" cy="236190"/>
          </a:xfrm>
          <a:prstGeom prst="rect">
            <a:avLst/>
          </a:prstGeom>
          <a:noFill/>
        </p:spPr>
        <p:txBody>
          <a:bodyPr wrap="square" lIns="0" tIns="0" rIns="0" bIns="0" anchor="t">
            <a:spAutoFit/>
          </a:bodyPr>
          <a:lstStyle/>
          <a:p>
            <a:pPr algn="l">
              <a:lnSpc>
                <a:spcPts val="1860"/>
              </a:lnSpc>
            </a:pPr>
            <a:r>
              <a:rPr sz="1200" b="0" i="0" u="none">
                <a:solidFill>
                  <a:srgbClr val="334155"/>
                </a:solidFill>
                <a:latin typeface="DM Sans"/>
              </a:rPr>
              <a:t>Source: </a:t>
            </a:r>
            <a:r>
              <a:rPr sz="1200" b="0" i="0" u="none">
                <a:solidFill>
                  <a:srgbClr val="4F46E5"/>
                </a:solidFill>
                <a:latin typeface="DM Sans"/>
              </a:rPr>
              <a:t>www.tailings.info</a:t>
            </a:r>
          </a:p>
        </p:txBody>
      </p:sp>
      <p:pic>
        <p:nvPicPr>
          <p:cNvPr id="18" name="Picture 17" descr="image.png"/>
          <p:cNvPicPr>
            <a:picLocks noChangeAspect="1"/>
          </p:cNvPicPr>
          <p:nvPr/>
        </p:nvPicPr>
        <p:blipFill>
          <a:blip r:embed="rId4"/>
          <a:stretch>
            <a:fillRect/>
          </a:stretch>
        </p:blipFill>
        <p:spPr>
          <a:xfrm>
            <a:off x="571500" y="2727573"/>
            <a:ext cx="857250" cy="476250"/>
          </a:xfrm>
          <a:prstGeom prst="rect">
            <a:avLst/>
          </a:prstGeom>
        </p:spPr>
      </p:pic>
      <p:sp>
        <p:nvSpPr>
          <p:cNvPr id="19" name="TextBox 18"/>
          <p:cNvSpPr txBox="1"/>
          <p:nvPr/>
        </p:nvSpPr>
        <p:spPr>
          <a:xfrm>
            <a:off x="1666875" y="2727870"/>
            <a:ext cx="9953625" cy="191839"/>
          </a:xfrm>
          <a:prstGeom prst="rect">
            <a:avLst/>
          </a:prstGeom>
          <a:noFill/>
        </p:spPr>
        <p:txBody>
          <a:bodyPr wrap="square" lIns="0" tIns="0" rIns="0" bIns="0" anchor="t">
            <a:spAutoFit/>
          </a:bodyPr>
          <a:lstStyle/>
          <a:p>
            <a:pPr algn="l">
              <a:lnSpc>
                <a:spcPts val="1511"/>
              </a:lnSpc>
            </a:pPr>
            <a:r>
              <a:rPr sz="975" b="0" i="0" u="none">
                <a:solidFill>
                  <a:srgbClr val="334155"/>
                </a:solidFill>
                <a:latin typeface="DM Sans"/>
              </a:rPr>
              <a:t>https://live.staticflickr.com/4538/24553044818_4fd925ee56_o.jpg</a:t>
            </a:r>
          </a:p>
        </p:txBody>
      </p:sp>
      <p:sp>
        <p:nvSpPr>
          <p:cNvPr id="20" name="TextBox 19"/>
          <p:cNvSpPr txBox="1"/>
          <p:nvPr/>
        </p:nvSpPr>
        <p:spPr>
          <a:xfrm>
            <a:off x="1666875" y="2967335"/>
            <a:ext cx="9953625" cy="236190"/>
          </a:xfrm>
          <a:prstGeom prst="rect">
            <a:avLst/>
          </a:prstGeom>
          <a:noFill/>
        </p:spPr>
        <p:txBody>
          <a:bodyPr wrap="square" lIns="0" tIns="0" rIns="0" bIns="0" anchor="t">
            <a:spAutoFit/>
          </a:bodyPr>
          <a:lstStyle/>
          <a:p>
            <a:pPr algn="l">
              <a:lnSpc>
                <a:spcPts val="1860"/>
              </a:lnSpc>
            </a:pPr>
            <a:r>
              <a:rPr sz="1200" b="0" i="0" u="none">
                <a:solidFill>
                  <a:srgbClr val="334155"/>
                </a:solidFill>
                <a:latin typeface="DM Sans"/>
              </a:rPr>
              <a:t>Source: </a:t>
            </a:r>
            <a:r>
              <a:rPr sz="1200" b="0" i="0" u="none">
                <a:solidFill>
                  <a:srgbClr val="4F46E5"/>
                </a:solidFill>
                <a:latin typeface="DM Sans"/>
              </a:rPr>
              <a:t>www.grida.no</a:t>
            </a:r>
          </a:p>
        </p:txBody>
      </p:sp>
      <p:pic>
        <p:nvPicPr>
          <p:cNvPr id="21" name="Picture 20" descr="image.png"/>
          <p:cNvPicPr>
            <a:picLocks noChangeAspect="1"/>
          </p:cNvPicPr>
          <p:nvPr/>
        </p:nvPicPr>
        <p:blipFill>
          <a:blip r:embed="rId5"/>
          <a:stretch>
            <a:fillRect/>
          </a:stretch>
        </p:blipFill>
        <p:spPr>
          <a:xfrm>
            <a:off x="571500" y="3499098"/>
            <a:ext cx="857250" cy="476250"/>
          </a:xfrm>
          <a:prstGeom prst="rect">
            <a:avLst/>
          </a:prstGeom>
        </p:spPr>
      </p:pic>
      <p:sp>
        <p:nvSpPr>
          <p:cNvPr id="22" name="TextBox 21"/>
          <p:cNvSpPr txBox="1"/>
          <p:nvPr/>
        </p:nvSpPr>
        <p:spPr>
          <a:xfrm>
            <a:off x="1666875" y="3499395"/>
            <a:ext cx="9953625" cy="191839"/>
          </a:xfrm>
          <a:prstGeom prst="rect">
            <a:avLst/>
          </a:prstGeom>
          <a:noFill/>
        </p:spPr>
        <p:txBody>
          <a:bodyPr wrap="square" lIns="0" tIns="0" rIns="0" bIns="0" anchor="t">
            <a:spAutoFit/>
          </a:bodyPr>
          <a:lstStyle/>
          <a:p>
            <a:pPr algn="l">
              <a:lnSpc>
                <a:spcPts val="1511"/>
              </a:lnSpc>
            </a:pPr>
            <a:r>
              <a:rPr sz="975" b="0" i="0" u="none">
                <a:solidFill>
                  <a:srgbClr val="334155"/>
                </a:solidFill>
                <a:latin typeface="DM Sans"/>
              </a:rPr>
              <a:t>https://www.tailings.info/images/assets/content/bigdrystack.jpg</a:t>
            </a:r>
          </a:p>
        </p:txBody>
      </p:sp>
      <p:sp>
        <p:nvSpPr>
          <p:cNvPr id="23" name="TextBox 22"/>
          <p:cNvSpPr txBox="1"/>
          <p:nvPr/>
        </p:nvSpPr>
        <p:spPr>
          <a:xfrm>
            <a:off x="1666875" y="3738860"/>
            <a:ext cx="9953625" cy="236190"/>
          </a:xfrm>
          <a:prstGeom prst="rect">
            <a:avLst/>
          </a:prstGeom>
          <a:noFill/>
        </p:spPr>
        <p:txBody>
          <a:bodyPr wrap="square" lIns="0" tIns="0" rIns="0" bIns="0" anchor="t">
            <a:spAutoFit/>
          </a:bodyPr>
          <a:lstStyle/>
          <a:p>
            <a:pPr algn="l">
              <a:lnSpc>
                <a:spcPts val="1860"/>
              </a:lnSpc>
            </a:pPr>
            <a:r>
              <a:rPr sz="1200" b="0" i="0" u="none">
                <a:solidFill>
                  <a:srgbClr val="334155"/>
                </a:solidFill>
                <a:latin typeface="DM Sans"/>
              </a:rPr>
              <a:t>Source: </a:t>
            </a:r>
            <a:r>
              <a:rPr sz="1200" b="0" i="0" u="none">
                <a:solidFill>
                  <a:srgbClr val="4F46E5"/>
                </a:solidFill>
                <a:latin typeface="DM Sans"/>
              </a:rPr>
              <a:t>www.tailings.info</a:t>
            </a:r>
          </a:p>
        </p:txBody>
      </p:sp>
      <p:pic>
        <p:nvPicPr>
          <p:cNvPr id="24" name="Picture 23" descr="image.png"/>
          <p:cNvPicPr>
            <a:picLocks noChangeAspect="1"/>
          </p:cNvPicPr>
          <p:nvPr/>
        </p:nvPicPr>
        <p:blipFill>
          <a:blip r:embed="rId6"/>
          <a:stretch>
            <a:fillRect/>
          </a:stretch>
        </p:blipFill>
        <p:spPr>
          <a:xfrm>
            <a:off x="571500" y="4366170"/>
            <a:ext cx="857250" cy="476250"/>
          </a:xfrm>
          <a:prstGeom prst="rect">
            <a:avLst/>
          </a:prstGeom>
        </p:spPr>
      </p:pic>
      <p:sp>
        <p:nvSpPr>
          <p:cNvPr id="25" name="TextBox 24"/>
          <p:cNvSpPr txBox="1"/>
          <p:nvPr/>
        </p:nvSpPr>
        <p:spPr>
          <a:xfrm>
            <a:off x="1666875" y="4270623"/>
            <a:ext cx="9953625" cy="383678"/>
          </a:xfrm>
          <a:prstGeom prst="rect">
            <a:avLst/>
          </a:prstGeom>
          <a:noFill/>
        </p:spPr>
        <p:txBody>
          <a:bodyPr wrap="square" lIns="0" tIns="0" rIns="0" bIns="0" anchor="t">
            <a:spAutoFit/>
          </a:bodyPr>
          <a:lstStyle/>
          <a:p>
            <a:pPr algn="l">
              <a:lnSpc>
                <a:spcPts val="1511"/>
              </a:lnSpc>
            </a:pPr>
            <a:r>
              <a:rPr sz="975" b="0" i="0" u="none">
                <a:solidFill>
                  <a:srgbClr val="334155"/>
                </a:solidFill>
                <a:latin typeface="DM Sans"/>
              </a:rPr>
              <a:t>https://www.westechwater.com/hs-fs/hubfs/image/page/case-study/hidensity-paste-thickener-paragominas-brazil/hidensity-paste-thickener-at-paragominas-brazil-768w.jpg?noresize&amp;width=768&amp;height=480&amp;name=hidensity-paste-thickener-at-paragominas-brazil-768w.jpg</a:t>
            </a:r>
          </a:p>
        </p:txBody>
      </p:sp>
      <p:sp>
        <p:nvSpPr>
          <p:cNvPr id="26" name="TextBox 25"/>
          <p:cNvSpPr txBox="1"/>
          <p:nvPr/>
        </p:nvSpPr>
        <p:spPr>
          <a:xfrm>
            <a:off x="1666875" y="4701926"/>
            <a:ext cx="9953625" cy="236190"/>
          </a:xfrm>
          <a:prstGeom prst="rect">
            <a:avLst/>
          </a:prstGeom>
          <a:noFill/>
        </p:spPr>
        <p:txBody>
          <a:bodyPr wrap="square" lIns="0" tIns="0" rIns="0" bIns="0" anchor="t">
            <a:spAutoFit/>
          </a:bodyPr>
          <a:lstStyle/>
          <a:p>
            <a:pPr algn="l">
              <a:lnSpc>
                <a:spcPts val="1860"/>
              </a:lnSpc>
            </a:pPr>
            <a:r>
              <a:rPr sz="1200" b="0" i="0" u="none">
                <a:solidFill>
                  <a:srgbClr val="334155"/>
                </a:solidFill>
                <a:latin typeface="DM Sans"/>
              </a:rPr>
              <a:t>Source: </a:t>
            </a:r>
            <a:r>
              <a:rPr sz="1200" b="0" i="0" u="none">
                <a:solidFill>
                  <a:srgbClr val="4F46E5"/>
                </a:solidFill>
                <a:latin typeface="DM Sans"/>
              </a:rPr>
              <a:t>www.westechwater.com</a:t>
            </a:r>
          </a:p>
        </p:txBody>
      </p:sp>
      <p:pic>
        <p:nvPicPr>
          <p:cNvPr id="27" name="Picture 26" descr="image.png"/>
          <p:cNvPicPr>
            <a:picLocks noChangeAspect="1"/>
          </p:cNvPicPr>
          <p:nvPr/>
        </p:nvPicPr>
        <p:blipFill>
          <a:blip r:embed="rId7"/>
          <a:stretch>
            <a:fillRect/>
          </a:stretch>
        </p:blipFill>
        <p:spPr>
          <a:xfrm>
            <a:off x="571500" y="5233392"/>
            <a:ext cx="857250" cy="476250"/>
          </a:xfrm>
          <a:prstGeom prst="rect">
            <a:avLst/>
          </a:prstGeom>
        </p:spPr>
      </p:pic>
      <p:sp>
        <p:nvSpPr>
          <p:cNvPr id="28" name="TextBox 27"/>
          <p:cNvSpPr txBox="1"/>
          <p:nvPr/>
        </p:nvSpPr>
        <p:spPr>
          <a:xfrm>
            <a:off x="1666875" y="5233689"/>
            <a:ext cx="9953625" cy="191839"/>
          </a:xfrm>
          <a:prstGeom prst="rect">
            <a:avLst/>
          </a:prstGeom>
          <a:noFill/>
        </p:spPr>
        <p:txBody>
          <a:bodyPr wrap="square" lIns="0" tIns="0" rIns="0" bIns="0" anchor="t">
            <a:spAutoFit/>
          </a:bodyPr>
          <a:lstStyle/>
          <a:p>
            <a:pPr algn="l">
              <a:lnSpc>
                <a:spcPts val="1511"/>
              </a:lnSpc>
            </a:pPr>
            <a:r>
              <a:rPr sz="975" b="0" i="0" u="none">
                <a:solidFill>
                  <a:srgbClr val="334155"/>
                </a:solidFill>
                <a:latin typeface="DM Sans"/>
              </a:rPr>
              <a:t>https://www.mdpi.com/minerals/minerals-11-00818/article_deploy/html/images/minerals-11-00818-g001-550.jpg</a:t>
            </a:r>
          </a:p>
        </p:txBody>
      </p:sp>
      <p:sp>
        <p:nvSpPr>
          <p:cNvPr id="29" name="TextBox 28"/>
          <p:cNvSpPr txBox="1"/>
          <p:nvPr/>
        </p:nvSpPr>
        <p:spPr>
          <a:xfrm>
            <a:off x="1666875" y="5473154"/>
            <a:ext cx="9953625" cy="236190"/>
          </a:xfrm>
          <a:prstGeom prst="rect">
            <a:avLst/>
          </a:prstGeom>
          <a:noFill/>
        </p:spPr>
        <p:txBody>
          <a:bodyPr wrap="square" lIns="0" tIns="0" rIns="0" bIns="0" anchor="t">
            <a:spAutoFit/>
          </a:bodyPr>
          <a:lstStyle/>
          <a:p>
            <a:pPr algn="l">
              <a:lnSpc>
                <a:spcPts val="1860"/>
              </a:lnSpc>
            </a:pPr>
            <a:r>
              <a:rPr sz="1200" b="0" i="0" u="none">
                <a:solidFill>
                  <a:srgbClr val="334155"/>
                </a:solidFill>
                <a:latin typeface="DM Sans"/>
              </a:rPr>
              <a:t>Source: </a:t>
            </a:r>
            <a:r>
              <a:rPr sz="1200" b="0" i="0" u="none">
                <a:solidFill>
                  <a:srgbClr val="4F46E5"/>
                </a:solidFill>
                <a:latin typeface="DM Sans"/>
              </a:rPr>
              <a:t>www.mdpi.com</a:t>
            </a:r>
          </a:p>
        </p:txBody>
      </p:sp>
      <p:sp>
        <p:nvSpPr>
          <p:cNvPr id="30" name="TextBox 29"/>
          <p:cNvSpPr txBox="1"/>
          <p:nvPr/>
        </p:nvSpPr>
        <p:spPr>
          <a:xfrm>
            <a:off x="571500" y="476250"/>
            <a:ext cx="11601450" cy="407640"/>
          </a:xfrm>
          <a:prstGeom prst="rect">
            <a:avLst/>
          </a:prstGeom>
          <a:noFill/>
        </p:spPr>
        <p:txBody>
          <a:bodyPr wrap="square" lIns="0" tIns="0" rIns="0" bIns="0" anchor="t">
            <a:spAutoFit/>
          </a:bodyPr>
          <a:lstStyle/>
          <a:p>
            <a:pPr algn="l">
              <a:lnSpc>
                <a:spcPts val="3060"/>
              </a:lnSpc>
            </a:pPr>
            <a:r>
              <a:rPr sz="2550" b="1" i="0" u="none">
                <a:solidFill>
                  <a:srgbClr val="0F172A"/>
                </a:solidFill>
                <a:latin typeface="Merriweather"/>
              </a:rPr>
              <a:t>Image Sources</a:t>
            </a:r>
          </a:p>
        </p:txBody>
      </p:sp>
      <p:sp>
        <p:nvSpPr>
          <p:cNvPr id="31" name="Rectangle 30"/>
          <p:cNvSpPr/>
          <p:nvPr/>
        </p:nvSpPr>
        <p:spPr>
          <a:xfrm>
            <a:off x="571500" y="97914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TotalTime>
  <Words>831</Words>
  <Application>Microsoft Office PowerPoint</Application>
  <PresentationFormat>Widescreen</PresentationFormat>
  <Paragraphs>85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DM Sans</vt:lpstr>
      <vt:lpstr>Merriweather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Anthony Essel Prepeh</cp:lastModifiedBy>
  <cp:revision>6</cp:revision>
  <dcterms:created xsi:type="dcterms:W3CDTF">2013-01-27T09:14:16Z</dcterms:created>
  <dcterms:modified xsi:type="dcterms:W3CDTF">2026-08-07T11:44:09Z</dcterms:modified>
  <cp:category/>
</cp:coreProperties>
</file>